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Trong bài báo cáo này, em trình bày SmartNoteCloud như một hệ thống học tập triển khai trên cloud, không chỉ là một ứng dụng web đơn lẻ. Điểm quan trọng là hệ thống đã có domain công khai, chạy qua HTTPS, đóng gói bằng Docker và dùng database thật. Từ đó, bài sẽ phân tích cách dự án thể hiện ba mô hình dịch vụ cloud: IaaS, PaaS và SaaS.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Vấn đề xuất phát từ nhu cầu học tập: người dùng có ghi chú, nhưng cần một công cụ giúp biến ghi chú thành tài liệu ôn tập có cấu trúc hơn. Đồng thời, với môn Cloud, nhóm cần một ví dụ có thể chứng minh bằng deployment thật. Vì vậy SmartNoteCloud được chọn làm case study: vừa có sản phẩm, vừa có hạ tầng, vừa có dữ liệu để quan sát.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SmartNoteCloud hay MindDeckNote Lite gồm bốn nhóm chức năng chính. Người dùng đăng nhập, tạo workspace và ghi chú; sau đó backend có thể gọi AI để tóm tắt hoặc sinh flashcard. Các flashcard này được lưu lại để người dùng ôn tập. Nhìn từ góc cloud, đây là một ứng dụng nhiều tầng: frontend, backend, database và dịch vụ AI bên ngoài.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Luồng sử dụng chính bắt đầu từ việc người học tạo note. Nội dung note đi qua backend, backend xử lý hoặc gửi sang AI API, sau đó tạo ra summary hoặc flashcard. Khi người dùng ôn tập, kết quả review tiếp tục được lưu vào database. Quy trình này cho thấy cloud không chỉ là nơi host website, mà còn là nơi điều phối dữ liệu và dịch vụ.</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Kiến trúc tổng quan gồm browser ở phía người dùng, Nginx làm gateway, React phục vụ giao diện, FastAPI xử lý nghiệp vụ và PostgreSQL lưu dữ liệu. Bên ngoài hệ thống còn có Mimo AI API, được gọi qua HTTPS. Điểm cần nhấn mạnh là toàn bộ stack ứng dụng chạy trong Docker trên EC2, còn database không mở trực tiếp ra Internet.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Ở cấp request, cùng một domain nhưng có hai nhánh xử lý. Nếu người dùng truy cập giao diện, Nginx trả về React static build. Nếu request đi vào đường dẫn API, Nginx chuyển tiếp sang FastAPI backend. Backend kiểm tra JWT, đọc ghi PostgreSQL và khi cần thì gọi AI API. Cách tách route này giúp kiến trúc rõ ràng và dễ mở rộng.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Quy trình triển khai bắt đầu từ DNS trỏ domain pkiresearch.id.vn về public IP của EC2. Trên EC2, Security Group chỉ mở các cổng cần thiết, sau đó Nginx nhận request và chuyển tiếp vào các container. Chứng chỉ HTTPS được cấp bằng Let's Encrypt Certbot. Kết quả là website có thể truy cập công khai qua HTTPS và health check backend trả về trạng thái ok.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Docker Compose giúp tách từng thành phần thành container riêng. Nginx là cổng public duy nhất, frontend và backend nằm trong network nội bộ, còn PostgreSQL chạy trong container database có volume để giữ dữ liệu. Cách đóng gói này giúp triển khai nhất quán hơn giữa máy local và EC2, đồng thời giảm lỗi do khác môi trường.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Phần IaaS thể hiện rõ nhất ở EC2. AWS cung cấp máy ảo, public IP, network và Security Group, nhưng nhóm vẫn phải tự quản hệ điều hành, Docker, Nginx, SSL, log và backup. Vì vậy EC2 cho quyền kiểm soát cao, nhưng trách nhiệm vận hành cũng cao. Đây là ví dụ điển hình của Infrastructure as a Service.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Nếu chuyển sang PaaS, một phần trách nhiệm vận hành sẽ được nền tảng đảm nhiệm. Ví dụ App Runner hoặc Elastic Beanstalk có thể hỗ trợ runtime, health check, scaling và deployment flow tốt hơn. Trong dự án hiện tại, nhóm đang dùng IaaS là chính; PaaS được đưa vào để so sánh và chỉ ra hướng giảm tải vận hành trong tương lai.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Phần SaaS nằm ở dịch vụ AI bên ngoài. Thay vì tự triển khai model, GPU và inference server, backend gọi Mimo AI API qua HTTPS bằng API key. Hệ thống chỉ cần chuẩn hóa prompt, gửi request và lưu kết quả. Đây là cách dùng Software as a Service: tận dụng năng lực đã được nhà cung cấp vận hành sẵn.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Slide này tổng hợp ba mô hình cloud trong cùng một hệ thống. EC2 là IaaS vì cung cấp hạ tầng máy chủ. PaaS là hướng nâng cấp có thể dùng để giảm công việc vận hành. SaaS là dịch vụ AI API được tích hợp vào tính năng sản phẩm. Như vậy, một dự án thực tế có thể không chỉ thuộc một mô hình duy nhất, mà kết hợp nhiều tầng khác nhau.</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Database lưu các thực thể học tập như users, workspaces, pages, blocks, decks, cards và card reviews. Các bảng này cho thấy hệ thống đã có dữ liệu thật chứ không chỉ là giao diện demo. Về bảo mật, PostgreSQL không public ra ngoài; khi cần xem bằng DBeaver, ta đi qua SSH tunnel vào EC2. Cách này phù hợp hơn so với mở thẳng cổng 5432 ra Internet.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Khi chạy cloud, các điểm bảo mật tối thiểu gồm kiểm soát cổng bằng Security Group, dùng HTTPS cho domain, giữ secret trong biến môi trường và theo dõi container bằng docker ps, logs hoặc health endpoint. Với môi trường production, cần nâng cấp thêm bằng giới hạn SSH theo IP, Secrets Manager, backup tự động, monitoring và rate limit ở gateway.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Kết quả cuối cùng là SmartNoteCloud đã có domain HTTPS, stack Docker chạy ổn định, database có dữ liệu và backend tích hợp AI API. Dự án chứng minh được IaaS qua EC2, SaaS qua AI API và chỉ ra hướng PaaS để tối ưu vận hành. Nếu phát triển tiếp, nên tách database sang RDS, đưa secret vào Secrets Manager, bổ sung CI/CD, monitoring và cơ chế backup rõ ràng.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a6c43a714b4446c.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b178801a344fe16.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ab42f950abd6ce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a6c43a714b4446c.pn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pic>
        <p:nvPicPr>
          <p:cNvPr id="3" name="Image 3"/>
          <p:cNvPicPr>
            <a:picLocks noChangeAspect="1"/>
          </p:cNvPicPr>
          <p:nvPr/>
        </p:nvPicPr>
        <p:blipFill>
          <a:blip r:embed="rId2"/>
          <a:srcRect l="47" t="0" r="47" b="0"/>
          <a:stretch>
            <a:fillRect/>
          </a:stretch>
        </p:blipFill>
        <p:spPr>
          <a:xfrm>
            <a:off x="5810250" y="666750"/>
            <a:ext cx="5715000" cy="3219450"/>
          </a:xfrm>
          <a:prstGeom prst="rect">
            <a:avLst/>
          </a:prstGeom>
        </p:spPr>
      </p:pic>
      <p:sp>
        <p:nvSpPr>
          <p:cNvPr id="4" name="Rectangle 4"/>
          <p:cNvSpPr/>
          <p:nvPr/>
        </p:nvSpPr>
        <p:spPr>
          <a:xfrm>
            <a:off x="0" y="0"/>
            <a:ext cx="12192000" cy="6858000"/>
          </a:xfrm>
          <a:prstGeom prst="rect">
            <a:avLst/>
          </a:prstGeom>
          <a:solidFill>
            <a:srgbClr val="F8FAFC">
              <a:alpha val="42000"/>
            </a:srgbClr>
          </a:solidFill>
          <a:ln>
            <a:noFill/>
          </a:ln>
        </p:spPr>
      </p:sp>
      <p:sp>
        <p:nvSpPr>
          <p:cNvPr id="5" name="Rectangle 5"/>
          <p:cNvSpPr/>
          <p:nvPr/>
        </p:nvSpPr>
        <p:spPr>
          <a:xfrm>
            <a:off x="533400" y="514350"/>
            <a:ext cx="11125200" cy="5829300"/>
          </a:xfrm>
          <a:prstGeom prst="roundRect">
            <a:avLst>
              <a:gd name="adj" fmla="val 4575"/>
            </a:avLst>
          </a:prstGeom>
          <a:solidFill>
            <a:srgbClr val="FFFFFF">
              <a:alpha val="86000"/>
            </a:srgbClr>
          </a:solidFill>
          <a:ln w="14288">
            <a:solidFill>
              <a:srgbClr val="CBD5E1"/>
            </a:solidFill>
          </a:ln>
        </p:spPr>
      </p:sp>
      <p:sp>
        <p:nvSpPr>
          <p:cNvPr id="6" name="Rectangle 6"/>
          <p:cNvSpPr/>
          <p:nvPr/>
        </p:nvSpPr>
        <p:spPr>
          <a:xfrm>
            <a:off x="857250" y="876300"/>
            <a:ext cx="514350" cy="76200"/>
          </a:xfrm>
          <a:prstGeom prst="roundRect">
            <a:avLst>
              <a:gd name="adj" fmla="val 50000"/>
            </a:avLst>
          </a:prstGeom>
          <a:solidFill>
            <a:srgbClr val="2563EB"/>
          </a:solidFill>
          <a:ln>
            <a:noFill/>
          </a:ln>
        </p:spPr>
      </p:sp>
      <p:sp>
        <p:nvSpPr>
          <p:cNvPr id="7" name="TextBox 7"/>
          <p:cNvSpPr txBox="1"/>
          <p:nvPr/>
        </p:nvSpPr>
        <p:spPr>
          <a:xfrm>
            <a:off x="794385" y="1046798"/>
            <a:ext cx="5427843" cy="1005840"/>
          </a:xfrm>
          <a:prstGeom prst="rect">
            <a:avLst/>
          </a:prstGeom>
          <a:noFill/>
          <a:ln>
            <a:noFill/>
          </a:ln>
        </p:spPr>
        <p:txBody>
          <a:bodyPr wrap="none" lIns="0" tIns="0" rIns="0" bIns="0" anchor="t" anchorCtr="0">
            <a:spAutoFit/>
          </a:bodyPr>
          <a:lstStyle/>
          <a:p>
            <a:pPr algn="l"/>
            <a:r>
              <a:rPr lang="zh-CN" sz="4950" b="1" dirty="0">
                <a:solidFill>
                  <a:srgbClr val="0F172A"/>
                </a:solidFill>
                <a:latin typeface="Arial"/>
                <a:ea typeface="Microsoft YaHei"/>
                <a:cs typeface="Arial"/>
              </a:rPr>
              <a:t>SmartNoteCloud</a:t>
            </a:r>
          </a:p>
        </p:txBody>
      </p:sp>
      <p:sp>
        <p:nvSpPr>
          <p:cNvPr id="8" name="TextBox 8"/>
          <p:cNvSpPr txBox="1"/>
          <p:nvPr/>
        </p:nvSpPr>
        <p:spPr>
          <a:xfrm>
            <a:off x="870585" y="1827848"/>
            <a:ext cx="3803749" cy="396240"/>
          </a:xfrm>
          <a:prstGeom prst="rect">
            <a:avLst/>
          </a:prstGeom>
          <a:noFill/>
          <a:ln>
            <a:noFill/>
          </a:ln>
        </p:spPr>
        <p:txBody>
          <a:bodyPr wrap="none" lIns="0" tIns="0" rIns="0" bIns="0" anchor="t" anchorCtr="0">
            <a:spAutoFit/>
          </a:bodyPr>
          <a:lstStyle/>
          <a:p>
            <a:pPr algn="l"/>
            <a:r>
              <a:rPr lang="zh-CN" sz="1950" b="1" dirty="0">
                <a:solidFill>
                  <a:srgbClr val="475569"/>
                </a:solidFill>
                <a:latin typeface="Arial"/>
                <a:ea typeface="Microsoft YaHei"/>
                <a:cs typeface="Arial"/>
              </a:rPr>
              <a:t>Báo cáo môn Cloud Computing</a:t>
            </a:r>
          </a:p>
        </p:txBody>
      </p:sp>
      <p:sp>
        <p:nvSpPr>
          <p:cNvPr id="9" name="TextBox 9"/>
          <p:cNvSpPr txBox="1"/>
          <p:nvPr/>
        </p:nvSpPr>
        <p:spPr>
          <a:xfrm>
            <a:off x="878205" y="2311718"/>
            <a:ext cx="604704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Ứng dụng ghi chú AI và flashcard triển khai cloud-native trên AWS EC2</a:t>
            </a:r>
          </a:p>
        </p:txBody>
      </p:sp>
      <p:grpSp>
        <p:nvGrpSpPr>
          <p:cNvPr id="19" name="Group 19"/>
          <p:cNvGrpSpPr/>
          <p:nvPr/>
        </p:nvGrpSpPr>
        <p:grpSpPr>
          <a:xfrm>
            <a:off x="895350" y="3219450"/>
            <a:ext cx="5505450" cy="704850"/>
            <a:chOff x="895350" y="3219450"/>
            <a:chExt cx="5505450" cy="704850"/>
          </a:xfrm>
        </p:grpSpPr>
        <p:sp>
          <p:nvSpPr>
            <p:cNvPr id="10" name="Rectangle 10"/>
            <p:cNvSpPr/>
            <p:nvPr/>
          </p:nvSpPr>
          <p:spPr>
            <a:xfrm>
              <a:off x="895350" y="3219450"/>
              <a:ext cx="1695450" cy="704850"/>
            </a:xfrm>
            <a:prstGeom prst="roundRect">
              <a:avLst>
                <a:gd name="adj" fmla="val 21622"/>
              </a:avLst>
            </a:prstGeom>
            <a:solidFill>
              <a:srgbClr val="2563EB">
                <a:alpha val="10000"/>
              </a:srgbClr>
            </a:solidFill>
            <a:ln w="14288">
              <a:solidFill>
                <a:srgbClr val="2563EB"/>
              </a:solidFill>
            </a:ln>
          </p:spPr>
        </p:sp>
        <p:sp>
          <p:nvSpPr>
            <p:cNvPr id="11" name="TextBox 11"/>
            <p:cNvSpPr txBox="1"/>
            <p:nvPr/>
          </p:nvSpPr>
          <p:spPr>
            <a:xfrm>
              <a:off x="1101090" y="3329940"/>
              <a:ext cx="537181" cy="365760"/>
            </a:xfrm>
            <a:prstGeom prst="rect">
              <a:avLst/>
            </a:prstGeom>
            <a:noFill/>
            <a:ln>
              <a:noFill/>
            </a:ln>
          </p:spPr>
          <p:txBody>
            <a:bodyPr wrap="none" lIns="0" tIns="0" rIns="0" bIns="0" anchor="t" anchorCtr="0">
              <a:spAutoFit/>
            </a:bodyPr>
            <a:lstStyle/>
            <a:p>
              <a:pPr algn="l"/>
              <a:r>
                <a:rPr lang="zh-CN" sz="1800" b="1" dirty="0">
                  <a:solidFill>
                    <a:srgbClr val="2563EB"/>
                  </a:solidFill>
                  <a:latin typeface="Arial"/>
                  <a:ea typeface="Microsoft YaHei"/>
                  <a:cs typeface="Arial"/>
                </a:rPr>
                <a:t>IaaS</a:t>
              </a:r>
            </a:p>
          </p:txBody>
        </p:sp>
        <p:sp>
          <p:nvSpPr>
            <p:cNvPr id="12" name="TextBox 12"/>
            <p:cNvSpPr txBox="1"/>
            <p:nvPr/>
          </p:nvSpPr>
          <p:spPr>
            <a:xfrm>
              <a:off x="1110615" y="3639502"/>
              <a:ext cx="55873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AWS EC2</a:t>
              </a:r>
            </a:p>
          </p:txBody>
        </p:sp>
        <p:sp>
          <p:nvSpPr>
            <p:cNvPr id="13" name="Rectangle 13"/>
            <p:cNvSpPr/>
            <p:nvPr/>
          </p:nvSpPr>
          <p:spPr>
            <a:xfrm>
              <a:off x="2800350" y="3219450"/>
              <a:ext cx="1695450" cy="704850"/>
            </a:xfrm>
            <a:prstGeom prst="roundRect">
              <a:avLst>
                <a:gd name="adj" fmla="val 21622"/>
              </a:avLst>
            </a:prstGeom>
            <a:solidFill>
              <a:srgbClr val="F59E0B">
                <a:alpha val="12000"/>
              </a:srgbClr>
            </a:solidFill>
            <a:ln w="14288">
              <a:solidFill>
                <a:srgbClr val="F59E0B"/>
              </a:solidFill>
            </a:ln>
          </p:spPr>
        </p:sp>
        <p:sp>
          <p:nvSpPr>
            <p:cNvPr id="14" name="TextBox 14"/>
            <p:cNvSpPr txBox="1"/>
            <p:nvPr/>
          </p:nvSpPr>
          <p:spPr>
            <a:xfrm>
              <a:off x="3006090" y="3329940"/>
              <a:ext cx="600189" cy="365760"/>
            </a:xfrm>
            <a:prstGeom prst="rect">
              <a:avLst/>
            </a:prstGeom>
            <a:noFill/>
            <a:ln>
              <a:noFill/>
            </a:ln>
          </p:spPr>
          <p:txBody>
            <a:bodyPr wrap="none" lIns="0" tIns="0" rIns="0" bIns="0" anchor="t" anchorCtr="0">
              <a:spAutoFit/>
            </a:bodyPr>
            <a:lstStyle/>
            <a:p>
              <a:pPr algn="l"/>
              <a:r>
                <a:rPr lang="zh-CN" sz="1800" b="1" dirty="0">
                  <a:solidFill>
                    <a:srgbClr val="F59E0B"/>
                  </a:solidFill>
                  <a:latin typeface="Arial"/>
                  <a:ea typeface="Microsoft YaHei"/>
                  <a:cs typeface="Arial"/>
                </a:rPr>
                <a:t>PaaS</a:t>
              </a:r>
            </a:p>
          </p:txBody>
        </p:sp>
        <p:sp>
          <p:nvSpPr>
            <p:cNvPr id="15" name="TextBox 15"/>
            <p:cNvSpPr txBox="1"/>
            <p:nvPr/>
          </p:nvSpPr>
          <p:spPr>
            <a:xfrm>
              <a:off x="3015615" y="3639502"/>
              <a:ext cx="1496854"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Beanstalk/App Runner</a:t>
              </a:r>
            </a:p>
          </p:txBody>
        </p:sp>
        <p:sp>
          <p:nvSpPr>
            <p:cNvPr id="16" name="Rectangle 16"/>
            <p:cNvSpPr/>
            <p:nvPr/>
          </p:nvSpPr>
          <p:spPr>
            <a:xfrm>
              <a:off x="4705350" y="3219450"/>
              <a:ext cx="1695450" cy="704850"/>
            </a:xfrm>
            <a:prstGeom prst="roundRect">
              <a:avLst>
                <a:gd name="adj" fmla="val 21622"/>
              </a:avLst>
            </a:prstGeom>
            <a:solidFill>
              <a:srgbClr val="00A676">
                <a:alpha val="12000"/>
              </a:srgbClr>
            </a:solidFill>
            <a:ln w="14288">
              <a:solidFill>
                <a:srgbClr val="00A676"/>
              </a:solidFill>
            </a:ln>
          </p:spPr>
        </p:sp>
        <p:sp>
          <p:nvSpPr>
            <p:cNvPr id="17" name="TextBox 17"/>
            <p:cNvSpPr txBox="1"/>
            <p:nvPr/>
          </p:nvSpPr>
          <p:spPr>
            <a:xfrm>
              <a:off x="4911090" y="3329940"/>
              <a:ext cx="600189" cy="365760"/>
            </a:xfrm>
            <a:prstGeom prst="rect">
              <a:avLst/>
            </a:prstGeom>
            <a:noFill/>
            <a:ln>
              <a:noFill/>
            </a:ln>
          </p:spPr>
          <p:txBody>
            <a:bodyPr wrap="none" lIns="0" tIns="0" rIns="0" bIns="0" anchor="t" anchorCtr="0">
              <a:spAutoFit/>
            </a:bodyPr>
            <a:lstStyle/>
            <a:p>
              <a:pPr algn="l"/>
              <a:r>
                <a:rPr lang="zh-CN" sz="1800" b="1" dirty="0">
                  <a:solidFill>
                    <a:srgbClr val="00A676"/>
                  </a:solidFill>
                  <a:latin typeface="Arial"/>
                  <a:ea typeface="Microsoft YaHei"/>
                  <a:cs typeface="Arial"/>
                </a:rPr>
                <a:t>SaaS</a:t>
              </a:r>
            </a:p>
          </p:txBody>
        </p:sp>
        <p:sp>
          <p:nvSpPr>
            <p:cNvPr id="18" name="TextBox 18"/>
            <p:cNvSpPr txBox="1"/>
            <p:nvPr/>
          </p:nvSpPr>
          <p:spPr>
            <a:xfrm>
              <a:off x="4920615" y="3639502"/>
              <a:ext cx="754761"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Mimo AI API</a:t>
              </a:r>
            </a:p>
          </p:txBody>
        </p:sp>
      </p:grpSp>
      <p:grpSp>
        <p:nvGrpSpPr>
          <p:cNvPr id="27" name="Group 27"/>
          <p:cNvGrpSpPr/>
          <p:nvPr/>
        </p:nvGrpSpPr>
        <p:grpSpPr>
          <a:xfrm>
            <a:off x="7277100" y="4057650"/>
            <a:ext cx="3890117" cy="1371600"/>
            <a:chOff x="7277100" y="4057650"/>
            <a:chExt cx="3890117" cy="1371600"/>
          </a:xfrm>
        </p:grpSpPr>
        <p:sp>
          <p:nvSpPr>
            <p:cNvPr id="20" name="Rectangle 20"/>
            <p:cNvSpPr/>
            <p:nvPr/>
          </p:nvSpPr>
          <p:spPr>
            <a:xfrm>
              <a:off x="7277100" y="4057650"/>
              <a:ext cx="3581400" cy="1371600"/>
            </a:xfrm>
            <a:prstGeom prst="roundRect">
              <a:avLst>
                <a:gd name="adj" fmla="val 13889"/>
              </a:avLst>
            </a:prstGeom>
            <a:solidFill>
              <a:srgbClr val="0F172A"/>
            </a:solidFill>
            <a:ln>
              <a:noFill/>
            </a:ln>
          </p:spPr>
        </p:sp>
        <p:sp>
          <p:nvSpPr>
            <p:cNvPr id="21" name="TextBox 21"/>
            <p:cNvSpPr txBox="1"/>
            <p:nvPr/>
          </p:nvSpPr>
          <p:spPr>
            <a:xfrm>
              <a:off x="7510462" y="4279106"/>
              <a:ext cx="148375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Consolas"/>
                  <a:ea typeface="Microsoft YaHei"/>
                  <a:cs typeface="Consolas"/>
                </a:rPr>
                <a:t>production endpoint</a:t>
              </a:r>
            </a:p>
          </p:txBody>
        </p:sp>
        <p:sp>
          <p:nvSpPr>
            <p:cNvPr id="22" name="TextBox 22"/>
            <p:cNvSpPr txBox="1"/>
            <p:nvPr/>
          </p:nvSpPr>
          <p:spPr>
            <a:xfrm>
              <a:off x="7499985" y="4551998"/>
              <a:ext cx="366723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Consolas"/>
                  <a:ea typeface="Microsoft YaHei"/>
                  <a:cs typeface="Consolas"/>
                </a:rPr>
                <a:t>https://pkiresearch.id.vn</a:t>
              </a:r>
            </a:p>
          </p:txBody>
        </p:sp>
        <p:sp>
          <p:nvSpPr>
            <p:cNvPr id="23" name="Rectangle 23"/>
            <p:cNvSpPr/>
            <p:nvPr/>
          </p:nvSpPr>
          <p:spPr>
            <a:xfrm>
              <a:off x="7524750" y="5010150"/>
              <a:ext cx="1009650" cy="285750"/>
            </a:xfrm>
            <a:prstGeom prst="roundRect">
              <a:avLst>
                <a:gd name="adj" fmla="val 50000"/>
              </a:avLst>
            </a:prstGeom>
            <a:solidFill>
              <a:srgbClr val="16A34A">
                <a:alpha val="18000"/>
              </a:srgbClr>
            </a:solidFill>
            <a:ln w="9525">
              <a:solidFill>
                <a:srgbClr val="16A34A"/>
              </a:solidFill>
            </a:ln>
          </p:spPr>
        </p:sp>
        <p:sp>
          <p:nvSpPr>
            <p:cNvPr id="24" name="TextBox 24"/>
            <p:cNvSpPr txBox="1"/>
            <p:nvPr/>
          </p:nvSpPr>
          <p:spPr>
            <a:xfrm>
              <a:off x="7730490" y="5096828"/>
              <a:ext cx="666200" cy="213360"/>
            </a:xfrm>
            <a:prstGeom prst="rect">
              <a:avLst/>
            </a:prstGeom>
            <a:noFill/>
            <a:ln>
              <a:noFill/>
            </a:ln>
          </p:spPr>
          <p:txBody>
            <a:bodyPr wrap="none" lIns="0" tIns="0" rIns="0" bIns="0" anchor="t" anchorCtr="0">
              <a:spAutoFit/>
            </a:bodyPr>
            <a:lstStyle/>
            <a:p>
              <a:pPr algn="l"/>
              <a:r>
                <a:rPr lang="zh-CN" sz="1050" b="1" dirty="0">
                  <a:solidFill>
                    <a:srgbClr val="16A34A"/>
                  </a:solidFill>
                  <a:latin typeface="Arial"/>
                  <a:ea typeface="Microsoft YaHei"/>
                  <a:cs typeface="Arial"/>
                </a:rPr>
                <a:t>HTTPS OK</a:t>
              </a:r>
            </a:p>
          </p:txBody>
        </p:sp>
        <p:sp>
          <p:nvSpPr>
            <p:cNvPr id="25" name="Rectangle 25"/>
            <p:cNvSpPr/>
            <p:nvPr/>
          </p:nvSpPr>
          <p:spPr>
            <a:xfrm>
              <a:off x="8667750" y="5010150"/>
              <a:ext cx="1066800" cy="285750"/>
            </a:xfrm>
            <a:prstGeom prst="roundRect">
              <a:avLst>
                <a:gd name="adj" fmla="val 50000"/>
              </a:avLst>
            </a:prstGeom>
            <a:solidFill>
              <a:srgbClr val="2563EB">
                <a:alpha val="18000"/>
              </a:srgbClr>
            </a:solidFill>
            <a:ln w="9525">
              <a:solidFill>
                <a:srgbClr val="2563EB"/>
              </a:solidFill>
            </a:ln>
          </p:spPr>
        </p:sp>
        <p:sp>
          <p:nvSpPr>
            <p:cNvPr id="26" name="TextBox 26"/>
            <p:cNvSpPr txBox="1"/>
            <p:nvPr/>
          </p:nvSpPr>
          <p:spPr>
            <a:xfrm>
              <a:off x="8892540" y="5096828"/>
              <a:ext cx="511831" cy="213360"/>
            </a:xfrm>
            <a:prstGeom prst="rect">
              <a:avLst/>
            </a:prstGeom>
            <a:noFill/>
            <a:ln>
              <a:noFill/>
            </a:ln>
          </p:spPr>
          <p:txBody>
            <a:bodyPr wrap="none" lIns="0" tIns="0" rIns="0" bIns="0" anchor="t" anchorCtr="0">
              <a:spAutoFit/>
            </a:bodyPr>
            <a:lstStyle/>
            <a:p>
              <a:pPr algn="l"/>
              <a:r>
                <a:rPr lang="zh-CN" sz="1050" b="1" dirty="0">
                  <a:solidFill>
                    <a:srgbClr val="2563EB"/>
                  </a:solidFill>
                  <a:latin typeface="Arial"/>
                  <a:ea typeface="Microsoft YaHei"/>
                  <a:cs typeface="Arial"/>
                </a:rPr>
                <a:t>Docker</a:t>
              </a:r>
            </a:p>
          </p:txBody>
        </p:sp>
      </p:grpSp>
      <p:sp>
        <p:nvSpPr>
          <p:cNvPr id="28" name="TextBox 28"/>
          <p:cNvSpPr txBox="1"/>
          <p:nvPr/>
        </p:nvSpPr>
        <p:spPr>
          <a:xfrm>
            <a:off x="882015" y="5849302"/>
            <a:ext cx="6411468"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Repo: huystackai/SmartNoteCloud · Cloud-native demo · React + FastAPI + PostgreSQL + Nginx</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11106119"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Vấn đề: không chỉ làm app, mà phải chứng minh được Cloud</a:t>
            </a:r>
          </a:p>
        </p:txBody>
      </p:sp>
      <p:sp>
        <p:nvSpPr>
          <p:cNvPr id="4" name="Rectangle 4"/>
          <p:cNvSpPr/>
          <p:nvPr/>
        </p:nvSpPr>
        <p:spPr>
          <a:xfrm>
            <a:off x="533400" y="933450"/>
            <a:ext cx="11125200" cy="476250"/>
          </a:xfrm>
          <a:prstGeom prst="roundRect">
            <a:avLst>
              <a:gd name="adj" fmla="val 28000"/>
            </a:avLst>
          </a:prstGeom>
          <a:solidFill>
            <a:srgbClr val="2563EB">
              <a:alpha val="8000"/>
            </a:srgbClr>
          </a:solidFill>
          <a:ln>
            <a:noFill/>
          </a:ln>
        </p:spPr>
      </p:sp>
      <p:sp>
        <p:nvSpPr>
          <p:cNvPr id="5" name="TextBox 5"/>
          <p:cNvSpPr txBox="1"/>
          <p:nvPr/>
        </p:nvSpPr>
        <p:spPr>
          <a:xfrm>
            <a:off x="725805" y="1082992"/>
            <a:ext cx="9944529"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Mục tiêu báo cáo: có quy trình chạy thật, có kiến trúc rõ và phân biệt được IaaS, PaaS, SaaS bằng chính project.</a:t>
            </a:r>
          </a:p>
        </p:txBody>
      </p:sp>
      <p:grpSp>
        <p:nvGrpSpPr>
          <p:cNvPr id="32" name="Group 32"/>
          <p:cNvGrpSpPr/>
          <p:nvPr/>
        </p:nvGrpSpPr>
        <p:grpSpPr>
          <a:xfrm>
            <a:off x="647700" y="1809750"/>
            <a:ext cx="11066402" cy="2762250"/>
            <a:chOff x="647700" y="1809750"/>
            <a:chExt cx="11066402" cy="2762250"/>
          </a:xfrm>
        </p:grpSpPr>
        <p:sp>
          <p:nvSpPr>
            <p:cNvPr id="6" name="Rectangle 6"/>
            <p:cNvSpPr/>
            <p:nvPr/>
          </p:nvSpPr>
          <p:spPr>
            <a:xfrm>
              <a:off x="647700" y="1809750"/>
              <a:ext cx="3238500" cy="2762250"/>
            </a:xfrm>
            <a:prstGeom prst="roundRect">
              <a:avLst>
                <a:gd name="adj" fmla="val 6207"/>
              </a:avLst>
            </a:prstGeom>
            <a:solidFill>
              <a:srgbClr val="FFFFFF"/>
            </a:solidFill>
            <a:ln w="14288">
              <a:solidFill>
                <a:srgbClr val="CBD5E1"/>
              </a:solidFill>
            </a:ln>
          </p:spPr>
        </p:sp>
        <p:grpSp>
          <p:nvGrpSpPr>
            <p:cNvPr id="9" name="Group 9"/>
            <p:cNvGrpSpPr/>
            <p:nvPr/>
          </p:nvGrpSpPr>
          <p:grpSpPr>
            <a:xfrm>
              <a:off x="976312" y="2135981"/>
              <a:ext cx="161925" cy="242887"/>
              <a:chOff x="976312" y="2135981"/>
              <a:chExt cx="161925" cy="242887"/>
            </a:xfrm>
          </p:grpSpPr>
          <p:sp>
            <p:nvSpPr>
              <p:cNvPr id="7" name="Freeform 7"/>
              <p:cNvSpPr/>
              <p:nvPr/>
            </p:nvSpPr>
            <p:spPr>
              <a:xfrm>
                <a:off x="1003300" y="2135981"/>
                <a:ext cx="107950" cy="107950"/>
              </a:xfrm>
              <a:custGeom>
                <a:avLst/>
                <a:gdLst/>
                <a:ahLst/>
                <a:cxnLst/>
                <a:rect l="l" t="t" r="r" b="b"/>
                <a:pathLst>
                  <a:path w="107950" h="107950">
                    <a:moveTo>
                      <a:pt x="0" y="53975"/>
                    </a:moveTo>
                    <a:cubicBezTo>
                      <a:pt x="0" y="83785"/>
                      <a:pt x="24165" y="107950"/>
                      <a:pt x="53975" y="107950"/>
                    </a:cubicBezTo>
                    <a:cubicBezTo>
                      <a:pt x="83785" y="107950"/>
                      <a:pt x="107950" y="83785"/>
                      <a:pt x="107950" y="53975"/>
                    </a:cubicBezTo>
                    <a:cubicBezTo>
                      <a:pt x="107950" y="24165"/>
                      <a:pt x="83785" y="0"/>
                      <a:pt x="53975" y="0"/>
                    </a:cubicBezTo>
                    <a:cubicBezTo>
                      <a:pt x="24165" y="0"/>
                      <a:pt x="0" y="24165"/>
                      <a:pt x="0" y="53975"/>
                    </a:cubicBezTo>
                  </a:path>
                </a:pathLst>
              </a:custGeom>
              <a:noFill/>
              <a:ln w="19050">
                <a:solidFill>
                  <a:srgbClr val="2563EB"/>
                </a:solidFill>
              </a:ln>
            </p:spPr>
          </p:sp>
          <p:sp>
            <p:nvSpPr>
              <p:cNvPr id="8" name="Freeform 8"/>
              <p:cNvSpPr/>
              <p:nvPr/>
            </p:nvSpPr>
            <p:spPr>
              <a:xfrm>
                <a:off x="976312" y="2297906"/>
                <a:ext cx="161925" cy="80962"/>
              </a:xfrm>
              <a:custGeom>
                <a:avLst/>
                <a:gdLst/>
                <a:ahLst/>
                <a:cxnLst/>
                <a:rect l="l" t="t" r="r" b="b"/>
                <a:pathLst>
                  <a:path w="161925" h="80962">
                    <a:moveTo>
                      <a:pt x="0" y="80962"/>
                    </a:moveTo>
                    <a:lnTo>
                      <a:pt x="0" y="53975"/>
                    </a:lnTo>
                    <a:cubicBezTo>
                      <a:pt x="0" y="24165"/>
                      <a:pt x="24165" y="0"/>
                      <a:pt x="53975" y="0"/>
                    </a:cubicBezTo>
                    <a:lnTo>
                      <a:pt x="107950" y="0"/>
                    </a:lnTo>
                    <a:cubicBezTo>
                      <a:pt x="137760" y="0"/>
                      <a:pt x="161925" y="24165"/>
                      <a:pt x="161925" y="53975"/>
                    </a:cubicBezTo>
                    <a:lnTo>
                      <a:pt x="161925" y="80962"/>
                    </a:lnTo>
                  </a:path>
                </a:pathLst>
              </a:custGeom>
              <a:noFill/>
              <a:ln w="19050">
                <a:solidFill>
                  <a:srgbClr val="2563EB"/>
                </a:solidFill>
              </a:ln>
            </p:spPr>
          </p:sp>
        </p:grpSp>
        <p:sp>
          <p:nvSpPr>
            <p:cNvPr id="10" name="TextBox 10"/>
            <p:cNvSpPr txBox="1"/>
            <p:nvPr/>
          </p:nvSpPr>
          <p:spPr>
            <a:xfrm>
              <a:off x="872490" y="2510790"/>
              <a:ext cx="2641644"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Người học cần công cụ</a:t>
              </a:r>
            </a:p>
          </p:txBody>
        </p:sp>
        <p:sp>
          <p:nvSpPr>
            <p:cNvPr id="11" name="TextBox 11"/>
            <p:cNvSpPr txBox="1"/>
            <p:nvPr/>
          </p:nvSpPr>
          <p:spPr>
            <a:xfrm>
              <a:off x="879158" y="2967514"/>
              <a:ext cx="2217158"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Ghi chú rời rạc khó ôn tập.</a:t>
              </a:r>
            </a:p>
          </p:txBody>
        </p:sp>
        <p:sp>
          <p:nvSpPr>
            <p:cNvPr id="12" name="TextBox 12"/>
            <p:cNvSpPr txBox="1"/>
            <p:nvPr/>
          </p:nvSpPr>
          <p:spPr>
            <a:xfrm>
              <a:off x="879158" y="3272314"/>
              <a:ext cx="2778228"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Flashcard thủ công tốn thời gian.</a:t>
              </a:r>
            </a:p>
          </p:txBody>
        </p:sp>
        <p:sp>
          <p:nvSpPr>
            <p:cNvPr id="13" name="TextBox 13"/>
            <p:cNvSpPr txBox="1"/>
            <p:nvPr/>
          </p:nvSpPr>
          <p:spPr>
            <a:xfrm>
              <a:off x="879158" y="3577114"/>
              <a:ext cx="2540198"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AI giúp tóm tắt và tạo câu hỏi.</a:t>
              </a:r>
            </a:p>
          </p:txBody>
        </p:sp>
        <p:sp>
          <p:nvSpPr>
            <p:cNvPr id="14" name="Rectangle 14"/>
            <p:cNvSpPr/>
            <p:nvPr/>
          </p:nvSpPr>
          <p:spPr>
            <a:xfrm>
              <a:off x="4476750" y="1809750"/>
              <a:ext cx="3238500" cy="2762250"/>
            </a:xfrm>
            <a:prstGeom prst="roundRect">
              <a:avLst>
                <a:gd name="adj" fmla="val 6207"/>
              </a:avLst>
            </a:prstGeom>
            <a:solidFill>
              <a:srgbClr val="FFFFFF"/>
            </a:solidFill>
            <a:ln w="14288">
              <a:solidFill>
                <a:srgbClr val="CBD5E1"/>
              </a:solidFill>
            </a:ln>
          </p:spPr>
        </p:sp>
        <p:grpSp>
          <p:nvGrpSpPr>
            <p:cNvPr id="19" name="Group 19"/>
            <p:cNvGrpSpPr/>
            <p:nvPr/>
          </p:nvGrpSpPr>
          <p:grpSpPr>
            <a:xfrm>
              <a:off x="4751388" y="2131798"/>
              <a:ext cx="269875" cy="247071"/>
              <a:chOff x="4751388" y="2131798"/>
              <a:chExt cx="269875" cy="247071"/>
            </a:xfrm>
          </p:grpSpPr>
          <p:sp>
            <p:nvSpPr>
              <p:cNvPr id="15" name="Freeform 15"/>
              <p:cNvSpPr/>
              <p:nvPr/>
            </p:nvSpPr>
            <p:spPr>
              <a:xfrm>
                <a:off x="4751388" y="2131798"/>
                <a:ext cx="269875" cy="179656"/>
              </a:xfrm>
              <a:custGeom>
                <a:avLst/>
                <a:gdLst/>
                <a:ahLst/>
                <a:cxnLst/>
                <a:rect l="l" t="t" r="r" b="b"/>
                <a:pathLst>
                  <a:path w="269875" h="179656">
                    <a:moveTo>
                      <a:pt x="62840" y="179602"/>
                    </a:moveTo>
                    <a:cubicBezTo>
                      <a:pt x="28134" y="179602"/>
                      <a:pt x="0" y="152520"/>
                      <a:pt x="0" y="119109"/>
                    </a:cubicBezTo>
                    <a:cubicBezTo>
                      <a:pt x="0" y="85712"/>
                      <a:pt x="28134" y="58630"/>
                      <a:pt x="62840" y="58630"/>
                    </a:cubicBezTo>
                    <a:cubicBezTo>
                      <a:pt x="68143" y="34854"/>
                      <a:pt x="87048" y="15450"/>
                      <a:pt x="112430" y="7718"/>
                    </a:cubicBezTo>
                    <a:cubicBezTo>
                      <a:pt x="137798" y="0"/>
                      <a:pt x="165811" y="5114"/>
                      <a:pt x="185890" y="21212"/>
                    </a:cubicBezTo>
                    <a:cubicBezTo>
                      <a:pt x="205969" y="37270"/>
                      <a:pt x="215063" y="61788"/>
                      <a:pt x="209774" y="85564"/>
                    </a:cubicBezTo>
                    <a:lnTo>
                      <a:pt x="223133" y="85564"/>
                    </a:lnTo>
                    <a:cubicBezTo>
                      <a:pt x="248946" y="85564"/>
                      <a:pt x="269875" y="106614"/>
                      <a:pt x="269875" y="132603"/>
                    </a:cubicBezTo>
                    <a:cubicBezTo>
                      <a:pt x="269875" y="158606"/>
                      <a:pt x="248946" y="179656"/>
                      <a:pt x="223119" y="179656"/>
                    </a:cubicBezTo>
                    <a:lnTo>
                      <a:pt x="62840" y="179656"/>
                    </a:lnTo>
                  </a:path>
                </a:pathLst>
              </a:custGeom>
              <a:noFill/>
              <a:ln w="19050">
                <a:solidFill>
                  <a:srgbClr val="F59E0B"/>
                </a:solidFill>
              </a:ln>
            </p:spPr>
          </p:sp>
          <p:sp>
            <p:nvSpPr>
              <p:cNvPr id="16" name="Freeform 16"/>
              <p:cNvSpPr/>
              <p:nvPr/>
            </p:nvSpPr>
            <p:spPr>
              <a:xfrm>
                <a:off x="4886325" y="2311400"/>
                <a:ext cx="9525" cy="67469"/>
              </a:xfrm>
              <a:custGeom>
                <a:avLst/>
                <a:gdLst/>
                <a:ahLst/>
                <a:cxnLst/>
                <a:rect l="l" t="t" r="r" b="b"/>
                <a:pathLst>
                  <a:path w="9525" h="67469">
                    <a:moveTo>
                      <a:pt x="0" y="0"/>
                    </a:moveTo>
                    <a:lnTo>
                      <a:pt x="0" y="67469"/>
                    </a:lnTo>
                  </a:path>
                </a:pathLst>
              </a:custGeom>
              <a:noFill/>
              <a:ln w="19050">
                <a:solidFill>
                  <a:srgbClr val="F59E0B"/>
                </a:solidFill>
              </a:ln>
            </p:spPr>
          </p:sp>
          <p:sp>
            <p:nvSpPr>
              <p:cNvPr id="17" name="Freeform 17"/>
              <p:cNvSpPr/>
              <p:nvPr/>
            </p:nvSpPr>
            <p:spPr>
              <a:xfrm>
                <a:off x="4940300" y="2311400"/>
                <a:ext cx="67469" cy="67469"/>
              </a:xfrm>
              <a:custGeom>
                <a:avLst/>
                <a:gdLst/>
                <a:ahLst/>
                <a:cxnLst/>
                <a:rect l="l" t="t" r="r" b="b"/>
                <a:pathLst>
                  <a:path w="67469" h="67469">
                    <a:moveTo>
                      <a:pt x="0" y="0"/>
                    </a:moveTo>
                    <a:lnTo>
                      <a:pt x="0" y="53975"/>
                    </a:lnTo>
                    <a:cubicBezTo>
                      <a:pt x="0" y="61427"/>
                      <a:pt x="6041" y="67469"/>
                      <a:pt x="13494" y="67469"/>
                    </a:cubicBezTo>
                    <a:lnTo>
                      <a:pt x="67469" y="67469"/>
                    </a:lnTo>
                  </a:path>
                </a:pathLst>
              </a:custGeom>
              <a:noFill/>
              <a:ln w="19050">
                <a:solidFill>
                  <a:srgbClr val="F59E0B"/>
                </a:solidFill>
              </a:ln>
            </p:spPr>
          </p:sp>
          <p:sp>
            <p:nvSpPr>
              <p:cNvPr id="18" name="Freeform 18"/>
              <p:cNvSpPr/>
              <p:nvPr/>
            </p:nvSpPr>
            <p:spPr>
              <a:xfrm>
                <a:off x="4764881" y="2311400"/>
                <a:ext cx="67469" cy="67469"/>
              </a:xfrm>
              <a:custGeom>
                <a:avLst/>
                <a:gdLst/>
                <a:ahLst/>
                <a:cxnLst/>
                <a:rect l="l" t="t" r="r" b="b"/>
                <a:pathLst>
                  <a:path w="67469" h="67469">
                    <a:moveTo>
                      <a:pt x="67469" y="0"/>
                    </a:moveTo>
                    <a:lnTo>
                      <a:pt x="67469" y="53975"/>
                    </a:lnTo>
                    <a:cubicBezTo>
                      <a:pt x="67469" y="61427"/>
                      <a:pt x="61427" y="67469"/>
                      <a:pt x="53975" y="67469"/>
                    </a:cubicBezTo>
                    <a:lnTo>
                      <a:pt x="0" y="67469"/>
                    </a:lnTo>
                  </a:path>
                </a:pathLst>
              </a:custGeom>
              <a:noFill/>
              <a:ln w="19050">
                <a:solidFill>
                  <a:srgbClr val="F59E0B"/>
                </a:solidFill>
              </a:ln>
            </p:spPr>
          </p:sp>
        </p:grpSp>
        <p:sp>
          <p:nvSpPr>
            <p:cNvPr id="20" name="TextBox 20"/>
            <p:cNvSpPr txBox="1"/>
            <p:nvPr/>
          </p:nvSpPr>
          <p:spPr>
            <a:xfrm>
              <a:off x="4701540" y="2510790"/>
              <a:ext cx="3548958"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Báo cáo Cloud cần bằng chứng</a:t>
              </a:r>
            </a:p>
          </p:txBody>
        </p:sp>
        <p:sp>
          <p:nvSpPr>
            <p:cNvPr id="21" name="TextBox 21"/>
            <p:cNvSpPr txBox="1"/>
            <p:nvPr/>
          </p:nvSpPr>
          <p:spPr>
            <a:xfrm>
              <a:off x="4708208" y="2967514"/>
              <a:ext cx="1970627"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Không dừng ở localhost.</a:t>
              </a:r>
            </a:p>
          </p:txBody>
        </p:sp>
        <p:sp>
          <p:nvSpPr>
            <p:cNvPr id="22" name="TextBox 22"/>
            <p:cNvSpPr txBox="1"/>
            <p:nvPr/>
          </p:nvSpPr>
          <p:spPr>
            <a:xfrm>
              <a:off x="4708208" y="3272314"/>
              <a:ext cx="2659213"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Cần domain, HTTPS, Docker, DB.</a:t>
              </a:r>
            </a:p>
          </p:txBody>
        </p:sp>
        <p:sp>
          <p:nvSpPr>
            <p:cNvPr id="23" name="TextBox 23"/>
            <p:cNvSpPr txBox="1"/>
            <p:nvPr/>
          </p:nvSpPr>
          <p:spPr>
            <a:xfrm>
              <a:off x="4708208" y="3577114"/>
              <a:ext cx="2642211"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Có health check và dữ liệu thật.</a:t>
              </a:r>
            </a:p>
          </p:txBody>
        </p:sp>
        <p:sp>
          <p:nvSpPr>
            <p:cNvPr id="24" name="Rectangle 24"/>
            <p:cNvSpPr/>
            <p:nvPr/>
          </p:nvSpPr>
          <p:spPr>
            <a:xfrm>
              <a:off x="8305800" y="1809750"/>
              <a:ext cx="3238500" cy="2762250"/>
            </a:xfrm>
            <a:prstGeom prst="roundRect">
              <a:avLst>
                <a:gd name="adj" fmla="val 6207"/>
              </a:avLst>
            </a:prstGeom>
            <a:solidFill>
              <a:srgbClr val="FFFFFF"/>
            </a:solidFill>
            <a:ln w="14288">
              <a:solidFill>
                <a:srgbClr val="CBD5E1"/>
              </a:solidFill>
            </a:ln>
          </p:spPr>
        </p:sp>
        <p:grpSp>
          <p:nvGrpSpPr>
            <p:cNvPr id="27" name="Group 27"/>
            <p:cNvGrpSpPr/>
            <p:nvPr/>
          </p:nvGrpSpPr>
          <p:grpSpPr>
            <a:xfrm>
              <a:off x="8607416" y="2149475"/>
              <a:ext cx="215909" cy="215900"/>
              <a:chOff x="8607416" y="2149475"/>
              <a:chExt cx="215909" cy="215900"/>
            </a:xfrm>
          </p:grpSpPr>
          <p:sp>
            <p:nvSpPr>
              <p:cNvPr id="25" name="Freeform 25"/>
              <p:cNvSpPr/>
              <p:nvPr/>
            </p:nvSpPr>
            <p:spPr>
              <a:xfrm>
                <a:off x="8661400" y="2203450"/>
                <a:ext cx="161925" cy="161925"/>
              </a:xfrm>
              <a:custGeom>
                <a:avLst/>
                <a:gdLst/>
                <a:ahLst/>
                <a:cxnLst/>
                <a:rect l="l" t="t" r="r" b="b"/>
                <a:pathLst>
                  <a:path w="161925" h="161925">
                    <a:moveTo>
                      <a:pt x="148431" y="3616"/>
                    </a:moveTo>
                    <a:cubicBezTo>
                      <a:pt x="156781" y="8437"/>
                      <a:pt x="161925" y="17346"/>
                      <a:pt x="161925" y="26987"/>
                    </a:cubicBezTo>
                    <a:lnTo>
                      <a:pt x="161925" y="134937"/>
                    </a:lnTo>
                    <a:cubicBezTo>
                      <a:pt x="161925" y="149842"/>
                      <a:pt x="149842" y="161925"/>
                      <a:pt x="134937" y="161925"/>
                    </a:cubicBezTo>
                    <a:lnTo>
                      <a:pt x="26987" y="161925"/>
                    </a:lnTo>
                    <a:cubicBezTo>
                      <a:pt x="12083" y="161925"/>
                      <a:pt x="0" y="149842"/>
                      <a:pt x="0" y="134937"/>
                    </a:cubicBezTo>
                    <a:lnTo>
                      <a:pt x="0" y="26987"/>
                    </a:lnTo>
                    <a:cubicBezTo>
                      <a:pt x="0" y="12083"/>
                      <a:pt x="12083" y="0"/>
                      <a:pt x="26987" y="0"/>
                    </a:cubicBezTo>
                    <a:lnTo>
                      <a:pt x="67469" y="0"/>
                    </a:lnTo>
                  </a:path>
                </a:pathLst>
              </a:custGeom>
              <a:noFill/>
              <a:ln w="19050">
                <a:solidFill>
                  <a:srgbClr val="00A676"/>
                </a:solidFill>
              </a:ln>
            </p:spPr>
          </p:sp>
          <p:sp>
            <p:nvSpPr>
              <p:cNvPr id="26" name="Freeform 26"/>
              <p:cNvSpPr/>
              <p:nvPr/>
            </p:nvSpPr>
            <p:spPr>
              <a:xfrm>
                <a:off x="8607416" y="2149475"/>
                <a:ext cx="161934" cy="161925"/>
              </a:xfrm>
              <a:custGeom>
                <a:avLst/>
                <a:gdLst/>
                <a:ahLst/>
                <a:cxnLst/>
                <a:rect l="l" t="t" r="r" b="b"/>
                <a:pathLst>
                  <a:path w="161934" h="161925">
                    <a:moveTo>
                      <a:pt x="13503" y="158336"/>
                    </a:moveTo>
                    <a:cubicBezTo>
                      <a:pt x="5145" y="153510"/>
                      <a:pt x="0" y="144589"/>
                      <a:pt x="9" y="134938"/>
                    </a:cubicBezTo>
                    <a:lnTo>
                      <a:pt x="9" y="26988"/>
                    </a:lnTo>
                    <a:cubicBezTo>
                      <a:pt x="9" y="12083"/>
                      <a:pt x="12092" y="0"/>
                      <a:pt x="26997" y="0"/>
                    </a:cubicBezTo>
                    <a:lnTo>
                      <a:pt x="134947" y="0"/>
                    </a:lnTo>
                    <a:cubicBezTo>
                      <a:pt x="149852" y="0"/>
                      <a:pt x="161934" y="12083"/>
                      <a:pt x="161934" y="26988"/>
                    </a:cubicBezTo>
                    <a:lnTo>
                      <a:pt x="161934" y="134938"/>
                    </a:lnTo>
                    <a:cubicBezTo>
                      <a:pt x="161934" y="149842"/>
                      <a:pt x="149852" y="161925"/>
                      <a:pt x="134947" y="161925"/>
                    </a:cubicBezTo>
                    <a:lnTo>
                      <a:pt x="94466" y="161925"/>
                    </a:lnTo>
                  </a:path>
                </a:pathLst>
              </a:custGeom>
              <a:noFill/>
              <a:ln w="19050">
                <a:solidFill>
                  <a:srgbClr val="00A676"/>
                </a:solidFill>
              </a:ln>
            </p:spPr>
          </p:sp>
        </p:grpSp>
        <p:sp>
          <p:nvSpPr>
            <p:cNvPr id="28" name="TextBox 28"/>
            <p:cNvSpPr txBox="1"/>
            <p:nvPr/>
          </p:nvSpPr>
          <p:spPr>
            <a:xfrm>
              <a:off x="8530590" y="2510790"/>
              <a:ext cx="3183512"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Cần nhìn ra service model</a:t>
              </a:r>
            </a:p>
          </p:txBody>
        </p:sp>
        <p:sp>
          <p:nvSpPr>
            <p:cNvPr id="29" name="TextBox 29"/>
            <p:cNvSpPr txBox="1"/>
            <p:nvPr/>
          </p:nvSpPr>
          <p:spPr>
            <a:xfrm>
              <a:off x="8537258" y="2967514"/>
              <a:ext cx="984504"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EC2 là IaaS.</a:t>
              </a:r>
            </a:p>
          </p:txBody>
        </p:sp>
        <p:sp>
          <p:nvSpPr>
            <p:cNvPr id="30" name="TextBox 30"/>
            <p:cNvSpPr txBox="1"/>
            <p:nvPr/>
          </p:nvSpPr>
          <p:spPr>
            <a:xfrm>
              <a:off x="8537258" y="3272314"/>
              <a:ext cx="2531697"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Beanstalk/App Runner là PaaS.</a:t>
              </a:r>
            </a:p>
          </p:txBody>
        </p:sp>
        <p:sp>
          <p:nvSpPr>
            <p:cNvPr id="31" name="TextBox 31"/>
            <p:cNvSpPr txBox="1"/>
            <p:nvPr/>
          </p:nvSpPr>
          <p:spPr>
            <a:xfrm>
              <a:off x="8537258" y="3577114"/>
              <a:ext cx="2625209"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Mimo AI API là SaaS/API service.</a:t>
              </a:r>
            </a:p>
          </p:txBody>
        </p:sp>
      </p:grpSp>
      <p:sp>
        <p:nvSpPr>
          <p:cNvPr id="33" name="Rectangle 33"/>
          <p:cNvSpPr/>
          <p:nvPr/>
        </p:nvSpPr>
        <p:spPr>
          <a:xfrm>
            <a:off x="1066800" y="5067300"/>
            <a:ext cx="10058400" cy="781050"/>
          </a:xfrm>
          <a:prstGeom prst="roundRect">
            <a:avLst>
              <a:gd name="adj" fmla="val 24390"/>
            </a:avLst>
          </a:prstGeom>
          <a:solidFill>
            <a:srgbClr val="0F172A"/>
          </a:solidFill>
          <a:ln>
            <a:noFill/>
          </a:ln>
        </p:spPr>
      </p:sp>
      <p:sp>
        <p:nvSpPr>
          <p:cNvPr id="34" name="TextBox 34"/>
          <p:cNvSpPr txBox="1"/>
          <p:nvPr/>
        </p:nvSpPr>
        <p:spPr>
          <a:xfrm>
            <a:off x="1369695" y="5232082"/>
            <a:ext cx="1716869"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Insight báo cáo</a:t>
            </a:r>
          </a:p>
        </p:txBody>
      </p:sp>
      <p:sp>
        <p:nvSpPr>
          <p:cNvPr id="35" name="TextBox 35"/>
          <p:cNvSpPr txBox="1"/>
          <p:nvPr/>
        </p:nvSpPr>
        <p:spPr>
          <a:xfrm>
            <a:off x="1374458" y="5558314"/>
            <a:ext cx="10590705" cy="259080"/>
          </a:xfrm>
          <a:prstGeom prst="rect">
            <a:avLst/>
          </a:prstGeom>
          <a:noFill/>
          <a:ln>
            <a:noFill/>
          </a:ln>
        </p:spPr>
        <p:txBody>
          <a:bodyPr wrap="none" lIns="0" tIns="0" rIns="0" bIns="0" anchor="t" anchorCtr="0">
            <a:spAutoFit/>
          </a:bodyPr>
          <a:lstStyle/>
          <a:p>
            <a:pPr algn="l"/>
            <a:r>
              <a:rPr lang="zh-CN" sz="1275" dirty="0">
                <a:solidFill>
                  <a:srgbClr val="CBD5E1"/>
                </a:solidFill>
                <a:latin typeface="Arial"/>
                <a:ea typeface="Microsoft YaHei"/>
                <a:cs typeface="Arial"/>
              </a:rPr>
              <a:t>SmartNoteCloud được thiết kế như một demo cloud-native nhỏ nhưng có đủ thành phần để giải thích hạ tầng, nền tảng và dịch vụ.</a:t>
            </a:r>
          </a:p>
        </p:txBody>
      </p:sp>
      <p:sp>
        <p:nvSpPr>
          <p:cNvPr id="36" name="TextBox 36"/>
          <p:cNvSpPr txBox="1"/>
          <p:nvPr/>
        </p:nvSpPr>
        <p:spPr>
          <a:xfrm>
            <a:off x="521970" y="6475095"/>
            <a:ext cx="1511046"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02 · Problem &amp; Motivation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lide(fromBottom)">
                                      <p:cBhvr>
                                        <p:cTn id="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4362176"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SmartNoteCloud là gì?</a:t>
            </a:r>
          </a:p>
        </p:txBody>
      </p:sp>
      <p:sp>
        <p:nvSpPr>
          <p:cNvPr id="4" name="TextBox 4"/>
          <p:cNvSpPr txBox="1"/>
          <p:nvPr/>
        </p:nvSpPr>
        <p:spPr>
          <a:xfrm>
            <a:off x="535305" y="921068"/>
            <a:ext cx="876538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Một web app ghi chú AI và flashcard, đủ nhỏ để demo nhưng đủ thành phần để phân tích cloud-native.</a:t>
            </a:r>
          </a:p>
        </p:txBody>
      </p:sp>
      <p:grpSp>
        <p:nvGrpSpPr>
          <p:cNvPr id="10" name="Group 10"/>
          <p:cNvGrpSpPr/>
          <p:nvPr/>
        </p:nvGrpSpPr>
        <p:grpSpPr>
          <a:xfrm>
            <a:off x="4267200" y="1962150"/>
            <a:ext cx="3657600" cy="2038350"/>
            <a:chOff x="4267200" y="1962150"/>
            <a:chExt cx="3657600" cy="2038350"/>
          </a:xfrm>
        </p:grpSpPr>
        <p:sp>
          <p:nvSpPr>
            <p:cNvPr id="5" name="Rectangle 5"/>
            <p:cNvSpPr/>
            <p:nvPr/>
          </p:nvSpPr>
          <p:spPr>
            <a:xfrm>
              <a:off x="4267200" y="1962150"/>
              <a:ext cx="3657600" cy="2038350"/>
            </a:xfrm>
            <a:prstGeom prst="roundRect">
              <a:avLst>
                <a:gd name="adj" fmla="val 13084"/>
              </a:avLst>
            </a:prstGeom>
            <a:solidFill>
              <a:srgbClr val="2563EB"/>
            </a:solidFill>
            <a:ln>
              <a:noFill/>
            </a:ln>
          </p:spPr>
        </p:sp>
        <p:sp>
          <p:nvSpPr>
            <p:cNvPr id="6" name="TextBox 6"/>
            <p:cNvSpPr txBox="1"/>
            <p:nvPr/>
          </p:nvSpPr>
          <p:spPr>
            <a:xfrm>
              <a:off x="4492619" y="2410778"/>
              <a:ext cx="3206763" cy="518160"/>
            </a:xfrm>
            <a:prstGeom prst="rect">
              <a:avLst/>
            </a:prstGeom>
            <a:noFill/>
            <a:ln>
              <a:noFill/>
            </a:ln>
          </p:spPr>
          <p:txBody>
            <a:bodyPr wrap="none" lIns="0" tIns="0" rIns="0" bIns="0" anchor="t" anchorCtr="0">
              <a:spAutoFit/>
            </a:bodyPr>
            <a:lstStyle/>
            <a:p>
              <a:pPr algn="ctr"/>
              <a:r>
                <a:rPr lang="zh-CN" sz="2550" b="1" dirty="0">
                  <a:solidFill>
                    <a:srgbClr val="FFFFFF"/>
                  </a:solidFill>
                  <a:latin typeface="Arial"/>
                  <a:ea typeface="Microsoft YaHei"/>
                  <a:cs typeface="Arial"/>
                </a:rPr>
                <a:t>MindDeckNote Lite</a:t>
              </a:r>
            </a:p>
          </p:txBody>
        </p:sp>
        <p:sp>
          <p:nvSpPr>
            <p:cNvPr id="7" name="TextBox 7"/>
            <p:cNvSpPr txBox="1"/>
            <p:nvPr/>
          </p:nvSpPr>
          <p:spPr>
            <a:xfrm>
              <a:off x="4665678" y="2921318"/>
              <a:ext cx="2860643" cy="274320"/>
            </a:xfrm>
            <a:prstGeom prst="rect">
              <a:avLst/>
            </a:prstGeom>
            <a:noFill/>
            <a:ln>
              <a:noFill/>
            </a:ln>
          </p:spPr>
          <p:txBody>
            <a:bodyPr wrap="none" lIns="0" tIns="0" rIns="0" bIns="0" anchor="t" anchorCtr="0">
              <a:spAutoFit/>
            </a:bodyPr>
            <a:lstStyle/>
            <a:p>
              <a:pPr algn="ctr"/>
              <a:r>
                <a:rPr lang="zh-CN" sz="1350" dirty="0">
                  <a:solidFill>
                    <a:srgbClr val="DBEAFE"/>
                  </a:solidFill>
                  <a:latin typeface="Arial"/>
                  <a:ea typeface="Microsoft YaHei"/>
                  <a:cs typeface="Arial"/>
                </a:rPr>
                <a:t>Notes + AI Summary + Flashcards</a:t>
              </a:r>
            </a:p>
          </p:txBody>
        </p:sp>
        <p:sp>
          <p:nvSpPr>
            <p:cNvPr id="8" name="Rectangle 8"/>
            <p:cNvSpPr/>
            <p:nvPr/>
          </p:nvSpPr>
          <p:spPr>
            <a:xfrm>
              <a:off x="5334000" y="3333750"/>
              <a:ext cx="1524000" cy="342900"/>
            </a:xfrm>
            <a:prstGeom prst="roundRect">
              <a:avLst>
                <a:gd name="adj" fmla="val 50000"/>
              </a:avLst>
            </a:prstGeom>
            <a:solidFill>
              <a:srgbClr val="FFFFFF">
                <a:alpha val="16000"/>
              </a:srgbClr>
            </a:solidFill>
            <a:ln w="9525">
              <a:solidFill>
                <a:srgbClr val="FFFFFF">
                  <a:alpha val="40000"/>
                </a:srgbClr>
              </a:solidFill>
            </a:ln>
          </p:spPr>
        </p:sp>
        <p:sp>
          <p:nvSpPr>
            <p:cNvPr id="9" name="TextBox 9"/>
            <p:cNvSpPr txBox="1"/>
            <p:nvPr/>
          </p:nvSpPr>
          <p:spPr>
            <a:xfrm>
              <a:off x="5519142" y="3440906"/>
              <a:ext cx="1153716"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Consolas"/>
                  <a:ea typeface="Microsoft YaHei"/>
                  <a:cs typeface="Consolas"/>
                </a:rPr>
                <a:t>React / FastAPI</a:t>
              </a:r>
            </a:p>
          </p:txBody>
        </p:sp>
      </p:grpSp>
      <p:grpSp>
        <p:nvGrpSpPr>
          <p:cNvPr id="27" name="Group 27"/>
          <p:cNvGrpSpPr/>
          <p:nvPr/>
        </p:nvGrpSpPr>
        <p:grpSpPr>
          <a:xfrm>
            <a:off x="819150" y="1676400"/>
            <a:ext cx="10553700" cy="2914650"/>
            <a:chOff x="819150" y="1676400"/>
            <a:chExt cx="10553700" cy="2914650"/>
          </a:xfrm>
        </p:grpSpPr>
        <p:sp>
          <p:nvSpPr>
            <p:cNvPr id="11" name="Rectangle 11"/>
            <p:cNvSpPr/>
            <p:nvPr/>
          </p:nvSpPr>
          <p:spPr>
            <a:xfrm>
              <a:off x="819150" y="1676400"/>
              <a:ext cx="2667000" cy="1200150"/>
            </a:xfrm>
            <a:prstGeom prst="roundRect">
              <a:avLst>
                <a:gd name="adj" fmla="val 14286"/>
              </a:avLst>
            </a:prstGeom>
            <a:solidFill>
              <a:srgbClr val="FFFFFF"/>
            </a:solidFill>
            <a:ln w="9525">
              <a:solidFill>
                <a:srgbClr val="CBD5E1"/>
              </a:solidFill>
            </a:ln>
          </p:spPr>
        </p:sp>
        <p:sp>
          <p:nvSpPr>
            <p:cNvPr id="12" name="TextBox 12"/>
            <p:cNvSpPr txBox="1"/>
            <p:nvPr/>
          </p:nvSpPr>
          <p:spPr>
            <a:xfrm>
              <a:off x="1045845" y="1898332"/>
              <a:ext cx="550174"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Auth</a:t>
              </a:r>
            </a:p>
          </p:txBody>
        </p:sp>
        <p:sp>
          <p:nvSpPr>
            <p:cNvPr id="13" name="TextBox 13"/>
            <p:cNvSpPr txBox="1"/>
            <p:nvPr/>
          </p:nvSpPr>
          <p:spPr>
            <a:xfrm>
              <a:off x="1051560" y="2270760"/>
              <a:ext cx="1622679"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Register, login, JWT</a:t>
              </a:r>
            </a:p>
          </p:txBody>
        </p:sp>
        <p:sp>
          <p:nvSpPr>
            <p:cNvPr id="14" name="TextBox 14"/>
            <p:cNvSpPr txBox="1"/>
            <p:nvPr/>
          </p:nvSpPr>
          <p:spPr>
            <a:xfrm>
              <a:off x="1051560" y="2499360"/>
              <a:ext cx="1742694"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bcrypt password hash</a:t>
              </a:r>
            </a:p>
          </p:txBody>
        </p:sp>
        <p:sp>
          <p:nvSpPr>
            <p:cNvPr id="15" name="Rectangle 15"/>
            <p:cNvSpPr/>
            <p:nvPr/>
          </p:nvSpPr>
          <p:spPr>
            <a:xfrm>
              <a:off x="819150" y="3390900"/>
              <a:ext cx="2667000" cy="1200150"/>
            </a:xfrm>
            <a:prstGeom prst="roundRect">
              <a:avLst>
                <a:gd name="adj" fmla="val 14286"/>
              </a:avLst>
            </a:prstGeom>
            <a:solidFill>
              <a:srgbClr val="FFFFFF"/>
            </a:solidFill>
            <a:ln w="9525">
              <a:solidFill>
                <a:srgbClr val="CBD5E1"/>
              </a:solidFill>
            </a:ln>
          </p:spPr>
        </p:sp>
        <p:sp>
          <p:nvSpPr>
            <p:cNvPr id="16" name="TextBox 16"/>
            <p:cNvSpPr txBox="1"/>
            <p:nvPr/>
          </p:nvSpPr>
          <p:spPr>
            <a:xfrm>
              <a:off x="1045845" y="3612832"/>
              <a:ext cx="677239"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Notes</a:t>
              </a:r>
            </a:p>
          </p:txBody>
        </p:sp>
        <p:sp>
          <p:nvSpPr>
            <p:cNvPr id="17" name="TextBox 17"/>
            <p:cNvSpPr txBox="1"/>
            <p:nvPr/>
          </p:nvSpPr>
          <p:spPr>
            <a:xfrm>
              <a:off x="1051560" y="3985260"/>
              <a:ext cx="2414778"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Workspace, page, block editor</a:t>
              </a:r>
            </a:p>
          </p:txBody>
        </p:sp>
        <p:sp>
          <p:nvSpPr>
            <p:cNvPr id="18" name="TextBox 18"/>
            <p:cNvSpPr txBox="1"/>
            <p:nvPr/>
          </p:nvSpPr>
          <p:spPr>
            <a:xfrm>
              <a:off x="1051560" y="4213860"/>
              <a:ext cx="1230630"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Search nội dung</a:t>
              </a:r>
            </a:p>
          </p:txBody>
        </p:sp>
        <p:sp>
          <p:nvSpPr>
            <p:cNvPr id="19" name="Rectangle 19"/>
            <p:cNvSpPr/>
            <p:nvPr/>
          </p:nvSpPr>
          <p:spPr>
            <a:xfrm>
              <a:off x="8705850" y="1676400"/>
              <a:ext cx="2667000" cy="1200150"/>
            </a:xfrm>
            <a:prstGeom prst="roundRect">
              <a:avLst>
                <a:gd name="adj" fmla="val 14286"/>
              </a:avLst>
            </a:prstGeom>
            <a:solidFill>
              <a:srgbClr val="FFFFFF"/>
            </a:solidFill>
            <a:ln w="9525">
              <a:solidFill>
                <a:srgbClr val="CBD5E1"/>
              </a:solidFill>
            </a:ln>
          </p:spPr>
        </p:sp>
        <p:sp>
          <p:nvSpPr>
            <p:cNvPr id="20" name="TextBox 20"/>
            <p:cNvSpPr txBox="1"/>
            <p:nvPr/>
          </p:nvSpPr>
          <p:spPr>
            <a:xfrm>
              <a:off x="8932545" y="1898332"/>
              <a:ext cx="238285"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AI</a:t>
              </a:r>
            </a:p>
          </p:txBody>
        </p:sp>
        <p:sp>
          <p:nvSpPr>
            <p:cNvPr id="21" name="TextBox 21"/>
            <p:cNvSpPr txBox="1"/>
            <p:nvPr/>
          </p:nvSpPr>
          <p:spPr>
            <a:xfrm>
              <a:off x="8938260" y="2270760"/>
              <a:ext cx="1246632"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Summarize note</a:t>
              </a:r>
            </a:p>
          </p:txBody>
        </p:sp>
        <p:sp>
          <p:nvSpPr>
            <p:cNvPr id="22" name="TextBox 22"/>
            <p:cNvSpPr txBox="1"/>
            <p:nvPr/>
          </p:nvSpPr>
          <p:spPr>
            <a:xfrm>
              <a:off x="8938260" y="2499360"/>
              <a:ext cx="1622679"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Generate flashcards</a:t>
              </a:r>
            </a:p>
          </p:txBody>
        </p:sp>
        <p:sp>
          <p:nvSpPr>
            <p:cNvPr id="23" name="Rectangle 23"/>
            <p:cNvSpPr/>
            <p:nvPr/>
          </p:nvSpPr>
          <p:spPr>
            <a:xfrm>
              <a:off x="8705850" y="3390900"/>
              <a:ext cx="2667000" cy="1200150"/>
            </a:xfrm>
            <a:prstGeom prst="roundRect">
              <a:avLst>
                <a:gd name="adj" fmla="val 14286"/>
              </a:avLst>
            </a:prstGeom>
            <a:solidFill>
              <a:srgbClr val="FFFFFF"/>
            </a:solidFill>
            <a:ln w="9525">
              <a:solidFill>
                <a:srgbClr val="CBD5E1"/>
              </a:solidFill>
            </a:ln>
          </p:spPr>
        </p:sp>
        <p:sp>
          <p:nvSpPr>
            <p:cNvPr id="24" name="TextBox 24"/>
            <p:cNvSpPr txBox="1"/>
            <p:nvPr/>
          </p:nvSpPr>
          <p:spPr>
            <a:xfrm>
              <a:off x="8932545" y="3612832"/>
              <a:ext cx="792754"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Review</a:t>
              </a:r>
            </a:p>
          </p:txBody>
        </p:sp>
        <p:sp>
          <p:nvSpPr>
            <p:cNvPr id="25" name="TextBox 25"/>
            <p:cNvSpPr txBox="1"/>
            <p:nvPr/>
          </p:nvSpPr>
          <p:spPr>
            <a:xfrm>
              <a:off x="8938260" y="3985260"/>
              <a:ext cx="1758696"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Deck, card, due cards</a:t>
              </a:r>
            </a:p>
          </p:txBody>
        </p:sp>
        <p:sp>
          <p:nvSpPr>
            <p:cNvPr id="26" name="TextBox 26"/>
            <p:cNvSpPr txBox="1"/>
            <p:nvPr/>
          </p:nvSpPr>
          <p:spPr>
            <a:xfrm>
              <a:off x="8938260" y="4213860"/>
              <a:ext cx="2038731"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Again / Hard / Good / Easy</a:t>
              </a:r>
            </a:p>
          </p:txBody>
        </p:sp>
      </p:grpSp>
      <p:grpSp>
        <p:nvGrpSpPr>
          <p:cNvPr id="32" name="Group 32"/>
          <p:cNvGrpSpPr/>
          <p:nvPr/>
        </p:nvGrpSpPr>
        <p:grpSpPr>
          <a:xfrm>
            <a:off x="3486150" y="2276475"/>
            <a:ext cx="5219700" cy="1714500"/>
            <a:chOff x="3486150" y="2276475"/>
            <a:chExt cx="5219700" cy="1714500"/>
          </a:xfrm>
        </p:grpSpPr>
        <p:sp>
          <p:nvSpPr>
            <p:cNvPr id="28" name="Line 28"/>
            <p:cNvSpPr/>
            <p:nvPr/>
          </p:nvSpPr>
          <p:spPr>
            <a:xfrm>
              <a:off x="3486150" y="2276475"/>
              <a:ext cx="781050" cy="352425"/>
            </a:xfrm>
            <a:custGeom>
              <a:avLst/>
              <a:gdLst/>
              <a:ahLst/>
              <a:cxnLst/>
              <a:rect l="l" t="t" r="r" b="b"/>
              <a:pathLst>
                <a:path w="781050" h="352425">
                  <a:moveTo>
                    <a:pt x="0" y="0"/>
                  </a:moveTo>
                  <a:lnTo>
                    <a:pt x="781050" y="352425"/>
                  </a:lnTo>
                </a:path>
              </a:pathLst>
            </a:custGeom>
            <a:noFill/>
            <a:ln w="19050">
              <a:solidFill>
                <a:srgbClr val="CBD5E1"/>
              </a:solidFill>
            </a:ln>
          </p:spPr>
        </p:sp>
        <p:sp>
          <p:nvSpPr>
            <p:cNvPr id="29" name="Line 29"/>
            <p:cNvSpPr/>
            <p:nvPr/>
          </p:nvSpPr>
          <p:spPr>
            <a:xfrm>
              <a:off x="3486150" y="3333750"/>
              <a:ext cx="781050" cy="657225"/>
            </a:xfrm>
            <a:custGeom>
              <a:avLst/>
              <a:gdLst/>
              <a:ahLst/>
              <a:cxnLst/>
              <a:rect l="l" t="t" r="r" b="b"/>
              <a:pathLst>
                <a:path w="781050" h="657225">
                  <a:moveTo>
                    <a:pt x="0" y="657225"/>
                  </a:moveTo>
                  <a:lnTo>
                    <a:pt x="781050" y="0"/>
                  </a:lnTo>
                </a:path>
              </a:pathLst>
            </a:custGeom>
            <a:noFill/>
            <a:ln w="19050">
              <a:solidFill>
                <a:srgbClr val="CBD5E1"/>
              </a:solidFill>
            </a:ln>
          </p:spPr>
        </p:sp>
        <p:sp>
          <p:nvSpPr>
            <p:cNvPr id="30" name="Line 30"/>
            <p:cNvSpPr/>
            <p:nvPr/>
          </p:nvSpPr>
          <p:spPr>
            <a:xfrm>
              <a:off x="7924800" y="2276475"/>
              <a:ext cx="781050" cy="352425"/>
            </a:xfrm>
            <a:custGeom>
              <a:avLst/>
              <a:gdLst/>
              <a:ahLst/>
              <a:cxnLst/>
              <a:rect l="l" t="t" r="r" b="b"/>
              <a:pathLst>
                <a:path w="781050" h="352425">
                  <a:moveTo>
                    <a:pt x="0" y="352425"/>
                  </a:moveTo>
                  <a:lnTo>
                    <a:pt x="781050" y="0"/>
                  </a:lnTo>
                </a:path>
              </a:pathLst>
            </a:custGeom>
            <a:noFill/>
            <a:ln w="19050">
              <a:solidFill>
                <a:srgbClr val="CBD5E1"/>
              </a:solidFill>
            </a:ln>
          </p:spPr>
        </p:sp>
        <p:sp>
          <p:nvSpPr>
            <p:cNvPr id="31" name="Line 31"/>
            <p:cNvSpPr/>
            <p:nvPr/>
          </p:nvSpPr>
          <p:spPr>
            <a:xfrm>
              <a:off x="7924800" y="3333750"/>
              <a:ext cx="781050" cy="657225"/>
            </a:xfrm>
            <a:custGeom>
              <a:avLst/>
              <a:gdLst/>
              <a:ahLst/>
              <a:cxnLst/>
              <a:rect l="l" t="t" r="r" b="b"/>
              <a:pathLst>
                <a:path w="781050" h="657225">
                  <a:moveTo>
                    <a:pt x="0" y="0"/>
                  </a:moveTo>
                  <a:lnTo>
                    <a:pt x="781050" y="657225"/>
                  </a:lnTo>
                </a:path>
              </a:pathLst>
            </a:custGeom>
            <a:noFill/>
            <a:ln w="19050">
              <a:solidFill>
                <a:srgbClr val="CBD5E1"/>
              </a:solidFill>
            </a:ln>
          </p:spPr>
        </p:sp>
      </p:grpSp>
      <p:sp>
        <p:nvSpPr>
          <p:cNvPr id="33" name="Rectangle 33"/>
          <p:cNvSpPr/>
          <p:nvPr/>
        </p:nvSpPr>
        <p:spPr>
          <a:xfrm>
            <a:off x="1771650" y="5257800"/>
            <a:ext cx="8648700" cy="552450"/>
          </a:xfrm>
          <a:prstGeom prst="roundRect">
            <a:avLst>
              <a:gd name="adj" fmla="val 31034"/>
            </a:avLst>
          </a:prstGeom>
          <a:solidFill>
            <a:srgbClr val="00A676">
              <a:alpha val="10000"/>
            </a:srgbClr>
          </a:solidFill>
          <a:ln w="14288">
            <a:solidFill>
              <a:srgbClr val="00A676"/>
            </a:solidFill>
          </a:ln>
        </p:spPr>
      </p:sp>
      <p:sp>
        <p:nvSpPr>
          <p:cNvPr id="34" name="TextBox 34"/>
          <p:cNvSpPr txBox="1"/>
          <p:nvPr/>
        </p:nvSpPr>
        <p:spPr>
          <a:xfrm>
            <a:off x="1578615" y="5446871"/>
            <a:ext cx="9034770" cy="289560"/>
          </a:xfrm>
          <a:prstGeom prst="rect">
            <a:avLst/>
          </a:prstGeom>
          <a:noFill/>
          <a:ln>
            <a:noFill/>
          </a:ln>
        </p:spPr>
        <p:txBody>
          <a:bodyPr wrap="none" lIns="0" tIns="0" rIns="0" bIns="0" anchor="t" anchorCtr="0">
            <a:spAutoFit/>
          </a:bodyPr>
          <a:lstStyle/>
          <a:p>
            <a:pPr algn="ctr"/>
            <a:r>
              <a:rPr lang="zh-CN" sz="1425" b="1" dirty="0">
                <a:solidFill>
                  <a:srgbClr val="0F172A"/>
                </a:solidFill>
                <a:latin typeface="Arial"/>
                <a:ea typeface="Microsoft YaHei"/>
                <a:cs typeface="Arial"/>
              </a:rPr>
              <a:t>Điểm quan trọng: sản phẩm đủ chức năng để tạo dữ liệu thật và kiểm chứng database khi demo.</a:t>
            </a:r>
          </a:p>
        </p:txBody>
      </p:sp>
      <p:sp>
        <p:nvSpPr>
          <p:cNvPr id="35" name="TextBox 35"/>
          <p:cNvSpPr txBox="1"/>
          <p:nvPr/>
        </p:nvSpPr>
        <p:spPr>
          <a:xfrm>
            <a:off x="521970" y="6475095"/>
            <a:ext cx="1337024"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03 · Product Overview</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8232960"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Workflow chức năng: từ ghi chú đến ôn tập</a:t>
            </a:r>
          </a:p>
        </p:txBody>
      </p:sp>
      <p:sp>
        <p:nvSpPr>
          <p:cNvPr id="4" name="Rectangle 4"/>
          <p:cNvSpPr/>
          <p:nvPr/>
        </p:nvSpPr>
        <p:spPr>
          <a:xfrm>
            <a:off x="533400" y="971550"/>
            <a:ext cx="11125200" cy="495300"/>
          </a:xfrm>
          <a:prstGeom prst="roundRect">
            <a:avLst>
              <a:gd name="adj" fmla="val 26923"/>
            </a:avLst>
          </a:prstGeom>
          <a:solidFill>
            <a:srgbClr val="2563EB">
              <a:alpha val="8000"/>
            </a:srgbClr>
          </a:solidFill>
          <a:ln>
            <a:noFill/>
          </a:ln>
        </p:spPr>
      </p:sp>
      <p:sp>
        <p:nvSpPr>
          <p:cNvPr id="5" name="TextBox 5"/>
          <p:cNvSpPr txBox="1"/>
          <p:nvPr/>
        </p:nvSpPr>
        <p:spPr>
          <a:xfrm>
            <a:off x="725805" y="1140142"/>
            <a:ext cx="9611487"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Người dùng tạo dữ liệu thật trong quá trình demo, sau đó kiểm tra được ở PostgreSQL bằng DBeaver hoặc psql.</a:t>
            </a:r>
          </a:p>
        </p:txBody>
      </p:sp>
      <p:grpSp>
        <p:nvGrpSpPr>
          <p:cNvPr id="33" name="Group 33"/>
          <p:cNvGrpSpPr/>
          <p:nvPr/>
        </p:nvGrpSpPr>
        <p:grpSpPr>
          <a:xfrm>
            <a:off x="666750" y="2209800"/>
            <a:ext cx="11072241" cy="2000250"/>
            <a:chOff x="666750" y="2209800"/>
            <a:chExt cx="11072241" cy="2000250"/>
          </a:xfrm>
        </p:grpSpPr>
        <p:sp>
          <p:nvSpPr>
            <p:cNvPr id="6" name="Rectangle 6"/>
            <p:cNvSpPr/>
            <p:nvPr/>
          </p:nvSpPr>
          <p:spPr>
            <a:xfrm>
              <a:off x="666750" y="2209800"/>
              <a:ext cx="2247900" cy="2000250"/>
            </a:xfrm>
            <a:prstGeom prst="roundRect">
              <a:avLst>
                <a:gd name="adj" fmla="val 9524"/>
              </a:avLst>
            </a:prstGeom>
            <a:solidFill>
              <a:srgbClr val="FFFFFF"/>
            </a:solidFill>
            <a:ln w="9525">
              <a:solidFill>
                <a:srgbClr val="CBD5E1"/>
              </a:solidFill>
            </a:ln>
          </p:spPr>
        </p:sp>
        <p:sp>
          <p:nvSpPr>
            <p:cNvPr id="7" name="Ellipse 7"/>
            <p:cNvSpPr/>
            <p:nvPr/>
          </p:nvSpPr>
          <p:spPr>
            <a:xfrm>
              <a:off x="819150" y="2381250"/>
              <a:ext cx="342900" cy="342900"/>
            </a:xfrm>
            <a:prstGeom prst="ellipse">
              <a:avLst/>
            </a:prstGeom>
            <a:solidFill>
              <a:srgbClr val="2563EB"/>
            </a:solidFill>
            <a:ln>
              <a:noFill/>
            </a:ln>
          </p:spPr>
        </p:sp>
        <p:sp>
          <p:nvSpPr>
            <p:cNvPr id="8" name="TextBox 8"/>
            <p:cNvSpPr txBox="1"/>
            <p:nvPr/>
          </p:nvSpPr>
          <p:spPr>
            <a:xfrm>
              <a:off x="945101" y="2473642"/>
              <a:ext cx="909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9" name="TextBox 9"/>
            <p:cNvSpPr txBox="1"/>
            <p:nvPr/>
          </p:nvSpPr>
          <p:spPr>
            <a:xfrm>
              <a:off x="891540" y="2910840"/>
              <a:ext cx="1091651"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Tạo note</a:t>
              </a:r>
            </a:p>
          </p:txBody>
        </p:sp>
        <p:sp>
          <p:nvSpPr>
            <p:cNvPr id="10" name="TextBox 10"/>
            <p:cNvSpPr txBox="1"/>
            <p:nvPr/>
          </p:nvSpPr>
          <p:spPr>
            <a:xfrm>
              <a:off x="899160" y="3318510"/>
              <a:ext cx="1054608"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Page + blocks</a:t>
              </a:r>
            </a:p>
          </p:txBody>
        </p:sp>
        <p:sp>
          <p:nvSpPr>
            <p:cNvPr id="11" name="TextBox 11"/>
            <p:cNvSpPr txBox="1"/>
            <p:nvPr/>
          </p:nvSpPr>
          <p:spPr>
            <a:xfrm>
              <a:off x="899160" y="3566160"/>
              <a:ext cx="1934718"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Nội dung Cloud Computing</a:t>
              </a:r>
            </a:p>
          </p:txBody>
        </p:sp>
        <p:sp>
          <p:nvSpPr>
            <p:cNvPr id="12" name="Polygon 12"/>
            <p:cNvSpPr/>
            <p:nvPr/>
          </p:nvSpPr>
          <p:spPr>
            <a:xfrm>
              <a:off x="3124200" y="3067050"/>
              <a:ext cx="266700" cy="304800"/>
            </a:xfrm>
            <a:custGeom>
              <a:avLst/>
              <a:gdLst/>
              <a:ahLst/>
              <a:cxnLst/>
              <a:rect l="l" t="t" r="r" b="b"/>
              <a:pathLst>
                <a:path w="266700" h="304800">
                  <a:moveTo>
                    <a:pt x="0" y="0"/>
                  </a:moveTo>
                  <a:lnTo>
                    <a:pt x="266700" y="152400"/>
                  </a:lnTo>
                  <a:lnTo>
                    <a:pt x="0" y="304800"/>
                  </a:lnTo>
                  <a:close/>
                </a:path>
              </a:pathLst>
            </a:custGeom>
            <a:solidFill>
              <a:srgbClr val="CBD5E1"/>
            </a:solidFill>
            <a:ln>
              <a:noFill/>
            </a:ln>
          </p:spPr>
        </p:sp>
        <p:sp>
          <p:nvSpPr>
            <p:cNvPr id="13" name="Rectangle 13"/>
            <p:cNvSpPr/>
            <p:nvPr/>
          </p:nvSpPr>
          <p:spPr>
            <a:xfrm>
              <a:off x="3600450" y="2209800"/>
              <a:ext cx="2247900" cy="2000250"/>
            </a:xfrm>
            <a:prstGeom prst="roundRect">
              <a:avLst>
                <a:gd name="adj" fmla="val 9524"/>
              </a:avLst>
            </a:prstGeom>
            <a:solidFill>
              <a:srgbClr val="FFFFFF"/>
            </a:solidFill>
            <a:ln w="9525">
              <a:solidFill>
                <a:srgbClr val="CBD5E1"/>
              </a:solidFill>
            </a:ln>
          </p:spPr>
        </p:sp>
        <p:sp>
          <p:nvSpPr>
            <p:cNvPr id="14" name="Ellipse 14"/>
            <p:cNvSpPr/>
            <p:nvPr/>
          </p:nvSpPr>
          <p:spPr>
            <a:xfrm>
              <a:off x="3752850" y="2381250"/>
              <a:ext cx="342900" cy="342900"/>
            </a:xfrm>
            <a:prstGeom prst="ellipse">
              <a:avLst/>
            </a:prstGeom>
            <a:solidFill>
              <a:srgbClr val="00A676"/>
            </a:solidFill>
            <a:ln>
              <a:noFill/>
            </a:ln>
          </p:spPr>
        </p:sp>
        <p:sp>
          <p:nvSpPr>
            <p:cNvPr id="15" name="TextBox 15"/>
            <p:cNvSpPr txBox="1"/>
            <p:nvPr/>
          </p:nvSpPr>
          <p:spPr>
            <a:xfrm>
              <a:off x="3855174" y="24736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6" name="TextBox 16"/>
            <p:cNvSpPr txBox="1"/>
            <p:nvPr/>
          </p:nvSpPr>
          <p:spPr>
            <a:xfrm>
              <a:off x="3825240" y="2910840"/>
              <a:ext cx="1293276"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AI tóm tắt</a:t>
              </a:r>
            </a:p>
          </p:txBody>
        </p:sp>
        <p:sp>
          <p:nvSpPr>
            <p:cNvPr id="17" name="TextBox 17"/>
            <p:cNvSpPr txBox="1"/>
            <p:nvPr/>
          </p:nvSpPr>
          <p:spPr>
            <a:xfrm>
              <a:off x="3832860" y="3318510"/>
              <a:ext cx="95059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Gọi Mimo API</a:t>
              </a:r>
            </a:p>
          </p:txBody>
        </p:sp>
        <p:sp>
          <p:nvSpPr>
            <p:cNvPr id="18" name="TextBox 18"/>
            <p:cNvSpPr txBox="1"/>
            <p:nvPr/>
          </p:nvSpPr>
          <p:spPr>
            <a:xfrm>
              <a:off x="3832860" y="3566160"/>
              <a:ext cx="1646682"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Lưu summary về page</a:t>
              </a:r>
            </a:p>
          </p:txBody>
        </p:sp>
        <p:sp>
          <p:nvSpPr>
            <p:cNvPr id="19" name="Polygon 19"/>
            <p:cNvSpPr/>
            <p:nvPr/>
          </p:nvSpPr>
          <p:spPr>
            <a:xfrm>
              <a:off x="6057900" y="3067050"/>
              <a:ext cx="266700" cy="304800"/>
            </a:xfrm>
            <a:custGeom>
              <a:avLst/>
              <a:gdLst/>
              <a:ahLst/>
              <a:cxnLst/>
              <a:rect l="l" t="t" r="r" b="b"/>
              <a:pathLst>
                <a:path w="266700" h="304800">
                  <a:moveTo>
                    <a:pt x="0" y="0"/>
                  </a:moveTo>
                  <a:lnTo>
                    <a:pt x="266700" y="152400"/>
                  </a:lnTo>
                  <a:lnTo>
                    <a:pt x="0" y="304800"/>
                  </a:lnTo>
                  <a:close/>
                </a:path>
              </a:pathLst>
            </a:custGeom>
            <a:solidFill>
              <a:srgbClr val="CBD5E1"/>
            </a:solidFill>
            <a:ln>
              <a:noFill/>
            </a:ln>
          </p:spPr>
        </p:sp>
        <p:sp>
          <p:nvSpPr>
            <p:cNvPr id="20" name="Rectangle 20"/>
            <p:cNvSpPr/>
            <p:nvPr/>
          </p:nvSpPr>
          <p:spPr>
            <a:xfrm>
              <a:off x="6534150" y="2209800"/>
              <a:ext cx="2247900" cy="2000250"/>
            </a:xfrm>
            <a:prstGeom prst="roundRect">
              <a:avLst>
                <a:gd name="adj" fmla="val 9524"/>
              </a:avLst>
            </a:prstGeom>
            <a:solidFill>
              <a:srgbClr val="FFFFFF"/>
            </a:solidFill>
            <a:ln w="9525">
              <a:solidFill>
                <a:srgbClr val="CBD5E1"/>
              </a:solidFill>
            </a:ln>
          </p:spPr>
        </p:sp>
        <p:sp>
          <p:nvSpPr>
            <p:cNvPr id="21" name="Ellipse 21"/>
            <p:cNvSpPr/>
            <p:nvPr/>
          </p:nvSpPr>
          <p:spPr>
            <a:xfrm>
              <a:off x="6686550" y="2381250"/>
              <a:ext cx="342900" cy="342900"/>
            </a:xfrm>
            <a:prstGeom prst="ellipse">
              <a:avLst/>
            </a:prstGeom>
            <a:solidFill>
              <a:srgbClr val="00A676"/>
            </a:solidFill>
            <a:ln>
              <a:noFill/>
            </a:ln>
          </p:spPr>
        </p:sp>
        <p:sp>
          <p:nvSpPr>
            <p:cNvPr id="22" name="TextBox 22"/>
            <p:cNvSpPr txBox="1"/>
            <p:nvPr/>
          </p:nvSpPr>
          <p:spPr>
            <a:xfrm>
              <a:off x="6788874" y="24736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3" name="TextBox 23"/>
            <p:cNvSpPr txBox="1"/>
            <p:nvPr/>
          </p:nvSpPr>
          <p:spPr>
            <a:xfrm>
              <a:off x="6758940" y="2910840"/>
              <a:ext cx="1797339"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Sinh flashcard</a:t>
              </a:r>
            </a:p>
          </p:txBody>
        </p:sp>
        <p:sp>
          <p:nvSpPr>
            <p:cNvPr id="24" name="TextBox 24"/>
            <p:cNvSpPr txBox="1"/>
            <p:nvPr/>
          </p:nvSpPr>
          <p:spPr>
            <a:xfrm>
              <a:off x="6766560" y="3318510"/>
              <a:ext cx="95059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Q/A từ note</a:t>
              </a:r>
            </a:p>
          </p:txBody>
        </p:sp>
        <p:sp>
          <p:nvSpPr>
            <p:cNvPr id="25" name="TextBox 25"/>
            <p:cNvSpPr txBox="1"/>
            <p:nvPr/>
          </p:nvSpPr>
          <p:spPr>
            <a:xfrm>
              <a:off x="6766560" y="3566160"/>
              <a:ext cx="1126617"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Thêm vào deck</a:t>
              </a:r>
            </a:p>
          </p:txBody>
        </p:sp>
        <p:sp>
          <p:nvSpPr>
            <p:cNvPr id="26" name="Polygon 26"/>
            <p:cNvSpPr/>
            <p:nvPr/>
          </p:nvSpPr>
          <p:spPr>
            <a:xfrm>
              <a:off x="8991600" y="3067050"/>
              <a:ext cx="266700" cy="304800"/>
            </a:xfrm>
            <a:custGeom>
              <a:avLst/>
              <a:gdLst/>
              <a:ahLst/>
              <a:cxnLst/>
              <a:rect l="l" t="t" r="r" b="b"/>
              <a:pathLst>
                <a:path w="266700" h="304800">
                  <a:moveTo>
                    <a:pt x="0" y="0"/>
                  </a:moveTo>
                  <a:lnTo>
                    <a:pt x="266700" y="152400"/>
                  </a:lnTo>
                  <a:lnTo>
                    <a:pt x="0" y="304800"/>
                  </a:lnTo>
                  <a:close/>
                </a:path>
              </a:pathLst>
            </a:custGeom>
            <a:solidFill>
              <a:srgbClr val="CBD5E1"/>
            </a:solidFill>
            <a:ln>
              <a:noFill/>
            </a:ln>
          </p:spPr>
        </p:sp>
        <p:sp>
          <p:nvSpPr>
            <p:cNvPr id="27" name="Rectangle 27"/>
            <p:cNvSpPr/>
            <p:nvPr/>
          </p:nvSpPr>
          <p:spPr>
            <a:xfrm>
              <a:off x="9467850" y="2209800"/>
              <a:ext cx="2057400" cy="2000250"/>
            </a:xfrm>
            <a:prstGeom prst="roundRect">
              <a:avLst>
                <a:gd name="adj" fmla="val 9524"/>
              </a:avLst>
            </a:prstGeom>
            <a:solidFill>
              <a:srgbClr val="FFFFFF"/>
            </a:solidFill>
            <a:ln w="9525">
              <a:solidFill>
                <a:srgbClr val="CBD5E1"/>
              </a:solidFill>
            </a:ln>
          </p:spPr>
        </p:sp>
        <p:sp>
          <p:nvSpPr>
            <p:cNvPr id="28" name="Ellipse 28"/>
            <p:cNvSpPr/>
            <p:nvPr/>
          </p:nvSpPr>
          <p:spPr>
            <a:xfrm>
              <a:off x="9620250" y="2381250"/>
              <a:ext cx="342900" cy="342900"/>
            </a:xfrm>
            <a:prstGeom prst="ellipse">
              <a:avLst/>
            </a:prstGeom>
            <a:solidFill>
              <a:srgbClr val="F59E0B"/>
            </a:solidFill>
            <a:ln>
              <a:noFill/>
            </a:ln>
          </p:spPr>
        </p:sp>
        <p:sp>
          <p:nvSpPr>
            <p:cNvPr id="29" name="TextBox 29"/>
            <p:cNvSpPr txBox="1"/>
            <p:nvPr/>
          </p:nvSpPr>
          <p:spPr>
            <a:xfrm>
              <a:off x="9722574" y="24736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30" name="TextBox 30"/>
            <p:cNvSpPr txBox="1"/>
            <p:nvPr/>
          </p:nvSpPr>
          <p:spPr>
            <a:xfrm>
              <a:off x="9692640" y="2910840"/>
              <a:ext cx="864822"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Review</a:t>
              </a:r>
            </a:p>
          </p:txBody>
        </p:sp>
        <p:sp>
          <p:nvSpPr>
            <p:cNvPr id="31" name="TextBox 31"/>
            <p:cNvSpPr txBox="1"/>
            <p:nvPr/>
          </p:nvSpPr>
          <p:spPr>
            <a:xfrm>
              <a:off x="9700260" y="3318510"/>
              <a:ext cx="2038731"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Again / Hard / Good / Easy</a:t>
              </a:r>
            </a:p>
          </p:txBody>
        </p:sp>
        <p:sp>
          <p:nvSpPr>
            <p:cNvPr id="32" name="TextBox 32"/>
            <p:cNvSpPr txBox="1"/>
            <p:nvPr/>
          </p:nvSpPr>
          <p:spPr>
            <a:xfrm>
              <a:off x="9700260" y="3566160"/>
              <a:ext cx="1238631"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Sinh lịch ôn tập</a:t>
              </a:r>
            </a:p>
          </p:txBody>
        </p:sp>
      </p:grpSp>
      <p:grpSp>
        <p:nvGrpSpPr>
          <p:cNvPr id="37" name="Group 37"/>
          <p:cNvGrpSpPr/>
          <p:nvPr/>
        </p:nvGrpSpPr>
        <p:grpSpPr>
          <a:xfrm>
            <a:off x="1714500" y="4933950"/>
            <a:ext cx="8763000" cy="742950"/>
            <a:chOff x="1714500" y="4933950"/>
            <a:chExt cx="8763000" cy="742950"/>
          </a:xfrm>
        </p:grpSpPr>
        <p:sp>
          <p:nvSpPr>
            <p:cNvPr id="34" name="Rectangle 34"/>
            <p:cNvSpPr/>
            <p:nvPr/>
          </p:nvSpPr>
          <p:spPr>
            <a:xfrm>
              <a:off x="1714500" y="4933950"/>
              <a:ext cx="8763000" cy="742950"/>
            </a:xfrm>
            <a:prstGeom prst="roundRect">
              <a:avLst>
                <a:gd name="adj" fmla="val 23077"/>
              </a:avLst>
            </a:prstGeom>
            <a:solidFill>
              <a:srgbClr val="FFFFFF"/>
            </a:solidFill>
            <a:ln w="9525">
              <a:solidFill>
                <a:srgbClr val="CBD5E1"/>
              </a:solidFill>
            </a:ln>
          </p:spPr>
        </p:sp>
        <p:sp>
          <p:nvSpPr>
            <p:cNvPr id="35" name="TextBox 35"/>
            <p:cNvSpPr txBox="1"/>
            <p:nvPr/>
          </p:nvSpPr>
          <p:spPr>
            <a:xfrm>
              <a:off x="2005012" y="5136356"/>
              <a:ext cx="1356241"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Consolas"/>
                  <a:ea typeface="Microsoft YaHei"/>
                  <a:cs typeface="Consolas"/>
                </a:rPr>
                <a:t>Database evidence</a:t>
              </a:r>
            </a:p>
          </p:txBody>
        </p:sp>
        <p:sp>
          <p:nvSpPr>
            <p:cNvPr id="36" name="TextBox 36"/>
            <p:cNvSpPr txBox="1"/>
            <p:nvPr/>
          </p:nvSpPr>
          <p:spPr>
            <a:xfrm>
              <a:off x="2002155" y="5378768"/>
              <a:ext cx="6011037"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Consolas"/>
                  <a:ea typeface="Microsoft YaHei"/>
                  <a:cs typeface="Consolas"/>
                </a:rPr>
                <a:t>users → workspaces → pages → blocks → decks → cards → card_reviews</a:t>
              </a:r>
            </a:p>
          </p:txBody>
        </p:sp>
      </p:grpSp>
      <p:sp>
        <p:nvSpPr>
          <p:cNvPr id="38" name="TextBox 38"/>
          <p:cNvSpPr txBox="1"/>
          <p:nvPr/>
        </p:nvSpPr>
        <p:spPr>
          <a:xfrm>
            <a:off x="521970" y="6475095"/>
            <a:ext cx="1337024"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04 · Feature Workflow</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lide(fromBottom)">
                                      <p:cBhvr>
                                        <p:cTn id="7" dur="400"/>
                                        <p:tgtEl>
                                          <p:spTgt spid="3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image">
                                      <p:cBhvr>
                                        <p:cTn id="1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59092"/>
            <a:ext cx="12143649"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Kiến trúc tổng thể: Nginx là entrypoint, database nằm private</a:t>
            </a:r>
          </a:p>
        </p:txBody>
      </p:sp>
      <p:sp>
        <p:nvSpPr>
          <p:cNvPr id="4" name="Rectangle 4"/>
          <p:cNvSpPr/>
          <p:nvPr/>
        </p:nvSpPr>
        <p:spPr>
          <a:xfrm>
            <a:off x="533400" y="914400"/>
            <a:ext cx="11125200" cy="476250"/>
          </a:xfrm>
          <a:prstGeom prst="roundRect">
            <a:avLst>
              <a:gd name="adj" fmla="val 28000"/>
            </a:avLst>
          </a:prstGeom>
          <a:solidFill>
            <a:srgbClr val="2563EB">
              <a:alpha val="8000"/>
            </a:srgbClr>
          </a:solidFill>
          <a:ln>
            <a:noFill/>
          </a:ln>
        </p:spPr>
      </p:sp>
      <p:sp>
        <p:nvSpPr>
          <p:cNvPr id="5" name="TextBox 5"/>
          <p:cNvSpPr txBox="1"/>
          <p:nvPr/>
        </p:nvSpPr>
        <p:spPr>
          <a:xfrm>
            <a:off x="726758" y="1081564"/>
            <a:ext cx="9851112"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a:ea typeface="Microsoft YaHei"/>
                <a:cs typeface="Arial"/>
              </a:rPr>
              <a:t>Request từ Internet chỉ vào Nginx; frontend/backend/db giao tiếp trong Docker network, AI gọi ra SaaS API qua HTTPS.</a:t>
            </a:r>
          </a:p>
        </p:txBody>
      </p:sp>
      <p:grpSp>
        <p:nvGrpSpPr>
          <p:cNvPr id="14" name="Group 14"/>
          <p:cNvGrpSpPr/>
          <p:nvPr/>
        </p:nvGrpSpPr>
        <p:grpSpPr>
          <a:xfrm>
            <a:off x="685800" y="2133600"/>
            <a:ext cx="2419350" cy="1028700"/>
            <a:chOff x="685800" y="2133600"/>
            <a:chExt cx="2419350" cy="1028700"/>
          </a:xfrm>
        </p:grpSpPr>
        <p:sp>
          <p:nvSpPr>
            <p:cNvPr id="6" name="Rectangle 6"/>
            <p:cNvSpPr/>
            <p:nvPr/>
          </p:nvSpPr>
          <p:spPr>
            <a:xfrm>
              <a:off x="685800" y="2133600"/>
              <a:ext cx="1809750" cy="1028700"/>
            </a:xfrm>
            <a:prstGeom prst="roundRect">
              <a:avLst>
                <a:gd name="adj" fmla="val 16667"/>
              </a:avLst>
            </a:prstGeom>
            <a:solidFill>
              <a:srgbClr val="FFFFFF"/>
            </a:solidFill>
            <a:ln w="9525">
              <a:solidFill>
                <a:srgbClr val="CBD5E1"/>
              </a:solidFill>
            </a:ln>
          </p:spPr>
        </p:sp>
        <p:grpSp>
          <p:nvGrpSpPr>
            <p:cNvPr id="10" name="Group 10"/>
            <p:cNvGrpSpPr/>
            <p:nvPr/>
          </p:nvGrpSpPr>
          <p:grpSpPr>
            <a:xfrm>
              <a:off x="1025525" y="2397125"/>
              <a:ext cx="215900" cy="215900"/>
              <a:chOff x="1025525" y="2397125"/>
              <a:chExt cx="215900" cy="215900"/>
            </a:xfrm>
          </p:grpSpPr>
          <p:sp>
            <p:nvSpPr>
              <p:cNvPr id="7" name="Freeform 7"/>
              <p:cNvSpPr/>
              <p:nvPr/>
            </p:nvSpPr>
            <p:spPr>
              <a:xfrm>
                <a:off x="1025525" y="2451100"/>
                <a:ext cx="215900" cy="9525"/>
              </a:xfrm>
              <a:custGeom>
                <a:avLst/>
                <a:gdLst/>
                <a:ahLst/>
                <a:cxnLst/>
                <a:rect l="l" t="t" r="r" b="b"/>
                <a:pathLst>
                  <a:path w="215900" h="9525">
                    <a:moveTo>
                      <a:pt x="0" y="0"/>
                    </a:moveTo>
                    <a:lnTo>
                      <a:pt x="215900" y="0"/>
                    </a:lnTo>
                  </a:path>
                </a:pathLst>
              </a:custGeom>
              <a:noFill/>
              <a:ln w="19050">
                <a:solidFill>
                  <a:srgbClr val="2563EB"/>
                </a:solidFill>
              </a:ln>
            </p:spPr>
          </p:sp>
          <p:sp>
            <p:nvSpPr>
              <p:cNvPr id="8" name="Freeform 8"/>
              <p:cNvSpPr/>
              <p:nvPr/>
            </p:nvSpPr>
            <p:spPr>
              <a:xfrm>
                <a:off x="1025525" y="2397125"/>
                <a:ext cx="215900" cy="215900"/>
              </a:xfrm>
              <a:custGeom>
                <a:avLst/>
                <a:gdLst/>
                <a:ahLst/>
                <a:cxnLst/>
                <a:rect l="l" t="t" r="r" b="b"/>
                <a:pathLst>
                  <a:path w="215900" h="215900">
                    <a:moveTo>
                      <a:pt x="0" y="26988"/>
                    </a:moveTo>
                    <a:cubicBezTo>
                      <a:pt x="0" y="12083"/>
                      <a:pt x="12083" y="0"/>
                      <a:pt x="26987" y="0"/>
                    </a:cubicBezTo>
                    <a:lnTo>
                      <a:pt x="188912" y="0"/>
                    </a:lnTo>
                    <a:cubicBezTo>
                      <a:pt x="203817" y="0"/>
                      <a:pt x="215900" y="12083"/>
                      <a:pt x="215900" y="26988"/>
                    </a:cubicBezTo>
                    <a:lnTo>
                      <a:pt x="215900" y="188913"/>
                    </a:lnTo>
                    <a:cubicBezTo>
                      <a:pt x="215900" y="203817"/>
                      <a:pt x="203817" y="215900"/>
                      <a:pt x="188912" y="215900"/>
                    </a:cubicBezTo>
                    <a:lnTo>
                      <a:pt x="26987" y="215900"/>
                    </a:lnTo>
                    <a:cubicBezTo>
                      <a:pt x="12083" y="215900"/>
                      <a:pt x="0" y="203817"/>
                      <a:pt x="0" y="188913"/>
                    </a:cubicBezTo>
                    <a:lnTo>
                      <a:pt x="0" y="26988"/>
                    </a:lnTo>
                  </a:path>
                </a:pathLst>
              </a:custGeom>
              <a:noFill/>
              <a:ln w="19050">
                <a:solidFill>
                  <a:srgbClr val="2563EB"/>
                </a:solidFill>
              </a:ln>
            </p:spPr>
          </p:sp>
          <p:sp>
            <p:nvSpPr>
              <p:cNvPr id="9" name="Freeform 9"/>
              <p:cNvSpPr/>
              <p:nvPr/>
            </p:nvSpPr>
            <p:spPr>
              <a:xfrm>
                <a:off x="1079500" y="2397125"/>
                <a:ext cx="9525" cy="53975"/>
              </a:xfrm>
              <a:custGeom>
                <a:avLst/>
                <a:gdLst/>
                <a:ahLst/>
                <a:cxnLst/>
                <a:rect l="l" t="t" r="r" b="b"/>
                <a:pathLst>
                  <a:path w="9525" h="53975">
                    <a:moveTo>
                      <a:pt x="0" y="0"/>
                    </a:moveTo>
                    <a:lnTo>
                      <a:pt x="0" y="53975"/>
                    </a:lnTo>
                  </a:path>
                </a:pathLst>
              </a:custGeom>
              <a:noFill/>
              <a:ln w="19050">
                <a:solidFill>
                  <a:srgbClr val="2563EB"/>
                </a:solidFill>
              </a:ln>
            </p:spPr>
          </p:sp>
        </p:grpSp>
        <p:sp>
          <p:nvSpPr>
            <p:cNvPr id="11" name="TextBox 11"/>
            <p:cNvSpPr txBox="1"/>
            <p:nvPr/>
          </p:nvSpPr>
          <p:spPr>
            <a:xfrm>
              <a:off x="1390650" y="2409825"/>
              <a:ext cx="888706"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Browser</a:t>
              </a:r>
            </a:p>
          </p:txBody>
        </p:sp>
        <p:sp>
          <p:nvSpPr>
            <p:cNvPr id="12" name="TextBox 12"/>
            <p:cNvSpPr txBox="1"/>
            <p:nvPr/>
          </p:nvSpPr>
          <p:spPr>
            <a:xfrm>
              <a:off x="958215" y="2801302"/>
              <a:ext cx="126582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pkiresearch.id.vn</a:t>
              </a:r>
            </a:p>
          </p:txBody>
        </p:sp>
        <p:sp>
          <p:nvSpPr>
            <p:cNvPr id="13" name="Polygon 13"/>
            <p:cNvSpPr/>
            <p:nvPr/>
          </p:nvSpPr>
          <p:spPr>
            <a:xfrm>
              <a:off x="2743200" y="2552700"/>
              <a:ext cx="361950" cy="304800"/>
            </a:xfrm>
            <a:custGeom>
              <a:avLst/>
              <a:gdLst/>
              <a:ahLst/>
              <a:cxnLst/>
              <a:rect l="l" t="t" r="r" b="b"/>
              <a:pathLst>
                <a:path w="361950" h="304800">
                  <a:moveTo>
                    <a:pt x="0" y="0"/>
                  </a:moveTo>
                  <a:lnTo>
                    <a:pt x="361950" y="152400"/>
                  </a:lnTo>
                  <a:lnTo>
                    <a:pt x="0" y="304800"/>
                  </a:lnTo>
                  <a:close/>
                </a:path>
              </a:pathLst>
            </a:custGeom>
            <a:solidFill>
              <a:srgbClr val="CBD5E1"/>
            </a:solidFill>
            <a:ln>
              <a:noFill/>
            </a:ln>
          </p:spPr>
        </p:sp>
      </p:grpSp>
      <p:grpSp>
        <p:nvGrpSpPr>
          <p:cNvPr id="32" name="Group 32"/>
          <p:cNvGrpSpPr/>
          <p:nvPr/>
        </p:nvGrpSpPr>
        <p:grpSpPr>
          <a:xfrm>
            <a:off x="3238500" y="1657350"/>
            <a:ext cx="5467350" cy="3238500"/>
            <a:chOff x="3238500" y="1657350"/>
            <a:chExt cx="5467350" cy="3238500"/>
          </a:xfrm>
        </p:grpSpPr>
        <p:sp>
          <p:nvSpPr>
            <p:cNvPr id="15" name="Rectangle 15"/>
            <p:cNvSpPr/>
            <p:nvPr/>
          </p:nvSpPr>
          <p:spPr>
            <a:xfrm>
              <a:off x="3238500" y="1657350"/>
              <a:ext cx="5467350" cy="3238500"/>
            </a:xfrm>
            <a:prstGeom prst="roundRect">
              <a:avLst>
                <a:gd name="adj" fmla="val 7647"/>
              </a:avLst>
            </a:prstGeom>
            <a:solidFill>
              <a:srgbClr val="2563EB">
                <a:alpha val="8000"/>
              </a:srgbClr>
            </a:solidFill>
            <a:ln w="19050">
              <a:solidFill>
                <a:srgbClr val="2563EB"/>
              </a:solidFill>
            </a:ln>
          </p:spPr>
        </p:sp>
        <p:sp>
          <p:nvSpPr>
            <p:cNvPr id="16" name="TextBox 16"/>
            <p:cNvSpPr txBox="1"/>
            <p:nvPr/>
          </p:nvSpPr>
          <p:spPr>
            <a:xfrm>
              <a:off x="3503295" y="1841182"/>
              <a:ext cx="2721845" cy="335280"/>
            </a:xfrm>
            <a:prstGeom prst="rect">
              <a:avLst/>
            </a:prstGeom>
            <a:noFill/>
            <a:ln>
              <a:noFill/>
            </a:ln>
          </p:spPr>
          <p:txBody>
            <a:bodyPr wrap="none" lIns="0" tIns="0" rIns="0" bIns="0" anchor="t" anchorCtr="0">
              <a:spAutoFit/>
            </a:bodyPr>
            <a:lstStyle/>
            <a:p>
              <a:pPr algn="l"/>
              <a:r>
                <a:rPr lang="zh-CN" sz="1650" b="1" dirty="0">
                  <a:solidFill>
                    <a:srgbClr val="2563EB"/>
                  </a:solidFill>
                  <a:latin typeface="Arial"/>
                  <a:ea typeface="Microsoft YaHei"/>
                  <a:cs typeface="Arial"/>
                </a:rPr>
                <a:t>AWS EC2 Instance (IaaS)</a:t>
              </a:r>
            </a:p>
          </p:txBody>
        </p:sp>
        <p:sp>
          <p:nvSpPr>
            <p:cNvPr id="17" name="Rectangle 17"/>
            <p:cNvSpPr/>
            <p:nvPr/>
          </p:nvSpPr>
          <p:spPr>
            <a:xfrm>
              <a:off x="3733800" y="2381250"/>
              <a:ext cx="1657350" cy="990600"/>
            </a:xfrm>
            <a:prstGeom prst="roundRect">
              <a:avLst>
                <a:gd name="adj" fmla="val 15385"/>
              </a:avLst>
            </a:prstGeom>
            <a:solidFill>
              <a:srgbClr val="FFFFFF"/>
            </a:solidFill>
            <a:ln w="9525">
              <a:solidFill>
                <a:srgbClr val="CBD5E1"/>
              </a:solidFill>
            </a:ln>
          </p:spPr>
        </p:sp>
        <p:grpSp>
          <p:nvGrpSpPr>
            <p:cNvPr id="21" name="Group 21"/>
            <p:cNvGrpSpPr/>
            <p:nvPr/>
          </p:nvGrpSpPr>
          <p:grpSpPr>
            <a:xfrm>
              <a:off x="4036219" y="2626519"/>
              <a:ext cx="214312" cy="214312"/>
              <a:chOff x="4036219" y="2626519"/>
              <a:chExt cx="214312" cy="214312"/>
            </a:xfrm>
          </p:grpSpPr>
          <p:sp>
            <p:nvSpPr>
              <p:cNvPr id="18" name="Freeform 18"/>
              <p:cNvSpPr/>
              <p:nvPr/>
            </p:nvSpPr>
            <p:spPr>
              <a:xfrm>
                <a:off x="4036219" y="27932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2563EB"/>
                </a:solidFill>
              </a:ln>
            </p:spPr>
          </p:sp>
          <p:sp>
            <p:nvSpPr>
              <p:cNvPr id="19" name="Freeform 19"/>
              <p:cNvSpPr/>
              <p:nvPr/>
            </p:nvSpPr>
            <p:spPr>
              <a:xfrm>
                <a:off x="4202906" y="26265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19050">
                <a:solidFill>
                  <a:srgbClr val="2563EB"/>
                </a:solidFill>
              </a:ln>
            </p:spPr>
          </p:sp>
          <p:sp>
            <p:nvSpPr>
              <p:cNvPr id="20" name="Freeform 20"/>
              <p:cNvSpPr/>
              <p:nvPr/>
            </p:nvSpPr>
            <p:spPr>
              <a:xfrm>
                <a:off x="4060031" y="26503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19050">
                <a:solidFill>
                  <a:srgbClr val="2563EB"/>
                </a:solidFill>
              </a:ln>
            </p:spPr>
          </p:sp>
        </p:grpSp>
        <p:sp>
          <p:nvSpPr>
            <p:cNvPr id="22" name="TextBox 22"/>
            <p:cNvSpPr txBox="1"/>
            <p:nvPr/>
          </p:nvSpPr>
          <p:spPr>
            <a:xfrm>
              <a:off x="4381500" y="2638425"/>
              <a:ext cx="563166"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Nginx</a:t>
              </a:r>
            </a:p>
          </p:txBody>
        </p:sp>
        <p:sp>
          <p:nvSpPr>
            <p:cNvPr id="23" name="TextBox 23"/>
            <p:cNvSpPr txBox="1"/>
            <p:nvPr/>
          </p:nvSpPr>
          <p:spPr>
            <a:xfrm>
              <a:off x="3988118" y="2999899"/>
              <a:ext cx="85686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80/443 public</a:t>
              </a:r>
            </a:p>
          </p:txBody>
        </p:sp>
        <p:sp>
          <p:nvSpPr>
            <p:cNvPr id="24" name="Polygon 24"/>
            <p:cNvSpPr/>
            <p:nvPr/>
          </p:nvSpPr>
          <p:spPr>
            <a:xfrm>
              <a:off x="5638800" y="2724150"/>
              <a:ext cx="304800" cy="304800"/>
            </a:xfrm>
            <a:custGeom>
              <a:avLst/>
              <a:gdLst/>
              <a:ahLst/>
              <a:cxnLst/>
              <a:rect l="l" t="t" r="r" b="b"/>
              <a:pathLst>
                <a:path w="304800" h="304800">
                  <a:moveTo>
                    <a:pt x="0" y="0"/>
                  </a:moveTo>
                  <a:lnTo>
                    <a:pt x="304800" y="152400"/>
                  </a:lnTo>
                  <a:lnTo>
                    <a:pt x="0" y="304800"/>
                  </a:lnTo>
                  <a:close/>
                </a:path>
              </a:pathLst>
            </a:custGeom>
            <a:solidFill>
              <a:srgbClr val="CBD5E1"/>
            </a:solidFill>
            <a:ln>
              <a:noFill/>
            </a:ln>
          </p:spPr>
        </p:sp>
        <p:sp>
          <p:nvSpPr>
            <p:cNvPr id="25" name="Rectangle 25"/>
            <p:cNvSpPr/>
            <p:nvPr/>
          </p:nvSpPr>
          <p:spPr>
            <a:xfrm>
              <a:off x="6153150" y="2171700"/>
              <a:ext cx="2000250" cy="914400"/>
            </a:xfrm>
            <a:prstGeom prst="roundRect">
              <a:avLst>
                <a:gd name="adj" fmla="val 16667"/>
              </a:avLst>
            </a:prstGeom>
            <a:solidFill>
              <a:srgbClr val="FFFFFF"/>
            </a:solidFill>
            <a:ln w="9525">
              <a:solidFill>
                <a:srgbClr val="CBD5E1"/>
              </a:solidFill>
            </a:ln>
          </p:spPr>
        </p:sp>
        <p:sp>
          <p:nvSpPr>
            <p:cNvPr id="26" name="TextBox 26"/>
            <p:cNvSpPr txBox="1"/>
            <p:nvPr/>
          </p:nvSpPr>
          <p:spPr>
            <a:xfrm>
              <a:off x="6400800" y="2371725"/>
              <a:ext cx="1602796"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React Frontend</a:t>
              </a:r>
            </a:p>
          </p:txBody>
        </p:sp>
        <p:sp>
          <p:nvSpPr>
            <p:cNvPr id="27" name="TextBox 27"/>
            <p:cNvSpPr txBox="1"/>
            <p:nvPr/>
          </p:nvSpPr>
          <p:spPr>
            <a:xfrm>
              <a:off x="6407468" y="2695099"/>
              <a:ext cx="75285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static build</a:t>
              </a:r>
            </a:p>
          </p:txBody>
        </p:sp>
        <p:sp>
          <p:nvSpPr>
            <p:cNvPr id="28" name="Rectangle 28"/>
            <p:cNvSpPr/>
            <p:nvPr/>
          </p:nvSpPr>
          <p:spPr>
            <a:xfrm>
              <a:off x="6153150" y="3486150"/>
              <a:ext cx="2000250" cy="914400"/>
            </a:xfrm>
            <a:prstGeom prst="roundRect">
              <a:avLst>
                <a:gd name="adj" fmla="val 16667"/>
              </a:avLst>
            </a:prstGeom>
            <a:solidFill>
              <a:srgbClr val="FFFFFF"/>
            </a:solidFill>
            <a:ln w="9525">
              <a:solidFill>
                <a:srgbClr val="CBD5E1"/>
              </a:solidFill>
            </a:ln>
          </p:spPr>
        </p:sp>
        <p:sp>
          <p:nvSpPr>
            <p:cNvPr id="29" name="TextBox 29"/>
            <p:cNvSpPr txBox="1"/>
            <p:nvPr/>
          </p:nvSpPr>
          <p:spPr>
            <a:xfrm>
              <a:off x="6400800" y="3686175"/>
              <a:ext cx="166580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FastAPI Backend</a:t>
              </a:r>
            </a:p>
          </p:txBody>
        </p:sp>
        <p:sp>
          <p:nvSpPr>
            <p:cNvPr id="30" name="TextBox 30"/>
            <p:cNvSpPr txBox="1"/>
            <p:nvPr/>
          </p:nvSpPr>
          <p:spPr>
            <a:xfrm>
              <a:off x="6407468" y="4009549"/>
              <a:ext cx="117540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JWT + business API</a:t>
              </a:r>
            </a:p>
          </p:txBody>
        </p:sp>
        <p:sp>
          <p:nvSpPr>
            <p:cNvPr id="31" name="Polygon 31"/>
            <p:cNvSpPr/>
            <p:nvPr/>
          </p:nvSpPr>
          <p:spPr>
            <a:xfrm>
              <a:off x="6915150" y="3181350"/>
              <a:ext cx="304800" cy="247650"/>
            </a:xfrm>
            <a:custGeom>
              <a:avLst/>
              <a:gdLst/>
              <a:ahLst/>
              <a:cxnLst/>
              <a:rect l="l" t="t" r="r" b="b"/>
              <a:pathLst>
                <a:path w="304800" h="247650">
                  <a:moveTo>
                    <a:pt x="152400" y="0"/>
                  </a:moveTo>
                  <a:lnTo>
                    <a:pt x="304800" y="247650"/>
                  </a:lnTo>
                  <a:lnTo>
                    <a:pt x="0" y="247650"/>
                  </a:lnTo>
                  <a:close/>
                </a:path>
              </a:pathLst>
            </a:custGeom>
            <a:solidFill>
              <a:srgbClr val="CBD5E1"/>
            </a:solidFill>
            <a:ln>
              <a:noFill/>
            </a:ln>
          </p:spPr>
        </p:sp>
      </p:grpSp>
      <p:grpSp>
        <p:nvGrpSpPr>
          <p:cNvPr id="50" name="Group 50"/>
          <p:cNvGrpSpPr/>
          <p:nvPr/>
        </p:nvGrpSpPr>
        <p:grpSpPr>
          <a:xfrm>
            <a:off x="8153400" y="2209800"/>
            <a:ext cx="3067050" cy="2514600"/>
            <a:chOff x="8153400" y="2209800"/>
            <a:chExt cx="3067050" cy="2514600"/>
          </a:xfrm>
        </p:grpSpPr>
        <p:sp>
          <p:nvSpPr>
            <p:cNvPr id="33" name="Rectangle 33"/>
            <p:cNvSpPr/>
            <p:nvPr/>
          </p:nvSpPr>
          <p:spPr>
            <a:xfrm>
              <a:off x="9144000" y="2209800"/>
              <a:ext cx="2076450" cy="1009650"/>
            </a:xfrm>
            <a:prstGeom prst="roundRect">
              <a:avLst>
                <a:gd name="adj" fmla="val 16981"/>
              </a:avLst>
            </a:prstGeom>
            <a:solidFill>
              <a:srgbClr val="FFFFFF"/>
            </a:solidFill>
            <a:ln w="9525">
              <a:solidFill>
                <a:srgbClr val="CBD5E1"/>
              </a:solidFill>
            </a:ln>
          </p:spPr>
        </p:sp>
        <p:grpSp>
          <p:nvGrpSpPr>
            <p:cNvPr id="37" name="Group 37"/>
            <p:cNvGrpSpPr/>
            <p:nvPr/>
          </p:nvGrpSpPr>
          <p:grpSpPr>
            <a:xfrm>
              <a:off x="9483725" y="2497931"/>
              <a:ext cx="215900" cy="242888"/>
              <a:chOff x="9483725" y="2497931"/>
              <a:chExt cx="215900" cy="242888"/>
            </a:xfrm>
          </p:grpSpPr>
          <p:sp>
            <p:nvSpPr>
              <p:cNvPr id="34" name="Freeform 34"/>
              <p:cNvSpPr/>
              <p:nvPr/>
            </p:nvSpPr>
            <p:spPr>
              <a:xfrm>
                <a:off x="9483725" y="2497931"/>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9050">
                <a:solidFill>
                  <a:srgbClr val="0F172A"/>
                </a:solidFill>
              </a:ln>
            </p:spPr>
          </p:sp>
          <p:sp>
            <p:nvSpPr>
              <p:cNvPr id="35" name="Freeform 35"/>
              <p:cNvSpPr/>
              <p:nvPr/>
            </p:nvSpPr>
            <p:spPr>
              <a:xfrm>
                <a:off x="9483725" y="2538412"/>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0F172A"/>
                </a:solidFill>
              </a:ln>
            </p:spPr>
          </p:sp>
          <p:sp>
            <p:nvSpPr>
              <p:cNvPr id="36" name="Freeform 36"/>
              <p:cNvSpPr/>
              <p:nvPr/>
            </p:nvSpPr>
            <p:spPr>
              <a:xfrm>
                <a:off x="9483725" y="2619375"/>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0F172A"/>
                </a:solidFill>
              </a:ln>
            </p:spPr>
          </p:sp>
        </p:grpSp>
        <p:sp>
          <p:nvSpPr>
            <p:cNvPr id="38" name="TextBox 38"/>
            <p:cNvSpPr txBox="1"/>
            <p:nvPr/>
          </p:nvSpPr>
          <p:spPr>
            <a:xfrm>
              <a:off x="9867900" y="2524125"/>
              <a:ext cx="1235250"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PostgreSQL</a:t>
              </a:r>
            </a:p>
          </p:txBody>
        </p:sp>
        <p:sp>
          <p:nvSpPr>
            <p:cNvPr id="39" name="TextBox 39"/>
            <p:cNvSpPr txBox="1"/>
            <p:nvPr/>
          </p:nvSpPr>
          <p:spPr>
            <a:xfrm>
              <a:off x="9417368" y="2904649"/>
              <a:ext cx="152645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private Docker network</a:t>
              </a:r>
            </a:p>
          </p:txBody>
        </p:sp>
        <p:sp>
          <p:nvSpPr>
            <p:cNvPr id="40" name="Rectangle 40"/>
            <p:cNvSpPr/>
            <p:nvPr/>
          </p:nvSpPr>
          <p:spPr>
            <a:xfrm>
              <a:off x="9144000" y="3714750"/>
              <a:ext cx="2076450" cy="1009650"/>
            </a:xfrm>
            <a:prstGeom prst="roundRect">
              <a:avLst>
                <a:gd name="adj" fmla="val 16981"/>
              </a:avLst>
            </a:prstGeom>
            <a:solidFill>
              <a:srgbClr val="00A676">
                <a:alpha val="10000"/>
              </a:srgbClr>
            </a:solidFill>
            <a:ln w="9525">
              <a:solidFill>
                <a:srgbClr val="00A676"/>
              </a:solidFill>
            </a:ln>
          </p:spPr>
        </p:sp>
        <p:grpSp>
          <p:nvGrpSpPr>
            <p:cNvPr id="45" name="Group 45"/>
            <p:cNvGrpSpPr/>
            <p:nvPr/>
          </p:nvGrpSpPr>
          <p:grpSpPr>
            <a:xfrm>
              <a:off x="9483725" y="4070350"/>
              <a:ext cx="225425" cy="107950"/>
              <a:chOff x="9483725" y="4070350"/>
              <a:chExt cx="225425" cy="107950"/>
            </a:xfrm>
          </p:grpSpPr>
          <p:sp>
            <p:nvSpPr>
              <p:cNvPr id="41" name="Freeform 41"/>
              <p:cNvSpPr/>
              <p:nvPr/>
            </p:nvSpPr>
            <p:spPr>
              <a:xfrm>
                <a:off x="9483725" y="4137819"/>
                <a:ext cx="67469" cy="9525"/>
              </a:xfrm>
              <a:custGeom>
                <a:avLst/>
                <a:gdLst/>
                <a:ahLst/>
                <a:cxnLst/>
                <a:rect l="l" t="t" r="r" b="b"/>
                <a:pathLst>
                  <a:path w="67469" h="9525">
                    <a:moveTo>
                      <a:pt x="0" y="0"/>
                    </a:moveTo>
                    <a:lnTo>
                      <a:pt x="67469" y="0"/>
                    </a:lnTo>
                  </a:path>
                </a:pathLst>
              </a:custGeom>
              <a:noFill/>
              <a:ln w="19050">
                <a:solidFill>
                  <a:srgbClr val="00A676"/>
                </a:solidFill>
              </a:ln>
            </p:spPr>
          </p:sp>
          <p:sp>
            <p:nvSpPr>
              <p:cNvPr id="42" name="Freeform 42"/>
              <p:cNvSpPr/>
              <p:nvPr/>
            </p:nvSpPr>
            <p:spPr>
              <a:xfrm>
                <a:off x="9591675" y="4070350"/>
                <a:ext cx="67469" cy="107950"/>
              </a:xfrm>
              <a:custGeom>
                <a:avLst/>
                <a:gdLst/>
                <a:ahLst/>
                <a:cxnLst/>
                <a:rect l="l" t="t" r="r" b="b"/>
                <a:pathLst>
                  <a:path w="67469" h="107950">
                    <a:moveTo>
                      <a:pt x="0" y="107950"/>
                    </a:moveTo>
                    <a:lnTo>
                      <a:pt x="0" y="0"/>
                    </a:lnTo>
                    <a:lnTo>
                      <a:pt x="40481" y="0"/>
                    </a:lnTo>
                    <a:cubicBezTo>
                      <a:pt x="55386" y="0"/>
                      <a:pt x="67469" y="12083"/>
                      <a:pt x="67469" y="26988"/>
                    </a:cubicBezTo>
                    <a:lnTo>
                      <a:pt x="67469" y="40481"/>
                    </a:lnTo>
                    <a:cubicBezTo>
                      <a:pt x="67469" y="55386"/>
                      <a:pt x="55386" y="67469"/>
                      <a:pt x="40481" y="67469"/>
                    </a:cubicBezTo>
                    <a:lnTo>
                      <a:pt x="0" y="67469"/>
                    </a:lnTo>
                  </a:path>
                </a:pathLst>
              </a:custGeom>
              <a:noFill/>
              <a:ln w="19050">
                <a:solidFill>
                  <a:srgbClr val="00A676"/>
                </a:solidFill>
              </a:ln>
            </p:spPr>
          </p:sp>
          <p:sp>
            <p:nvSpPr>
              <p:cNvPr id="43" name="Freeform 43"/>
              <p:cNvSpPr/>
              <p:nvPr/>
            </p:nvSpPr>
            <p:spPr>
              <a:xfrm>
                <a:off x="9699625" y="4070350"/>
                <a:ext cx="9525" cy="107950"/>
              </a:xfrm>
              <a:custGeom>
                <a:avLst/>
                <a:gdLst/>
                <a:ahLst/>
                <a:cxnLst/>
                <a:rect l="l" t="t" r="r" b="b"/>
                <a:pathLst>
                  <a:path w="9525" h="107950">
                    <a:moveTo>
                      <a:pt x="0" y="0"/>
                    </a:moveTo>
                    <a:lnTo>
                      <a:pt x="0" y="107950"/>
                    </a:lnTo>
                  </a:path>
                </a:pathLst>
              </a:custGeom>
              <a:noFill/>
              <a:ln w="19050">
                <a:solidFill>
                  <a:srgbClr val="00A676"/>
                </a:solidFill>
              </a:ln>
            </p:spPr>
          </p:sp>
          <p:sp>
            <p:nvSpPr>
              <p:cNvPr id="44" name="Freeform 44"/>
              <p:cNvSpPr/>
              <p:nvPr/>
            </p:nvSpPr>
            <p:spPr>
              <a:xfrm>
                <a:off x="9483725" y="4070350"/>
                <a:ext cx="67469" cy="107950"/>
              </a:xfrm>
              <a:custGeom>
                <a:avLst/>
                <a:gdLst/>
                <a:ahLst/>
                <a:cxnLst/>
                <a:rect l="l" t="t" r="r" b="b"/>
                <a:pathLst>
                  <a:path w="67469" h="107950">
                    <a:moveTo>
                      <a:pt x="67469" y="107950"/>
                    </a:moveTo>
                    <a:lnTo>
                      <a:pt x="67469" y="33734"/>
                    </a:lnTo>
                    <a:cubicBezTo>
                      <a:pt x="67469" y="15103"/>
                      <a:pt x="52365" y="0"/>
                      <a:pt x="33734" y="0"/>
                    </a:cubicBezTo>
                    <a:cubicBezTo>
                      <a:pt x="15103" y="0"/>
                      <a:pt x="0" y="15103"/>
                      <a:pt x="0" y="33734"/>
                    </a:cubicBezTo>
                    <a:lnTo>
                      <a:pt x="0" y="107950"/>
                    </a:lnTo>
                  </a:path>
                </a:pathLst>
              </a:custGeom>
              <a:noFill/>
              <a:ln w="19050">
                <a:solidFill>
                  <a:srgbClr val="00A676"/>
                </a:solidFill>
              </a:ln>
            </p:spPr>
          </p:sp>
        </p:grpSp>
        <p:sp>
          <p:nvSpPr>
            <p:cNvPr id="46" name="TextBox 46"/>
            <p:cNvSpPr txBox="1"/>
            <p:nvPr/>
          </p:nvSpPr>
          <p:spPr>
            <a:xfrm>
              <a:off x="9867900" y="4029075"/>
              <a:ext cx="1130236"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Mimo AI API</a:t>
              </a:r>
            </a:p>
          </p:txBody>
        </p:sp>
        <p:sp>
          <p:nvSpPr>
            <p:cNvPr id="47" name="TextBox 47"/>
            <p:cNvSpPr txBox="1"/>
            <p:nvPr/>
          </p:nvSpPr>
          <p:spPr>
            <a:xfrm>
              <a:off x="9417368" y="4409599"/>
              <a:ext cx="114290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external SaaS/API</a:t>
              </a:r>
            </a:p>
          </p:txBody>
        </p:sp>
        <p:sp>
          <p:nvSpPr>
            <p:cNvPr id="48" name="Line 48"/>
            <p:cNvSpPr/>
            <p:nvPr/>
          </p:nvSpPr>
          <p:spPr>
            <a:xfrm>
              <a:off x="8153400" y="2714625"/>
              <a:ext cx="990600" cy="1228725"/>
            </a:xfrm>
            <a:custGeom>
              <a:avLst/>
              <a:gdLst/>
              <a:ahLst/>
              <a:cxnLst/>
              <a:rect l="l" t="t" r="r" b="b"/>
              <a:pathLst>
                <a:path w="990600" h="1228725">
                  <a:moveTo>
                    <a:pt x="0" y="1228725"/>
                  </a:moveTo>
                  <a:lnTo>
                    <a:pt x="990600" y="0"/>
                  </a:lnTo>
                </a:path>
              </a:pathLst>
            </a:custGeom>
            <a:noFill/>
            <a:ln w="19050">
              <a:solidFill>
                <a:srgbClr val="CBD5E1"/>
              </a:solidFill>
            </a:ln>
          </p:spPr>
        </p:sp>
        <p:sp>
          <p:nvSpPr>
            <p:cNvPr id="49" name="Line 49"/>
            <p:cNvSpPr/>
            <p:nvPr/>
          </p:nvSpPr>
          <p:spPr>
            <a:xfrm>
              <a:off x="8153400" y="3943350"/>
              <a:ext cx="990600" cy="276225"/>
            </a:xfrm>
            <a:custGeom>
              <a:avLst/>
              <a:gdLst/>
              <a:ahLst/>
              <a:cxnLst/>
              <a:rect l="l" t="t" r="r" b="b"/>
              <a:pathLst>
                <a:path w="990600" h="276225">
                  <a:moveTo>
                    <a:pt x="0" y="0"/>
                  </a:moveTo>
                  <a:lnTo>
                    <a:pt x="990600" y="276225"/>
                  </a:lnTo>
                </a:path>
              </a:pathLst>
            </a:custGeom>
            <a:noFill/>
            <a:ln w="19050">
              <a:solidFill>
                <a:srgbClr val="CBD5E1"/>
              </a:solidFill>
              <a:custDash>
                <a:ds d="400000" sp="400000"/>
              </a:custDash>
            </a:ln>
          </p:spPr>
        </p:sp>
      </p:grpSp>
      <p:grpSp>
        <p:nvGrpSpPr>
          <p:cNvPr id="58" name="Group 58"/>
          <p:cNvGrpSpPr/>
          <p:nvPr/>
        </p:nvGrpSpPr>
        <p:grpSpPr>
          <a:xfrm>
            <a:off x="1238250" y="5391150"/>
            <a:ext cx="9715500" cy="552450"/>
            <a:chOff x="1238250" y="5391150"/>
            <a:chExt cx="9715500" cy="552450"/>
          </a:xfrm>
        </p:grpSpPr>
        <p:sp>
          <p:nvSpPr>
            <p:cNvPr id="51" name="Rectangle 51"/>
            <p:cNvSpPr/>
            <p:nvPr/>
          </p:nvSpPr>
          <p:spPr>
            <a:xfrm>
              <a:off x="1238250" y="5391150"/>
              <a:ext cx="9715500" cy="552450"/>
            </a:xfrm>
            <a:prstGeom prst="roundRect">
              <a:avLst>
                <a:gd name="adj" fmla="val 31034"/>
              </a:avLst>
            </a:prstGeom>
            <a:solidFill>
              <a:srgbClr val="FFFFFF"/>
            </a:solidFill>
            <a:ln w="9525">
              <a:solidFill>
                <a:srgbClr val="CBD5E1"/>
              </a:solidFill>
            </a:ln>
          </p:spPr>
        </p:sp>
        <p:sp>
          <p:nvSpPr>
            <p:cNvPr id="52" name="Ellipse 52"/>
            <p:cNvSpPr/>
            <p:nvPr/>
          </p:nvSpPr>
          <p:spPr>
            <a:xfrm>
              <a:off x="1524000" y="5591175"/>
              <a:ext cx="152400" cy="152400"/>
            </a:xfrm>
            <a:prstGeom prst="ellipse">
              <a:avLst/>
            </a:prstGeom>
            <a:solidFill>
              <a:srgbClr val="2563EB"/>
            </a:solidFill>
            <a:ln>
              <a:noFill/>
            </a:ln>
          </p:spPr>
        </p:sp>
        <p:sp>
          <p:nvSpPr>
            <p:cNvPr id="53" name="TextBox 53"/>
            <p:cNvSpPr txBox="1"/>
            <p:nvPr/>
          </p:nvSpPr>
          <p:spPr>
            <a:xfrm>
              <a:off x="1756410" y="5594985"/>
              <a:ext cx="3574923"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IaaS: EC2 + network + host runtime tự quản lý</a:t>
              </a:r>
            </a:p>
          </p:txBody>
        </p:sp>
        <p:sp>
          <p:nvSpPr>
            <p:cNvPr id="54" name="Ellipse 54"/>
            <p:cNvSpPr/>
            <p:nvPr/>
          </p:nvSpPr>
          <p:spPr>
            <a:xfrm>
              <a:off x="5162550" y="5591175"/>
              <a:ext cx="152400" cy="152400"/>
            </a:xfrm>
            <a:prstGeom prst="ellipse">
              <a:avLst/>
            </a:prstGeom>
            <a:solidFill>
              <a:srgbClr val="F59E0B"/>
            </a:solidFill>
            <a:ln>
              <a:noFill/>
            </a:ln>
          </p:spPr>
        </p:sp>
        <p:sp>
          <p:nvSpPr>
            <p:cNvPr id="55" name="TextBox 55"/>
            <p:cNvSpPr txBox="1"/>
            <p:nvPr/>
          </p:nvSpPr>
          <p:spPr>
            <a:xfrm>
              <a:off x="5394960" y="5594985"/>
              <a:ext cx="167068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PaaS: hướng nâng cấp</a:t>
              </a:r>
            </a:p>
          </p:txBody>
        </p:sp>
        <p:sp>
          <p:nvSpPr>
            <p:cNvPr id="56" name="Ellipse 56"/>
            <p:cNvSpPr/>
            <p:nvPr/>
          </p:nvSpPr>
          <p:spPr>
            <a:xfrm>
              <a:off x="7448550" y="5591175"/>
              <a:ext cx="152400" cy="152400"/>
            </a:xfrm>
            <a:prstGeom prst="ellipse">
              <a:avLst/>
            </a:prstGeom>
            <a:solidFill>
              <a:srgbClr val="00A676"/>
            </a:solidFill>
            <a:ln>
              <a:noFill/>
            </a:ln>
          </p:spPr>
        </p:sp>
        <p:sp>
          <p:nvSpPr>
            <p:cNvPr id="57" name="TextBox 57"/>
            <p:cNvSpPr txBox="1"/>
            <p:nvPr/>
          </p:nvSpPr>
          <p:spPr>
            <a:xfrm>
              <a:off x="7680960" y="5594985"/>
              <a:ext cx="1678686"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SaaS/API: AI provider</a:t>
              </a:r>
            </a:p>
          </p:txBody>
        </p:sp>
      </p:grpSp>
      <p:sp>
        <p:nvSpPr>
          <p:cNvPr id="59" name="TextBox 59"/>
          <p:cNvSpPr txBox="1"/>
          <p:nvPr/>
        </p:nvSpPr>
        <p:spPr>
          <a:xfrm>
            <a:off x="521970" y="6475095"/>
            <a:ext cx="1751076"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05 · End-to-End Architecture</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400"/>
                                        <p:tgtEl>
                                          <p:spTgt spid="3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slide(fromBottom)">
                                      <p:cBhvr>
                                        <p:cTn id="15" dur="400"/>
                                        <p:tgtEl>
                                          <p:spTgt spid="50"/>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left)">
                                      <p:cBhvr>
                                        <p:cTn id="19"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2" grpId="0"/>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9450062"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Luồng request: cùng một domain, hai nhánh xử lý</a:t>
            </a:r>
          </a:p>
        </p:txBody>
      </p:sp>
      <p:sp>
        <p:nvSpPr>
          <p:cNvPr id="4" name="TextBox 4"/>
          <p:cNvSpPr txBox="1"/>
          <p:nvPr/>
        </p:nvSpPr>
        <p:spPr>
          <a:xfrm>
            <a:off x="535305" y="921068"/>
            <a:ext cx="5732002"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Nginx quyết định request đi frontend hay backend dựa trên path.</a:t>
            </a:r>
          </a:p>
        </p:txBody>
      </p:sp>
      <p:grpSp>
        <p:nvGrpSpPr>
          <p:cNvPr id="15" name="Group 15"/>
          <p:cNvGrpSpPr/>
          <p:nvPr/>
        </p:nvGrpSpPr>
        <p:grpSpPr>
          <a:xfrm>
            <a:off x="838200" y="1866900"/>
            <a:ext cx="4400550" cy="762000"/>
            <a:chOff x="838200" y="1866900"/>
            <a:chExt cx="4400550" cy="762000"/>
          </a:xfrm>
        </p:grpSpPr>
        <p:sp>
          <p:nvSpPr>
            <p:cNvPr id="5" name="Rectangle 5"/>
            <p:cNvSpPr/>
            <p:nvPr/>
          </p:nvSpPr>
          <p:spPr>
            <a:xfrm>
              <a:off x="838200" y="1866900"/>
              <a:ext cx="1619250" cy="762000"/>
            </a:xfrm>
            <a:prstGeom prst="roundRect">
              <a:avLst>
                <a:gd name="adj" fmla="val 22500"/>
              </a:avLst>
            </a:prstGeom>
            <a:solidFill>
              <a:srgbClr val="FFFFFF"/>
            </a:solidFill>
            <a:ln w="9525">
              <a:solidFill>
                <a:srgbClr val="CBD5E1"/>
              </a:solidFill>
            </a:ln>
          </p:spPr>
        </p:sp>
        <p:grpSp>
          <p:nvGrpSpPr>
            <p:cNvPr id="9" name="Group 9"/>
            <p:cNvGrpSpPr/>
            <p:nvPr/>
          </p:nvGrpSpPr>
          <p:grpSpPr>
            <a:xfrm>
              <a:off x="1114425" y="2124075"/>
              <a:ext cx="190500" cy="190500"/>
              <a:chOff x="1114425" y="2124075"/>
              <a:chExt cx="190500" cy="190500"/>
            </a:xfrm>
          </p:grpSpPr>
          <p:sp>
            <p:nvSpPr>
              <p:cNvPr id="6" name="Freeform 6"/>
              <p:cNvSpPr/>
              <p:nvPr/>
            </p:nvSpPr>
            <p:spPr>
              <a:xfrm>
                <a:off x="1114425" y="2171700"/>
                <a:ext cx="190500" cy="9525"/>
              </a:xfrm>
              <a:custGeom>
                <a:avLst/>
                <a:gdLst/>
                <a:ahLst/>
                <a:cxnLst/>
                <a:rect l="l" t="t" r="r" b="b"/>
                <a:pathLst>
                  <a:path w="190500" h="9525">
                    <a:moveTo>
                      <a:pt x="0" y="0"/>
                    </a:moveTo>
                    <a:lnTo>
                      <a:pt x="190500" y="0"/>
                    </a:lnTo>
                  </a:path>
                </a:pathLst>
              </a:custGeom>
              <a:noFill/>
              <a:ln w="19050">
                <a:solidFill>
                  <a:srgbClr val="2563EB"/>
                </a:solidFill>
              </a:ln>
            </p:spPr>
          </p:sp>
          <p:sp>
            <p:nvSpPr>
              <p:cNvPr id="7" name="Freeform 7"/>
              <p:cNvSpPr/>
              <p:nvPr/>
            </p:nvSpPr>
            <p:spPr>
              <a:xfrm>
                <a:off x="1114425" y="2124075"/>
                <a:ext cx="190500" cy="190500"/>
              </a:xfrm>
              <a:custGeom>
                <a:avLst/>
                <a:gdLst/>
                <a:ahLst/>
                <a:cxnLst/>
                <a:rect l="l" t="t" r="r" b="b"/>
                <a:pathLst>
                  <a:path w="190500" h="190500">
                    <a:moveTo>
                      <a:pt x="0" y="23812"/>
                    </a:moveTo>
                    <a:cubicBezTo>
                      <a:pt x="0" y="10661"/>
                      <a:pt x="10661" y="0"/>
                      <a:pt x="23812" y="0"/>
                    </a:cubicBezTo>
                    <a:lnTo>
                      <a:pt x="166688" y="0"/>
                    </a:lnTo>
                    <a:cubicBezTo>
                      <a:pt x="179839" y="0"/>
                      <a:pt x="190500" y="10661"/>
                      <a:pt x="190500" y="23812"/>
                    </a:cubicBezTo>
                    <a:lnTo>
                      <a:pt x="190500" y="166688"/>
                    </a:lnTo>
                    <a:cubicBezTo>
                      <a:pt x="190500" y="179839"/>
                      <a:pt x="179839" y="190500"/>
                      <a:pt x="166688" y="190500"/>
                    </a:cubicBezTo>
                    <a:lnTo>
                      <a:pt x="23812" y="190500"/>
                    </a:lnTo>
                    <a:cubicBezTo>
                      <a:pt x="10661" y="190500"/>
                      <a:pt x="0" y="179839"/>
                      <a:pt x="0" y="166688"/>
                    </a:cubicBezTo>
                    <a:lnTo>
                      <a:pt x="0" y="23812"/>
                    </a:lnTo>
                  </a:path>
                </a:pathLst>
              </a:custGeom>
              <a:noFill/>
              <a:ln w="19050">
                <a:solidFill>
                  <a:srgbClr val="2563EB"/>
                </a:solidFill>
              </a:ln>
            </p:spPr>
          </p:sp>
          <p:sp>
            <p:nvSpPr>
              <p:cNvPr id="8" name="Freeform 8"/>
              <p:cNvSpPr/>
              <p:nvPr/>
            </p:nvSpPr>
            <p:spPr>
              <a:xfrm>
                <a:off x="1162050" y="2124075"/>
                <a:ext cx="9525" cy="47625"/>
              </a:xfrm>
              <a:custGeom>
                <a:avLst/>
                <a:gdLst/>
                <a:ahLst/>
                <a:cxnLst/>
                <a:rect l="l" t="t" r="r" b="b"/>
                <a:pathLst>
                  <a:path w="9525" h="47625">
                    <a:moveTo>
                      <a:pt x="0" y="0"/>
                    </a:moveTo>
                    <a:lnTo>
                      <a:pt x="0" y="47625"/>
                    </a:lnTo>
                  </a:path>
                </a:pathLst>
              </a:custGeom>
              <a:noFill/>
              <a:ln w="19050">
                <a:solidFill>
                  <a:srgbClr val="2563EB"/>
                </a:solidFill>
              </a:ln>
            </p:spPr>
          </p:sp>
        </p:grpSp>
        <p:sp>
          <p:nvSpPr>
            <p:cNvPr id="10" name="TextBox 10"/>
            <p:cNvSpPr txBox="1"/>
            <p:nvPr/>
          </p:nvSpPr>
          <p:spPr>
            <a:xfrm>
              <a:off x="1448752" y="2151221"/>
              <a:ext cx="844271"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Browser</a:t>
              </a:r>
            </a:p>
          </p:txBody>
        </p:sp>
        <p:sp>
          <p:nvSpPr>
            <p:cNvPr id="11" name="Polygon 11"/>
            <p:cNvSpPr/>
            <p:nvPr/>
          </p:nvSpPr>
          <p:spPr>
            <a:xfrm>
              <a:off x="2781300" y="2152650"/>
              <a:ext cx="323850" cy="266700"/>
            </a:xfrm>
            <a:custGeom>
              <a:avLst/>
              <a:gdLst/>
              <a:ahLst/>
              <a:cxnLst/>
              <a:rect l="l" t="t" r="r" b="b"/>
              <a:pathLst>
                <a:path w="323850" h="266700">
                  <a:moveTo>
                    <a:pt x="0" y="0"/>
                  </a:moveTo>
                  <a:lnTo>
                    <a:pt x="323850" y="133350"/>
                  </a:lnTo>
                  <a:lnTo>
                    <a:pt x="0" y="266700"/>
                  </a:lnTo>
                  <a:close/>
                </a:path>
              </a:pathLst>
            </a:custGeom>
            <a:solidFill>
              <a:srgbClr val="CBD5E1"/>
            </a:solidFill>
            <a:ln>
              <a:noFill/>
            </a:ln>
          </p:spPr>
        </p:sp>
        <p:sp>
          <p:nvSpPr>
            <p:cNvPr id="12" name="Rectangle 12"/>
            <p:cNvSpPr/>
            <p:nvPr/>
          </p:nvSpPr>
          <p:spPr>
            <a:xfrm>
              <a:off x="3429000" y="1866900"/>
              <a:ext cx="1809750" cy="762000"/>
            </a:xfrm>
            <a:prstGeom prst="roundRect">
              <a:avLst>
                <a:gd name="adj" fmla="val 22500"/>
              </a:avLst>
            </a:prstGeom>
            <a:solidFill>
              <a:srgbClr val="0F172A"/>
            </a:solidFill>
            <a:ln>
              <a:noFill/>
            </a:ln>
          </p:spPr>
        </p:sp>
        <p:sp>
          <p:nvSpPr>
            <p:cNvPr id="13" name="TextBox 13"/>
            <p:cNvSpPr txBox="1"/>
            <p:nvPr/>
          </p:nvSpPr>
          <p:spPr>
            <a:xfrm>
              <a:off x="3661410" y="2070735"/>
              <a:ext cx="47053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Consolas"/>
                  <a:ea typeface="Microsoft YaHei"/>
                  <a:cs typeface="Consolas"/>
                </a:rPr>
                <a:t>HTTPS</a:t>
              </a:r>
            </a:p>
          </p:txBody>
        </p:sp>
        <p:sp>
          <p:nvSpPr>
            <p:cNvPr id="14" name="TextBox 14"/>
            <p:cNvSpPr txBox="1"/>
            <p:nvPr/>
          </p:nvSpPr>
          <p:spPr>
            <a:xfrm>
              <a:off x="3658552" y="2284571"/>
              <a:ext cx="1402941"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Nginx Gateway</a:t>
              </a:r>
            </a:p>
          </p:txBody>
        </p:sp>
      </p:grpSp>
      <p:grpSp>
        <p:nvGrpSpPr>
          <p:cNvPr id="36" name="Group 36"/>
          <p:cNvGrpSpPr/>
          <p:nvPr/>
        </p:nvGrpSpPr>
        <p:grpSpPr>
          <a:xfrm>
            <a:off x="1123950" y="3295650"/>
            <a:ext cx="9944100" cy="2457450"/>
            <a:chOff x="1123950" y="3295650"/>
            <a:chExt cx="9944100" cy="2457450"/>
          </a:xfrm>
        </p:grpSpPr>
        <p:sp>
          <p:nvSpPr>
            <p:cNvPr id="16" name="Rectangle 16"/>
            <p:cNvSpPr/>
            <p:nvPr/>
          </p:nvSpPr>
          <p:spPr>
            <a:xfrm>
              <a:off x="1123950" y="3295650"/>
              <a:ext cx="9944100" cy="971550"/>
            </a:xfrm>
            <a:prstGeom prst="roundRect">
              <a:avLst>
                <a:gd name="adj" fmla="val 19608"/>
              </a:avLst>
            </a:prstGeom>
            <a:solidFill>
              <a:srgbClr val="2563EB">
                <a:alpha val="8000"/>
              </a:srgbClr>
            </a:solidFill>
            <a:ln w="14288">
              <a:solidFill>
                <a:srgbClr val="2563EB"/>
              </a:solidFill>
            </a:ln>
          </p:spPr>
        </p:sp>
        <p:sp>
          <p:nvSpPr>
            <p:cNvPr id="17" name="TextBox 17"/>
            <p:cNvSpPr txBox="1"/>
            <p:nvPr/>
          </p:nvSpPr>
          <p:spPr>
            <a:xfrm>
              <a:off x="1394460" y="3528060"/>
              <a:ext cx="430530" cy="243840"/>
            </a:xfrm>
            <a:prstGeom prst="rect">
              <a:avLst/>
            </a:prstGeom>
            <a:noFill/>
            <a:ln>
              <a:noFill/>
            </a:ln>
          </p:spPr>
          <p:txBody>
            <a:bodyPr wrap="none" lIns="0" tIns="0" rIns="0" bIns="0" anchor="t" anchorCtr="0">
              <a:spAutoFit/>
            </a:bodyPr>
            <a:lstStyle/>
            <a:p>
              <a:pPr algn="l"/>
              <a:r>
                <a:rPr lang="zh-CN" sz="1200" dirty="0">
                  <a:solidFill>
                    <a:srgbClr val="2563EB"/>
                  </a:solidFill>
                  <a:latin typeface="Consolas"/>
                  <a:ea typeface="Microsoft YaHei"/>
                  <a:cs typeface="Consolas"/>
                </a:rPr>
                <a:t>GET /</a:t>
              </a:r>
            </a:p>
          </p:txBody>
        </p:sp>
        <p:sp>
          <p:nvSpPr>
            <p:cNvPr id="18" name="TextBox 18"/>
            <p:cNvSpPr txBox="1"/>
            <p:nvPr/>
          </p:nvSpPr>
          <p:spPr>
            <a:xfrm>
              <a:off x="2229802" y="3503771"/>
              <a:ext cx="1522656"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Frontend route</a:t>
              </a:r>
            </a:p>
          </p:txBody>
        </p:sp>
        <p:sp>
          <p:nvSpPr>
            <p:cNvPr id="19" name="Polygon 19"/>
            <p:cNvSpPr/>
            <p:nvPr/>
          </p:nvSpPr>
          <p:spPr>
            <a:xfrm>
              <a:off x="4953000" y="3562350"/>
              <a:ext cx="323850" cy="266700"/>
            </a:xfrm>
            <a:custGeom>
              <a:avLst/>
              <a:gdLst/>
              <a:ahLst/>
              <a:cxnLst/>
              <a:rect l="l" t="t" r="r" b="b"/>
              <a:pathLst>
                <a:path w="323850" h="266700">
                  <a:moveTo>
                    <a:pt x="0" y="0"/>
                  </a:moveTo>
                  <a:lnTo>
                    <a:pt x="323850" y="133350"/>
                  </a:lnTo>
                  <a:lnTo>
                    <a:pt x="0" y="266700"/>
                  </a:lnTo>
                  <a:close/>
                </a:path>
              </a:pathLst>
            </a:custGeom>
            <a:solidFill>
              <a:srgbClr val="CBD5E1"/>
            </a:solidFill>
            <a:ln>
              <a:noFill/>
            </a:ln>
          </p:spPr>
        </p:sp>
        <p:sp>
          <p:nvSpPr>
            <p:cNvPr id="20" name="Rectangle 20"/>
            <p:cNvSpPr/>
            <p:nvPr/>
          </p:nvSpPr>
          <p:spPr>
            <a:xfrm>
              <a:off x="5715000" y="3486150"/>
              <a:ext cx="2000250" cy="552450"/>
            </a:xfrm>
            <a:prstGeom prst="roundRect">
              <a:avLst>
                <a:gd name="adj" fmla="val 27586"/>
              </a:avLst>
            </a:prstGeom>
            <a:solidFill>
              <a:srgbClr val="FFFFFF"/>
            </a:solidFill>
            <a:ln w="9525">
              <a:solidFill>
                <a:srgbClr val="CBD5E1"/>
              </a:solidFill>
            </a:ln>
          </p:spPr>
        </p:sp>
        <p:sp>
          <p:nvSpPr>
            <p:cNvPr id="21" name="TextBox 21"/>
            <p:cNvSpPr txBox="1"/>
            <p:nvPr/>
          </p:nvSpPr>
          <p:spPr>
            <a:xfrm>
              <a:off x="5964555" y="3673792"/>
              <a:ext cx="1669344"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React static build</a:t>
              </a:r>
            </a:p>
          </p:txBody>
        </p:sp>
        <p:sp>
          <p:nvSpPr>
            <p:cNvPr id="22" name="Polygon 22"/>
            <p:cNvSpPr/>
            <p:nvPr/>
          </p:nvSpPr>
          <p:spPr>
            <a:xfrm>
              <a:off x="8115300" y="3562350"/>
              <a:ext cx="323850" cy="266700"/>
            </a:xfrm>
            <a:custGeom>
              <a:avLst/>
              <a:gdLst/>
              <a:ahLst/>
              <a:cxnLst/>
              <a:rect l="l" t="t" r="r" b="b"/>
              <a:pathLst>
                <a:path w="323850" h="266700">
                  <a:moveTo>
                    <a:pt x="0" y="0"/>
                  </a:moveTo>
                  <a:lnTo>
                    <a:pt x="323850" y="133350"/>
                  </a:lnTo>
                  <a:lnTo>
                    <a:pt x="0" y="266700"/>
                  </a:lnTo>
                  <a:close/>
                </a:path>
              </a:pathLst>
            </a:custGeom>
            <a:solidFill>
              <a:srgbClr val="CBD5E1"/>
            </a:solidFill>
            <a:ln>
              <a:noFill/>
            </a:ln>
          </p:spPr>
        </p:sp>
        <p:sp>
          <p:nvSpPr>
            <p:cNvPr id="23" name="TextBox 23"/>
            <p:cNvSpPr txBox="1"/>
            <p:nvPr/>
          </p:nvSpPr>
          <p:spPr>
            <a:xfrm>
              <a:off x="8727758" y="3691414"/>
              <a:ext cx="2021634"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Render UI cho người dùng</a:t>
              </a:r>
            </a:p>
          </p:txBody>
        </p:sp>
        <p:sp>
          <p:nvSpPr>
            <p:cNvPr id="24" name="Rectangle 24"/>
            <p:cNvSpPr/>
            <p:nvPr/>
          </p:nvSpPr>
          <p:spPr>
            <a:xfrm>
              <a:off x="1123950" y="4591050"/>
              <a:ext cx="9944100" cy="1162050"/>
            </a:xfrm>
            <a:prstGeom prst="roundRect">
              <a:avLst>
                <a:gd name="adj" fmla="val 16393"/>
              </a:avLst>
            </a:prstGeom>
            <a:solidFill>
              <a:srgbClr val="00A676">
                <a:alpha val="8000"/>
              </a:srgbClr>
            </a:solidFill>
            <a:ln w="14288">
              <a:solidFill>
                <a:srgbClr val="00A676"/>
              </a:solidFill>
            </a:ln>
          </p:spPr>
        </p:sp>
        <p:sp>
          <p:nvSpPr>
            <p:cNvPr id="25" name="TextBox 25"/>
            <p:cNvSpPr txBox="1"/>
            <p:nvPr/>
          </p:nvSpPr>
          <p:spPr>
            <a:xfrm>
              <a:off x="1394460" y="4842510"/>
              <a:ext cx="694563" cy="243840"/>
            </a:xfrm>
            <a:prstGeom prst="rect">
              <a:avLst/>
            </a:prstGeom>
            <a:noFill/>
            <a:ln>
              <a:noFill/>
            </a:ln>
          </p:spPr>
          <p:txBody>
            <a:bodyPr wrap="none" lIns="0" tIns="0" rIns="0" bIns="0" anchor="t" anchorCtr="0">
              <a:spAutoFit/>
            </a:bodyPr>
            <a:lstStyle/>
            <a:p>
              <a:pPr algn="l"/>
              <a:r>
                <a:rPr lang="zh-CN" sz="1200" dirty="0">
                  <a:solidFill>
                    <a:srgbClr val="00A676"/>
                  </a:solidFill>
                  <a:latin typeface="Consolas"/>
                  <a:ea typeface="Microsoft YaHei"/>
                  <a:cs typeface="Consolas"/>
                </a:rPr>
                <a:t>/api/...</a:t>
              </a:r>
            </a:p>
          </p:txBody>
        </p:sp>
        <p:sp>
          <p:nvSpPr>
            <p:cNvPr id="26" name="TextBox 26"/>
            <p:cNvSpPr txBox="1"/>
            <p:nvPr/>
          </p:nvSpPr>
          <p:spPr>
            <a:xfrm>
              <a:off x="2229802" y="4818221"/>
              <a:ext cx="924081"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API route</a:t>
              </a:r>
            </a:p>
          </p:txBody>
        </p:sp>
        <p:sp>
          <p:nvSpPr>
            <p:cNvPr id="27" name="Polygon 27"/>
            <p:cNvSpPr/>
            <p:nvPr/>
          </p:nvSpPr>
          <p:spPr>
            <a:xfrm>
              <a:off x="4953000" y="4876800"/>
              <a:ext cx="323850" cy="266700"/>
            </a:xfrm>
            <a:custGeom>
              <a:avLst/>
              <a:gdLst/>
              <a:ahLst/>
              <a:cxnLst/>
              <a:rect l="l" t="t" r="r" b="b"/>
              <a:pathLst>
                <a:path w="323850" h="266700">
                  <a:moveTo>
                    <a:pt x="0" y="0"/>
                  </a:moveTo>
                  <a:lnTo>
                    <a:pt x="323850" y="133350"/>
                  </a:lnTo>
                  <a:lnTo>
                    <a:pt x="0" y="266700"/>
                  </a:lnTo>
                  <a:close/>
                </a:path>
              </a:pathLst>
            </a:custGeom>
            <a:solidFill>
              <a:srgbClr val="CBD5E1"/>
            </a:solidFill>
            <a:ln>
              <a:noFill/>
            </a:ln>
          </p:spPr>
        </p:sp>
        <p:sp>
          <p:nvSpPr>
            <p:cNvPr id="28" name="Rectangle 28"/>
            <p:cNvSpPr/>
            <p:nvPr/>
          </p:nvSpPr>
          <p:spPr>
            <a:xfrm>
              <a:off x="5715000" y="4762500"/>
              <a:ext cx="2000250" cy="742950"/>
            </a:xfrm>
            <a:prstGeom prst="roundRect">
              <a:avLst>
                <a:gd name="adj" fmla="val 20513"/>
              </a:avLst>
            </a:prstGeom>
            <a:solidFill>
              <a:srgbClr val="FFFFFF"/>
            </a:solidFill>
            <a:ln w="9525">
              <a:solidFill>
                <a:srgbClr val="CBD5E1"/>
              </a:solidFill>
            </a:ln>
          </p:spPr>
        </p:sp>
        <p:sp>
          <p:nvSpPr>
            <p:cNvPr id="29" name="TextBox 29"/>
            <p:cNvSpPr txBox="1"/>
            <p:nvPr/>
          </p:nvSpPr>
          <p:spPr>
            <a:xfrm>
              <a:off x="5964555" y="4921568"/>
              <a:ext cx="149922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FastAPI backend</a:t>
              </a:r>
            </a:p>
          </p:txBody>
        </p:sp>
        <p:sp>
          <p:nvSpPr>
            <p:cNvPr id="30" name="TextBox 30"/>
            <p:cNvSpPr txBox="1"/>
            <p:nvPr/>
          </p:nvSpPr>
          <p:spPr>
            <a:xfrm>
              <a:off x="5969318" y="5209699"/>
              <a:ext cx="9153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JWT + routers</a:t>
              </a:r>
            </a:p>
          </p:txBody>
        </p:sp>
        <p:sp>
          <p:nvSpPr>
            <p:cNvPr id="31" name="Polygon 31"/>
            <p:cNvSpPr/>
            <p:nvPr/>
          </p:nvSpPr>
          <p:spPr>
            <a:xfrm>
              <a:off x="8115300" y="4876800"/>
              <a:ext cx="323850" cy="266700"/>
            </a:xfrm>
            <a:custGeom>
              <a:avLst/>
              <a:gdLst/>
              <a:ahLst/>
              <a:cxnLst/>
              <a:rect l="l" t="t" r="r" b="b"/>
              <a:pathLst>
                <a:path w="323850" h="266700">
                  <a:moveTo>
                    <a:pt x="0" y="0"/>
                  </a:moveTo>
                  <a:lnTo>
                    <a:pt x="323850" y="133350"/>
                  </a:lnTo>
                  <a:lnTo>
                    <a:pt x="0" y="266700"/>
                  </a:lnTo>
                  <a:close/>
                </a:path>
              </a:pathLst>
            </a:custGeom>
            <a:solidFill>
              <a:srgbClr val="CBD5E1"/>
            </a:solidFill>
            <a:ln>
              <a:noFill/>
            </a:ln>
          </p:spPr>
        </p:sp>
        <p:sp>
          <p:nvSpPr>
            <p:cNvPr id="32" name="Rectangle 32"/>
            <p:cNvSpPr/>
            <p:nvPr/>
          </p:nvSpPr>
          <p:spPr>
            <a:xfrm>
              <a:off x="8782050" y="4762500"/>
              <a:ext cx="990600" cy="361950"/>
            </a:xfrm>
            <a:prstGeom prst="roundRect">
              <a:avLst>
                <a:gd name="adj" fmla="val 31579"/>
              </a:avLst>
            </a:prstGeom>
            <a:solidFill>
              <a:srgbClr val="FFFFFF"/>
            </a:solidFill>
            <a:ln w="9525">
              <a:solidFill>
                <a:srgbClr val="CBD5E1"/>
              </a:solidFill>
            </a:ln>
          </p:spPr>
        </p:sp>
        <p:sp>
          <p:nvSpPr>
            <p:cNvPr id="33" name="TextBox 33"/>
            <p:cNvSpPr txBox="1"/>
            <p:nvPr/>
          </p:nvSpPr>
          <p:spPr>
            <a:xfrm>
              <a:off x="8986838" y="4869656"/>
              <a:ext cx="193596"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Arial"/>
                  <a:ea typeface="Microsoft YaHei"/>
                  <a:cs typeface="Arial"/>
                </a:rPr>
                <a:t>DB</a:t>
              </a:r>
            </a:p>
          </p:txBody>
        </p:sp>
        <p:sp>
          <p:nvSpPr>
            <p:cNvPr id="34" name="Rectangle 34"/>
            <p:cNvSpPr/>
            <p:nvPr/>
          </p:nvSpPr>
          <p:spPr>
            <a:xfrm>
              <a:off x="9906000" y="4762500"/>
              <a:ext cx="990600" cy="361950"/>
            </a:xfrm>
            <a:prstGeom prst="roundRect">
              <a:avLst>
                <a:gd name="adj" fmla="val 31579"/>
              </a:avLst>
            </a:prstGeom>
            <a:solidFill>
              <a:srgbClr val="FFFFFF"/>
            </a:solidFill>
            <a:ln w="9525">
              <a:solidFill>
                <a:srgbClr val="CBD5E1"/>
              </a:solidFill>
            </a:ln>
          </p:spPr>
        </p:sp>
        <p:sp>
          <p:nvSpPr>
            <p:cNvPr id="35" name="TextBox 35"/>
            <p:cNvSpPr txBox="1"/>
            <p:nvPr/>
          </p:nvSpPr>
          <p:spPr>
            <a:xfrm>
              <a:off x="10082212" y="4869656"/>
              <a:ext cx="411123"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Arial"/>
                  <a:ea typeface="Microsoft YaHei"/>
                  <a:cs typeface="Arial"/>
                </a:rPr>
                <a:t>AI API</a:t>
              </a:r>
            </a:p>
          </p:txBody>
        </p:sp>
      </p:grpSp>
      <p:sp>
        <p:nvSpPr>
          <p:cNvPr id="37" name="Rectangle 37"/>
          <p:cNvSpPr/>
          <p:nvPr/>
        </p:nvSpPr>
        <p:spPr>
          <a:xfrm>
            <a:off x="6496050" y="1619250"/>
            <a:ext cx="4000500" cy="1028700"/>
          </a:xfrm>
          <a:prstGeom prst="roundRect">
            <a:avLst>
              <a:gd name="adj" fmla="val 20370"/>
            </a:avLst>
          </a:prstGeom>
          <a:solidFill>
            <a:srgbClr val="FFFFFF"/>
          </a:solidFill>
          <a:ln w="9525">
            <a:solidFill>
              <a:srgbClr val="CBD5E1"/>
            </a:solidFill>
          </a:ln>
        </p:spPr>
      </p:sp>
      <p:pic>
        <p:nvPicPr>
          <p:cNvPr id="38" name="Image 38"/>
          <p:cNvPicPr>
            <a:picLocks noChangeAspect="1"/>
          </p:cNvPicPr>
          <p:nvPr/>
        </p:nvPicPr>
        <p:blipFill>
          <a:blip r:embed="rId2"/>
          <a:srcRect l="132" t="0" r="132" b="0"/>
          <a:stretch>
            <a:fillRect/>
          </a:stretch>
        </p:blipFill>
        <p:spPr>
          <a:xfrm>
            <a:off x="6648450" y="1733550"/>
            <a:ext cx="1333500" cy="752475"/>
          </a:xfrm>
          <a:prstGeom prst="rect">
            <a:avLst/>
          </a:prstGeom>
        </p:spPr>
      </p:pic>
      <p:sp>
        <p:nvSpPr>
          <p:cNvPr id="39" name="TextBox 39"/>
          <p:cNvSpPr txBox="1"/>
          <p:nvPr/>
        </p:nvSpPr>
        <p:spPr>
          <a:xfrm>
            <a:off x="8193405" y="1873568"/>
            <a:ext cx="124404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Cơ chế bảo vệ</a:t>
            </a:r>
          </a:p>
        </p:txBody>
      </p:sp>
      <p:sp>
        <p:nvSpPr>
          <p:cNvPr id="40" name="TextBox 40"/>
          <p:cNvSpPr txBox="1"/>
          <p:nvPr/>
        </p:nvSpPr>
        <p:spPr>
          <a:xfrm>
            <a:off x="8196262" y="2164556"/>
            <a:ext cx="2308860"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HTTPS + JWT + private database</a:t>
            </a:r>
          </a:p>
        </p:txBody>
      </p:sp>
      <p:sp>
        <p:nvSpPr>
          <p:cNvPr id="41" name="TextBox 41"/>
          <p:cNvSpPr txBox="1"/>
          <p:nvPr/>
        </p:nvSpPr>
        <p:spPr>
          <a:xfrm>
            <a:off x="521970" y="6475095"/>
            <a:ext cx="1048988"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06 · Request Flow</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6676665"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Quy trình triển khai trên AWS EC2</a:t>
            </a:r>
          </a:p>
        </p:txBody>
      </p:sp>
      <p:sp>
        <p:nvSpPr>
          <p:cNvPr id="4" name="TextBox 4"/>
          <p:cNvSpPr txBox="1"/>
          <p:nvPr/>
        </p:nvSpPr>
        <p:spPr>
          <a:xfrm>
            <a:off x="535305" y="921068"/>
            <a:ext cx="5443966"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Từ tên miền công khai đến các container nội bộ chạy sau Nginx.</a:t>
            </a:r>
          </a:p>
        </p:txBody>
      </p:sp>
      <p:sp>
        <p:nvSpPr>
          <p:cNvPr id="5" name="Rectangle 5"/>
          <p:cNvSpPr/>
          <p:nvPr/>
        </p:nvSpPr>
        <p:spPr>
          <a:xfrm>
            <a:off x="609600" y="1485900"/>
            <a:ext cx="10972800" cy="3238500"/>
          </a:xfrm>
          <a:prstGeom prst="roundRect">
            <a:avLst>
              <a:gd name="adj" fmla="val 7647"/>
            </a:avLst>
          </a:prstGeom>
          <a:solidFill>
            <a:srgbClr val="FFFFFF"/>
          </a:solidFill>
          <a:ln w="9525">
            <a:solidFill>
              <a:srgbClr val="CBD5E1"/>
            </a:solidFill>
          </a:ln>
        </p:spPr>
      </p:sp>
      <p:sp>
        <p:nvSpPr>
          <p:cNvPr id="6" name="Line 6"/>
          <p:cNvSpPr/>
          <p:nvPr/>
        </p:nvSpPr>
        <p:spPr>
          <a:xfrm>
            <a:off x="1466850" y="3028950"/>
            <a:ext cx="8896350" cy="9525"/>
          </a:xfrm>
          <a:custGeom>
            <a:avLst/>
            <a:gdLst/>
            <a:ahLst/>
            <a:cxnLst/>
            <a:rect l="l" t="t" r="r" b="b"/>
            <a:pathLst>
              <a:path w="8896350" h="9525">
                <a:moveTo>
                  <a:pt x="0" y="0"/>
                </a:moveTo>
                <a:lnTo>
                  <a:pt x="8896350" y="0"/>
                </a:lnTo>
              </a:path>
            </a:pathLst>
          </a:custGeom>
          <a:noFill/>
          <a:ln w="28575">
            <a:solidFill>
              <a:srgbClr val="CBD5E1"/>
            </a:solidFill>
          </a:ln>
        </p:spPr>
      </p:sp>
      <p:sp>
        <p:nvSpPr>
          <p:cNvPr id="7" name="Ellipse 7"/>
          <p:cNvSpPr/>
          <p:nvPr/>
        </p:nvSpPr>
        <p:spPr>
          <a:xfrm>
            <a:off x="1123950" y="2686050"/>
            <a:ext cx="685800" cy="685800"/>
          </a:xfrm>
          <a:prstGeom prst="ellipse">
            <a:avLst/>
          </a:prstGeom>
          <a:solidFill>
            <a:srgbClr val="2563EB"/>
          </a:solidFill>
          <a:ln>
            <a:noFill/>
          </a:ln>
        </p:spPr>
      </p:sp>
      <p:grpSp>
        <p:nvGrpSpPr>
          <p:cNvPr id="13" name="Group 13"/>
          <p:cNvGrpSpPr/>
          <p:nvPr/>
        </p:nvGrpSpPr>
        <p:grpSpPr>
          <a:xfrm>
            <a:off x="1338262" y="2900362"/>
            <a:ext cx="257175" cy="257175"/>
            <a:chOff x="1338262" y="2900362"/>
            <a:chExt cx="257175" cy="257175"/>
          </a:xfrm>
        </p:grpSpPr>
        <p:sp>
          <p:nvSpPr>
            <p:cNvPr id="8" name="Freeform 8"/>
            <p:cNvSpPr/>
            <p:nvPr/>
          </p:nvSpPr>
          <p:spPr>
            <a:xfrm>
              <a:off x="1338262" y="290036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FFFFFF"/>
              </a:solidFill>
            </a:ln>
          </p:spPr>
        </p:sp>
        <p:sp>
          <p:nvSpPr>
            <p:cNvPr id="9" name="Freeform 9"/>
            <p:cNvSpPr/>
            <p:nvPr/>
          </p:nvSpPr>
          <p:spPr>
            <a:xfrm>
              <a:off x="1346835" y="2986088"/>
              <a:ext cx="240030" cy="9525"/>
            </a:xfrm>
            <a:custGeom>
              <a:avLst/>
              <a:gdLst/>
              <a:ahLst/>
              <a:cxnLst/>
              <a:rect l="l" t="t" r="r" b="b"/>
              <a:pathLst>
                <a:path w="240030" h="9525">
                  <a:moveTo>
                    <a:pt x="0" y="0"/>
                  </a:moveTo>
                  <a:lnTo>
                    <a:pt x="240030" y="0"/>
                  </a:lnTo>
                </a:path>
              </a:pathLst>
            </a:custGeom>
            <a:noFill/>
            <a:ln w="19050">
              <a:solidFill>
                <a:srgbClr val="FFFFFF"/>
              </a:solidFill>
            </a:ln>
          </p:spPr>
        </p:sp>
        <p:sp>
          <p:nvSpPr>
            <p:cNvPr id="10" name="Freeform 10"/>
            <p:cNvSpPr/>
            <p:nvPr/>
          </p:nvSpPr>
          <p:spPr>
            <a:xfrm>
              <a:off x="1346835" y="3071812"/>
              <a:ext cx="240030" cy="9525"/>
            </a:xfrm>
            <a:custGeom>
              <a:avLst/>
              <a:gdLst/>
              <a:ahLst/>
              <a:cxnLst/>
              <a:rect l="l" t="t" r="r" b="b"/>
              <a:pathLst>
                <a:path w="240030" h="9525">
                  <a:moveTo>
                    <a:pt x="0" y="0"/>
                  </a:moveTo>
                  <a:lnTo>
                    <a:pt x="240030" y="0"/>
                  </a:lnTo>
                </a:path>
              </a:pathLst>
            </a:custGeom>
            <a:noFill/>
            <a:ln w="19050">
              <a:solidFill>
                <a:srgbClr val="FFFFFF"/>
              </a:solidFill>
            </a:ln>
          </p:spPr>
        </p:sp>
        <p:sp>
          <p:nvSpPr>
            <p:cNvPr id="11" name="Freeform 11"/>
            <p:cNvSpPr/>
            <p:nvPr/>
          </p:nvSpPr>
          <p:spPr>
            <a:xfrm>
              <a:off x="1410599" y="2900362"/>
              <a:ext cx="49107" cy="257175"/>
            </a:xfrm>
            <a:custGeom>
              <a:avLst/>
              <a:gdLst/>
              <a:ahLst/>
              <a:cxnLst/>
              <a:rect l="l" t="t" r="r" b="b"/>
              <a:pathLst>
                <a:path w="49107" h="257175">
                  <a:moveTo>
                    <a:pt x="49107" y="0"/>
                  </a:moveTo>
                  <a:cubicBezTo>
                    <a:pt x="0" y="78692"/>
                    <a:pt x="0" y="178483"/>
                    <a:pt x="49107" y="257175"/>
                  </a:cubicBezTo>
                </a:path>
              </a:pathLst>
            </a:custGeom>
            <a:noFill/>
            <a:ln w="19050">
              <a:solidFill>
                <a:srgbClr val="FFFFFF"/>
              </a:solidFill>
            </a:ln>
          </p:spPr>
        </p:sp>
        <p:sp>
          <p:nvSpPr>
            <p:cNvPr id="12" name="Freeform 12"/>
            <p:cNvSpPr/>
            <p:nvPr/>
          </p:nvSpPr>
          <p:spPr>
            <a:xfrm>
              <a:off x="1473994" y="2900362"/>
              <a:ext cx="49107" cy="257175"/>
            </a:xfrm>
            <a:custGeom>
              <a:avLst/>
              <a:gdLst/>
              <a:ahLst/>
              <a:cxnLst/>
              <a:rect l="l" t="t" r="r" b="b"/>
              <a:pathLst>
                <a:path w="49107" h="257175">
                  <a:moveTo>
                    <a:pt x="0" y="0"/>
                  </a:moveTo>
                  <a:cubicBezTo>
                    <a:pt x="49107" y="78692"/>
                    <a:pt x="49107" y="178483"/>
                    <a:pt x="0" y="257175"/>
                  </a:cubicBezTo>
                </a:path>
              </a:pathLst>
            </a:custGeom>
            <a:noFill/>
            <a:ln w="19050">
              <a:solidFill>
                <a:srgbClr val="FFFFFF"/>
              </a:solidFill>
            </a:ln>
          </p:spPr>
        </p:sp>
      </p:grpSp>
      <p:sp>
        <p:nvSpPr>
          <p:cNvPr id="14" name="TextBox 14"/>
          <p:cNvSpPr txBox="1"/>
          <p:nvPr/>
        </p:nvSpPr>
        <p:spPr>
          <a:xfrm>
            <a:off x="973455" y="3549968"/>
            <a:ext cx="34617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DNS</a:t>
            </a:r>
          </a:p>
        </p:txBody>
      </p:sp>
      <p:sp>
        <p:nvSpPr>
          <p:cNvPr id="15" name="TextBox 15"/>
          <p:cNvSpPr txBox="1"/>
          <p:nvPr/>
        </p:nvSpPr>
        <p:spPr>
          <a:xfrm>
            <a:off x="729615" y="3858578"/>
            <a:ext cx="126582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pkiresearch.id.vn</a:t>
            </a:r>
          </a:p>
        </p:txBody>
      </p:sp>
      <p:sp>
        <p:nvSpPr>
          <p:cNvPr id="16" name="TextBox 16"/>
          <p:cNvSpPr txBox="1"/>
          <p:nvPr/>
        </p:nvSpPr>
        <p:spPr>
          <a:xfrm>
            <a:off x="824865" y="4115752"/>
            <a:ext cx="88077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13.212.82.45</a:t>
            </a:r>
          </a:p>
        </p:txBody>
      </p:sp>
      <p:sp>
        <p:nvSpPr>
          <p:cNvPr id="17" name="Polygon 17"/>
          <p:cNvSpPr/>
          <p:nvPr/>
        </p:nvSpPr>
        <p:spPr>
          <a:xfrm>
            <a:off x="2543175" y="2895600"/>
            <a:ext cx="314325" cy="266700"/>
          </a:xfrm>
          <a:custGeom>
            <a:avLst/>
            <a:gdLst/>
            <a:ahLst/>
            <a:cxnLst/>
            <a:rect l="l" t="t" r="r" b="b"/>
            <a:pathLst>
              <a:path w="314325" h="266700">
                <a:moveTo>
                  <a:pt x="0" y="0"/>
                </a:moveTo>
                <a:lnTo>
                  <a:pt x="314325" y="133350"/>
                </a:lnTo>
                <a:lnTo>
                  <a:pt x="0" y="266700"/>
                </a:lnTo>
                <a:close/>
              </a:path>
            </a:pathLst>
          </a:custGeom>
          <a:solidFill>
            <a:srgbClr val="CBD5E1"/>
          </a:solidFill>
          <a:ln>
            <a:noFill/>
          </a:ln>
        </p:spPr>
      </p:sp>
      <p:sp>
        <p:nvSpPr>
          <p:cNvPr id="18" name="Ellipse 18"/>
          <p:cNvSpPr/>
          <p:nvPr/>
        </p:nvSpPr>
        <p:spPr>
          <a:xfrm>
            <a:off x="2914650" y="2686050"/>
            <a:ext cx="685800" cy="685800"/>
          </a:xfrm>
          <a:prstGeom prst="ellipse">
            <a:avLst/>
          </a:prstGeom>
          <a:solidFill>
            <a:srgbClr val="2563EB"/>
          </a:solidFill>
          <a:ln>
            <a:noFill/>
          </a:ln>
        </p:spPr>
      </p:sp>
      <p:grpSp>
        <p:nvGrpSpPr>
          <p:cNvPr id="23" name="Group 23"/>
          <p:cNvGrpSpPr/>
          <p:nvPr/>
        </p:nvGrpSpPr>
        <p:grpSpPr>
          <a:xfrm>
            <a:off x="3128962" y="2914650"/>
            <a:ext cx="257175" cy="228600"/>
            <a:chOff x="3128962" y="2914650"/>
            <a:chExt cx="257175" cy="228600"/>
          </a:xfrm>
        </p:grpSpPr>
        <p:sp>
          <p:nvSpPr>
            <p:cNvPr id="19" name="Freeform 19"/>
            <p:cNvSpPr/>
            <p:nvPr/>
          </p:nvSpPr>
          <p:spPr>
            <a:xfrm>
              <a:off x="3128962" y="2914650"/>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path>
              </a:pathLst>
            </a:custGeom>
            <a:noFill/>
            <a:ln w="19050">
              <a:solidFill>
                <a:srgbClr val="FFFFFF"/>
              </a:solidFill>
            </a:ln>
          </p:spPr>
        </p:sp>
        <p:sp>
          <p:nvSpPr>
            <p:cNvPr id="20" name="Freeform 20"/>
            <p:cNvSpPr/>
            <p:nvPr/>
          </p:nvSpPr>
          <p:spPr>
            <a:xfrm>
              <a:off x="3128962" y="3028950"/>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lnTo>
                    <a:pt x="0" y="42862"/>
                  </a:lnTo>
                </a:path>
              </a:pathLst>
            </a:custGeom>
            <a:noFill/>
            <a:ln w="19050">
              <a:solidFill>
                <a:srgbClr val="FFFFFF"/>
              </a:solidFill>
            </a:ln>
          </p:spPr>
        </p:sp>
        <p:sp>
          <p:nvSpPr>
            <p:cNvPr id="21" name="Freeform 21"/>
            <p:cNvSpPr/>
            <p:nvPr/>
          </p:nvSpPr>
          <p:spPr>
            <a:xfrm>
              <a:off x="3186112" y="2971800"/>
              <a:ext cx="9525" cy="9525"/>
            </a:xfrm>
            <a:custGeom>
              <a:avLst/>
              <a:gdLst/>
              <a:ahLst/>
              <a:cxnLst/>
              <a:rect l="l" t="t" r="r" b="b"/>
              <a:pathLst>
                <a:path w="9525" h="9525">
                  <a:moveTo>
                    <a:pt x="0" y="0"/>
                  </a:moveTo>
                  <a:lnTo>
                    <a:pt x="0" y="143"/>
                  </a:lnTo>
                </a:path>
              </a:pathLst>
            </a:custGeom>
            <a:noFill/>
            <a:ln w="19050">
              <a:solidFill>
                <a:srgbClr val="FFFFFF"/>
              </a:solidFill>
            </a:ln>
          </p:spPr>
        </p:sp>
        <p:sp>
          <p:nvSpPr>
            <p:cNvPr id="22" name="Freeform 22"/>
            <p:cNvSpPr/>
            <p:nvPr/>
          </p:nvSpPr>
          <p:spPr>
            <a:xfrm>
              <a:off x="3186112" y="3086100"/>
              <a:ext cx="9525" cy="9525"/>
            </a:xfrm>
            <a:custGeom>
              <a:avLst/>
              <a:gdLst/>
              <a:ahLst/>
              <a:cxnLst/>
              <a:rect l="l" t="t" r="r" b="b"/>
              <a:pathLst>
                <a:path w="9525" h="9525">
                  <a:moveTo>
                    <a:pt x="0" y="0"/>
                  </a:moveTo>
                  <a:lnTo>
                    <a:pt x="0" y="143"/>
                  </a:lnTo>
                </a:path>
              </a:pathLst>
            </a:custGeom>
            <a:noFill/>
            <a:ln w="19050">
              <a:solidFill>
                <a:srgbClr val="FFFFFF"/>
              </a:solidFill>
            </a:ln>
          </p:spPr>
        </p:sp>
      </p:grpSp>
      <p:sp>
        <p:nvSpPr>
          <p:cNvPr id="24" name="TextBox 24"/>
          <p:cNvSpPr txBox="1"/>
          <p:nvPr/>
        </p:nvSpPr>
        <p:spPr>
          <a:xfrm>
            <a:off x="2754630" y="3549968"/>
            <a:ext cx="1187334"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EC2 Instance</a:t>
            </a:r>
          </a:p>
        </p:txBody>
      </p:sp>
      <p:sp>
        <p:nvSpPr>
          <p:cNvPr id="25" name="TextBox 25"/>
          <p:cNvSpPr txBox="1"/>
          <p:nvPr/>
        </p:nvSpPr>
        <p:spPr>
          <a:xfrm>
            <a:off x="2728912" y="3850481"/>
            <a:ext cx="1348740"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Amazon Linux 2023</a:t>
            </a:r>
          </a:p>
        </p:txBody>
      </p:sp>
      <p:sp>
        <p:nvSpPr>
          <p:cNvPr id="26" name="TextBox 26"/>
          <p:cNvSpPr txBox="1"/>
          <p:nvPr/>
        </p:nvSpPr>
        <p:spPr>
          <a:xfrm>
            <a:off x="2844165" y="4115752"/>
            <a:ext cx="1034796"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ec2-user + SSH</a:t>
            </a:r>
          </a:p>
        </p:txBody>
      </p:sp>
      <p:sp>
        <p:nvSpPr>
          <p:cNvPr id="27" name="Polygon 27"/>
          <p:cNvSpPr/>
          <p:nvPr/>
        </p:nvSpPr>
        <p:spPr>
          <a:xfrm>
            <a:off x="4343400" y="2895600"/>
            <a:ext cx="314325" cy="266700"/>
          </a:xfrm>
          <a:custGeom>
            <a:avLst/>
            <a:gdLst/>
            <a:ahLst/>
            <a:cxnLst/>
            <a:rect l="l" t="t" r="r" b="b"/>
            <a:pathLst>
              <a:path w="314325" h="266700">
                <a:moveTo>
                  <a:pt x="0" y="0"/>
                </a:moveTo>
                <a:lnTo>
                  <a:pt x="314325" y="133350"/>
                </a:lnTo>
                <a:lnTo>
                  <a:pt x="0" y="266700"/>
                </a:lnTo>
                <a:close/>
              </a:path>
            </a:pathLst>
          </a:custGeom>
          <a:solidFill>
            <a:srgbClr val="CBD5E1"/>
          </a:solidFill>
          <a:ln>
            <a:noFill/>
          </a:ln>
        </p:spPr>
      </p:sp>
      <p:sp>
        <p:nvSpPr>
          <p:cNvPr id="28" name="Ellipse 28"/>
          <p:cNvSpPr/>
          <p:nvPr/>
        </p:nvSpPr>
        <p:spPr>
          <a:xfrm>
            <a:off x="4724400" y="2686050"/>
            <a:ext cx="685800" cy="685800"/>
          </a:xfrm>
          <a:prstGeom prst="ellipse">
            <a:avLst/>
          </a:prstGeom>
          <a:solidFill>
            <a:srgbClr val="2563EB"/>
          </a:solidFill>
          <a:ln>
            <a:noFill/>
          </a:ln>
        </p:spPr>
      </p:sp>
      <p:grpSp>
        <p:nvGrpSpPr>
          <p:cNvPr id="32" name="Group 32"/>
          <p:cNvGrpSpPr/>
          <p:nvPr/>
        </p:nvGrpSpPr>
        <p:grpSpPr>
          <a:xfrm>
            <a:off x="4932763" y="2900362"/>
            <a:ext cx="269075" cy="257175"/>
            <a:chOff x="4932763" y="2900362"/>
            <a:chExt cx="269075" cy="257175"/>
          </a:xfrm>
        </p:grpSpPr>
        <p:sp>
          <p:nvSpPr>
            <p:cNvPr id="29" name="Freeform 29"/>
            <p:cNvSpPr/>
            <p:nvPr/>
          </p:nvSpPr>
          <p:spPr>
            <a:xfrm>
              <a:off x="4932763" y="2900362"/>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19050">
              <a:solidFill>
                <a:srgbClr val="FFFFFF"/>
              </a:solidFill>
            </a:ln>
          </p:spPr>
        </p:sp>
        <p:sp>
          <p:nvSpPr>
            <p:cNvPr id="30" name="Freeform 30"/>
            <p:cNvSpPr/>
            <p:nvPr/>
          </p:nvSpPr>
          <p:spPr>
            <a:xfrm>
              <a:off x="5053012" y="3000375"/>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FFFFFF"/>
              </a:solidFill>
            </a:ln>
          </p:spPr>
        </p:sp>
        <p:sp>
          <p:nvSpPr>
            <p:cNvPr id="31" name="Freeform 31"/>
            <p:cNvSpPr/>
            <p:nvPr/>
          </p:nvSpPr>
          <p:spPr>
            <a:xfrm>
              <a:off x="5067300" y="3028950"/>
              <a:ext cx="9525" cy="35719"/>
            </a:xfrm>
            <a:custGeom>
              <a:avLst/>
              <a:gdLst/>
              <a:ahLst/>
              <a:cxnLst/>
              <a:rect l="l" t="t" r="r" b="b"/>
              <a:pathLst>
                <a:path w="9525" h="35719">
                  <a:moveTo>
                    <a:pt x="0" y="0"/>
                  </a:moveTo>
                  <a:lnTo>
                    <a:pt x="0" y="35719"/>
                  </a:lnTo>
                </a:path>
              </a:pathLst>
            </a:custGeom>
            <a:noFill/>
            <a:ln w="19050">
              <a:solidFill>
                <a:srgbClr val="FFFFFF"/>
              </a:solidFill>
            </a:ln>
          </p:spPr>
        </p:sp>
      </p:grpSp>
      <p:sp>
        <p:nvSpPr>
          <p:cNvPr id="33" name="TextBox 33"/>
          <p:cNvSpPr txBox="1"/>
          <p:nvPr/>
        </p:nvSpPr>
        <p:spPr>
          <a:xfrm>
            <a:off x="4478655" y="3549968"/>
            <a:ext cx="139526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Group</a:t>
            </a:r>
          </a:p>
        </p:txBody>
      </p:sp>
      <p:sp>
        <p:nvSpPr>
          <p:cNvPr id="34" name="TextBox 34"/>
          <p:cNvSpPr txBox="1"/>
          <p:nvPr/>
        </p:nvSpPr>
        <p:spPr>
          <a:xfrm>
            <a:off x="4615815" y="3858578"/>
            <a:ext cx="887778"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80 / 443 / 22</a:t>
            </a:r>
          </a:p>
        </p:txBody>
      </p:sp>
      <p:sp>
        <p:nvSpPr>
          <p:cNvPr id="35" name="TextBox 35"/>
          <p:cNvSpPr txBox="1"/>
          <p:nvPr/>
        </p:nvSpPr>
        <p:spPr>
          <a:xfrm>
            <a:off x="4481512" y="4107656"/>
            <a:ext cx="1558766"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Chỉ mở cổng cần dùng</a:t>
            </a:r>
          </a:p>
        </p:txBody>
      </p:sp>
      <p:sp>
        <p:nvSpPr>
          <p:cNvPr id="36" name="Polygon 36"/>
          <p:cNvSpPr/>
          <p:nvPr/>
        </p:nvSpPr>
        <p:spPr>
          <a:xfrm>
            <a:off x="6153150" y="2895600"/>
            <a:ext cx="314325" cy="266700"/>
          </a:xfrm>
          <a:custGeom>
            <a:avLst/>
            <a:gdLst/>
            <a:ahLst/>
            <a:cxnLst/>
            <a:rect l="l" t="t" r="r" b="b"/>
            <a:pathLst>
              <a:path w="314325" h="266700">
                <a:moveTo>
                  <a:pt x="0" y="0"/>
                </a:moveTo>
                <a:lnTo>
                  <a:pt x="314325" y="133350"/>
                </a:lnTo>
                <a:lnTo>
                  <a:pt x="0" y="266700"/>
                </a:lnTo>
                <a:close/>
              </a:path>
            </a:pathLst>
          </a:custGeom>
          <a:solidFill>
            <a:srgbClr val="CBD5E1"/>
          </a:solidFill>
          <a:ln>
            <a:noFill/>
          </a:ln>
        </p:spPr>
      </p:sp>
      <p:sp>
        <p:nvSpPr>
          <p:cNvPr id="37" name="Ellipse 37"/>
          <p:cNvSpPr/>
          <p:nvPr/>
        </p:nvSpPr>
        <p:spPr>
          <a:xfrm>
            <a:off x="6534150" y="2686050"/>
            <a:ext cx="685800" cy="685800"/>
          </a:xfrm>
          <a:prstGeom prst="ellipse">
            <a:avLst/>
          </a:prstGeom>
          <a:solidFill>
            <a:srgbClr val="00A676"/>
          </a:solidFill>
          <a:ln>
            <a:noFill/>
          </a:ln>
        </p:spPr>
      </p:sp>
      <p:grpSp>
        <p:nvGrpSpPr>
          <p:cNvPr id="44" name="Group 44"/>
          <p:cNvGrpSpPr/>
          <p:nvPr/>
        </p:nvGrpSpPr>
        <p:grpSpPr>
          <a:xfrm>
            <a:off x="6748462" y="2928938"/>
            <a:ext cx="257175" cy="242887"/>
            <a:chOff x="6748462" y="2928938"/>
            <a:chExt cx="257175" cy="242887"/>
          </a:xfrm>
        </p:grpSpPr>
        <p:sp>
          <p:nvSpPr>
            <p:cNvPr id="38" name="Freeform 38"/>
            <p:cNvSpPr/>
            <p:nvPr/>
          </p:nvSpPr>
          <p:spPr>
            <a:xfrm>
              <a:off x="6877050" y="3028950"/>
              <a:ext cx="85725" cy="85725"/>
            </a:xfrm>
            <a:custGeom>
              <a:avLst/>
              <a:gdLst/>
              <a:ahLst/>
              <a:cxnLst/>
              <a:rect l="l" t="t" r="r" b="b"/>
              <a:pathLst>
                <a:path w="85725" h="85725">
                  <a:moveTo>
                    <a:pt x="0" y="42862"/>
                  </a:moveTo>
                  <a:cubicBezTo>
                    <a:pt x="0" y="66535"/>
                    <a:pt x="19190" y="85725"/>
                    <a:pt x="42862" y="85725"/>
                  </a:cubicBezTo>
                  <a:cubicBezTo>
                    <a:pt x="66535" y="85725"/>
                    <a:pt x="85725" y="66535"/>
                    <a:pt x="85725" y="42862"/>
                  </a:cubicBezTo>
                  <a:cubicBezTo>
                    <a:pt x="85725" y="19190"/>
                    <a:pt x="66535" y="0"/>
                    <a:pt x="42862" y="0"/>
                  </a:cubicBezTo>
                  <a:cubicBezTo>
                    <a:pt x="19190" y="0"/>
                    <a:pt x="0" y="19190"/>
                    <a:pt x="0" y="42862"/>
                  </a:cubicBezTo>
                </a:path>
              </a:pathLst>
            </a:custGeom>
            <a:noFill/>
            <a:ln w="19050">
              <a:solidFill>
                <a:srgbClr val="FFFFFF"/>
              </a:solidFill>
            </a:ln>
          </p:spPr>
        </p:sp>
        <p:sp>
          <p:nvSpPr>
            <p:cNvPr id="39" name="Freeform 39"/>
            <p:cNvSpPr/>
            <p:nvPr/>
          </p:nvSpPr>
          <p:spPr>
            <a:xfrm>
              <a:off x="6891338" y="3107531"/>
              <a:ext cx="57150" cy="64294"/>
            </a:xfrm>
            <a:custGeom>
              <a:avLst/>
              <a:gdLst/>
              <a:ahLst/>
              <a:cxnLst/>
              <a:rect l="l" t="t" r="r" b="b"/>
              <a:pathLst>
                <a:path w="57150" h="64294">
                  <a:moveTo>
                    <a:pt x="0" y="0"/>
                  </a:moveTo>
                  <a:lnTo>
                    <a:pt x="0" y="64294"/>
                  </a:lnTo>
                  <a:lnTo>
                    <a:pt x="28575" y="42862"/>
                  </a:lnTo>
                  <a:lnTo>
                    <a:pt x="57150" y="64294"/>
                  </a:lnTo>
                  <a:lnTo>
                    <a:pt x="57150" y="0"/>
                  </a:lnTo>
                </a:path>
              </a:pathLst>
            </a:custGeom>
            <a:noFill/>
            <a:ln w="19050">
              <a:solidFill>
                <a:srgbClr val="FFFFFF"/>
              </a:solidFill>
            </a:ln>
          </p:spPr>
        </p:sp>
        <p:sp>
          <p:nvSpPr>
            <p:cNvPr id="40" name="Freeform 40"/>
            <p:cNvSpPr/>
            <p:nvPr/>
          </p:nvSpPr>
          <p:spPr>
            <a:xfrm>
              <a:off x="6748462" y="2928938"/>
              <a:ext cx="257175" cy="200025"/>
            </a:xfrm>
            <a:custGeom>
              <a:avLst/>
              <a:gdLst/>
              <a:ahLst/>
              <a:cxnLst/>
              <a:rect l="l" t="t" r="r" b="b"/>
              <a:pathLst>
                <a:path w="257175" h="200025">
                  <a:moveTo>
                    <a:pt x="100012" y="200025"/>
                  </a:moveTo>
                  <a:lnTo>
                    <a:pt x="28575" y="200025"/>
                  </a:lnTo>
                  <a:cubicBezTo>
                    <a:pt x="12793" y="200025"/>
                    <a:pt x="0" y="187232"/>
                    <a:pt x="0" y="171450"/>
                  </a:cubicBezTo>
                  <a:lnTo>
                    <a:pt x="0" y="28575"/>
                  </a:lnTo>
                  <a:cubicBezTo>
                    <a:pt x="0" y="12859"/>
                    <a:pt x="12859" y="0"/>
                    <a:pt x="28575" y="0"/>
                  </a:cubicBezTo>
                  <a:lnTo>
                    <a:pt x="228600" y="0"/>
                  </a:lnTo>
                  <a:cubicBezTo>
                    <a:pt x="244382" y="0"/>
                    <a:pt x="257175" y="12793"/>
                    <a:pt x="257175" y="28575"/>
                  </a:cubicBezTo>
                  <a:lnTo>
                    <a:pt x="257175" y="171450"/>
                  </a:lnTo>
                  <a:cubicBezTo>
                    <a:pt x="257165" y="181648"/>
                    <a:pt x="251720" y="191068"/>
                    <a:pt x="242888" y="196167"/>
                  </a:cubicBezTo>
                </a:path>
              </a:pathLst>
            </a:custGeom>
            <a:noFill/>
            <a:ln w="19050">
              <a:solidFill>
                <a:srgbClr val="FFFFFF"/>
              </a:solidFill>
            </a:ln>
          </p:spPr>
        </p:sp>
        <p:sp>
          <p:nvSpPr>
            <p:cNvPr id="41" name="Freeform 41"/>
            <p:cNvSpPr/>
            <p:nvPr/>
          </p:nvSpPr>
          <p:spPr>
            <a:xfrm>
              <a:off x="6791325" y="2986088"/>
              <a:ext cx="171450" cy="9525"/>
            </a:xfrm>
            <a:custGeom>
              <a:avLst/>
              <a:gdLst/>
              <a:ahLst/>
              <a:cxnLst/>
              <a:rect l="l" t="t" r="r" b="b"/>
              <a:pathLst>
                <a:path w="171450" h="9525">
                  <a:moveTo>
                    <a:pt x="0" y="0"/>
                  </a:moveTo>
                  <a:lnTo>
                    <a:pt x="171450" y="0"/>
                  </a:lnTo>
                </a:path>
              </a:pathLst>
            </a:custGeom>
            <a:noFill/>
            <a:ln w="19050">
              <a:solidFill>
                <a:srgbClr val="FFFFFF"/>
              </a:solidFill>
            </a:ln>
          </p:spPr>
        </p:sp>
        <p:sp>
          <p:nvSpPr>
            <p:cNvPr id="42" name="Freeform 42"/>
            <p:cNvSpPr/>
            <p:nvPr/>
          </p:nvSpPr>
          <p:spPr>
            <a:xfrm>
              <a:off x="6791325" y="3028950"/>
              <a:ext cx="42862" cy="9525"/>
            </a:xfrm>
            <a:custGeom>
              <a:avLst/>
              <a:gdLst/>
              <a:ahLst/>
              <a:cxnLst/>
              <a:rect l="l" t="t" r="r" b="b"/>
              <a:pathLst>
                <a:path w="42862" h="9525">
                  <a:moveTo>
                    <a:pt x="0" y="0"/>
                  </a:moveTo>
                  <a:lnTo>
                    <a:pt x="42862" y="0"/>
                  </a:lnTo>
                </a:path>
              </a:pathLst>
            </a:custGeom>
            <a:noFill/>
            <a:ln w="19050">
              <a:solidFill>
                <a:srgbClr val="FFFFFF"/>
              </a:solidFill>
            </a:ln>
          </p:spPr>
        </p:sp>
        <p:sp>
          <p:nvSpPr>
            <p:cNvPr id="43" name="Freeform 43"/>
            <p:cNvSpPr/>
            <p:nvPr/>
          </p:nvSpPr>
          <p:spPr>
            <a:xfrm>
              <a:off x="6791325" y="3071812"/>
              <a:ext cx="28575" cy="9525"/>
            </a:xfrm>
            <a:custGeom>
              <a:avLst/>
              <a:gdLst/>
              <a:ahLst/>
              <a:cxnLst/>
              <a:rect l="l" t="t" r="r" b="b"/>
              <a:pathLst>
                <a:path w="28575" h="9525">
                  <a:moveTo>
                    <a:pt x="0" y="0"/>
                  </a:moveTo>
                  <a:lnTo>
                    <a:pt x="28575" y="0"/>
                  </a:lnTo>
                </a:path>
              </a:pathLst>
            </a:custGeom>
            <a:noFill/>
            <a:ln w="19050">
              <a:solidFill>
                <a:srgbClr val="FFFFFF"/>
              </a:solidFill>
            </a:ln>
          </p:spPr>
        </p:sp>
      </p:grpSp>
      <p:sp>
        <p:nvSpPr>
          <p:cNvPr id="45" name="TextBox 45"/>
          <p:cNvSpPr txBox="1"/>
          <p:nvPr/>
        </p:nvSpPr>
        <p:spPr>
          <a:xfrm>
            <a:off x="6383655" y="3549968"/>
            <a:ext cx="55410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HTTPS</a:t>
            </a:r>
          </a:p>
        </p:txBody>
      </p:sp>
      <p:sp>
        <p:nvSpPr>
          <p:cNvPr id="46" name="TextBox 46"/>
          <p:cNvSpPr txBox="1"/>
          <p:nvPr/>
        </p:nvSpPr>
        <p:spPr>
          <a:xfrm>
            <a:off x="6138862" y="3850481"/>
            <a:ext cx="168628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Let's Encrypt Certbot</a:t>
            </a:r>
          </a:p>
        </p:txBody>
      </p:sp>
      <p:sp>
        <p:nvSpPr>
          <p:cNvPr id="47" name="TextBox 47"/>
          <p:cNvSpPr txBox="1"/>
          <p:nvPr/>
        </p:nvSpPr>
        <p:spPr>
          <a:xfrm>
            <a:off x="6368415" y="4115752"/>
            <a:ext cx="142684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valid đến 2026-09-05</a:t>
            </a:r>
          </a:p>
        </p:txBody>
      </p:sp>
      <p:sp>
        <p:nvSpPr>
          <p:cNvPr id="48" name="Polygon 48"/>
          <p:cNvSpPr/>
          <p:nvPr/>
        </p:nvSpPr>
        <p:spPr>
          <a:xfrm>
            <a:off x="7962900" y="2895600"/>
            <a:ext cx="314325" cy="266700"/>
          </a:xfrm>
          <a:custGeom>
            <a:avLst/>
            <a:gdLst/>
            <a:ahLst/>
            <a:cxnLst/>
            <a:rect l="l" t="t" r="r" b="b"/>
            <a:pathLst>
              <a:path w="314325" h="266700">
                <a:moveTo>
                  <a:pt x="0" y="0"/>
                </a:moveTo>
                <a:lnTo>
                  <a:pt x="314325" y="133350"/>
                </a:lnTo>
                <a:lnTo>
                  <a:pt x="0" y="266700"/>
                </a:lnTo>
                <a:close/>
              </a:path>
            </a:pathLst>
          </a:custGeom>
          <a:solidFill>
            <a:srgbClr val="CBD5E1"/>
          </a:solidFill>
          <a:ln>
            <a:noFill/>
          </a:ln>
        </p:spPr>
      </p:sp>
      <p:sp>
        <p:nvSpPr>
          <p:cNvPr id="49" name="Ellipse 49"/>
          <p:cNvSpPr/>
          <p:nvPr/>
        </p:nvSpPr>
        <p:spPr>
          <a:xfrm>
            <a:off x="8343900" y="2686050"/>
            <a:ext cx="685800" cy="685800"/>
          </a:xfrm>
          <a:prstGeom prst="ellipse">
            <a:avLst/>
          </a:prstGeom>
          <a:solidFill>
            <a:srgbClr val="0F172A"/>
          </a:solidFill>
          <a:ln>
            <a:noFill/>
          </a:ln>
        </p:spPr>
      </p:sp>
      <p:grpSp>
        <p:nvGrpSpPr>
          <p:cNvPr id="59" name="Group 59"/>
          <p:cNvGrpSpPr/>
          <p:nvPr/>
        </p:nvGrpSpPr>
        <p:grpSpPr>
          <a:xfrm>
            <a:off x="8558212" y="2914650"/>
            <a:ext cx="271462" cy="228914"/>
            <a:chOff x="8558212" y="2914650"/>
            <a:chExt cx="271462" cy="228914"/>
          </a:xfrm>
        </p:grpSpPr>
        <p:sp>
          <p:nvSpPr>
            <p:cNvPr id="50" name="Freeform 50"/>
            <p:cNvSpPr/>
            <p:nvPr/>
          </p:nvSpPr>
          <p:spPr>
            <a:xfrm>
              <a:off x="8558212" y="2994660"/>
              <a:ext cx="271462" cy="148904"/>
            </a:xfrm>
            <a:custGeom>
              <a:avLst/>
              <a:gdLst/>
              <a:ahLst/>
              <a:cxnLst/>
              <a:rect l="l" t="t" r="r" b="b"/>
              <a:pathLst>
                <a:path w="271462" h="148904">
                  <a:moveTo>
                    <a:pt x="271462" y="42005"/>
                  </a:moveTo>
                  <a:cubicBezTo>
                    <a:pt x="245688" y="37076"/>
                    <a:pt x="232872" y="26575"/>
                    <a:pt x="221128" y="0"/>
                  </a:cubicBezTo>
                  <a:cubicBezTo>
                    <a:pt x="214170" y="9944"/>
                    <a:pt x="205383" y="22403"/>
                    <a:pt x="207983" y="34290"/>
                  </a:cubicBezTo>
                  <a:cubicBezTo>
                    <a:pt x="208383" y="37690"/>
                    <a:pt x="203411" y="48578"/>
                    <a:pt x="200025" y="48578"/>
                  </a:cubicBezTo>
                  <a:lnTo>
                    <a:pt x="0" y="48578"/>
                  </a:lnTo>
                  <a:cubicBezTo>
                    <a:pt x="0" y="122987"/>
                    <a:pt x="45206" y="148590"/>
                    <a:pt x="88525" y="148590"/>
                  </a:cubicBezTo>
                  <a:cubicBezTo>
                    <a:pt x="147447" y="148904"/>
                    <a:pt x="200368" y="128930"/>
                    <a:pt x="229314" y="77153"/>
                  </a:cubicBezTo>
                  <a:cubicBezTo>
                    <a:pt x="245688" y="75709"/>
                    <a:pt x="262118" y="55650"/>
                    <a:pt x="271462" y="42005"/>
                  </a:cubicBezTo>
                </a:path>
              </a:pathLst>
            </a:custGeom>
            <a:noFill/>
            <a:ln w="19050">
              <a:solidFill>
                <a:srgbClr val="FFFFFF"/>
              </a:solidFill>
            </a:ln>
          </p:spPr>
        </p:sp>
        <p:sp>
          <p:nvSpPr>
            <p:cNvPr id="51" name="Freeform 51"/>
            <p:cNvSpPr/>
            <p:nvPr/>
          </p:nvSpPr>
          <p:spPr>
            <a:xfrm>
              <a:off x="8586788" y="3000375"/>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FFFFFF"/>
              </a:solidFill>
            </a:ln>
          </p:spPr>
        </p:sp>
        <p:sp>
          <p:nvSpPr>
            <p:cNvPr id="52" name="Freeform 52"/>
            <p:cNvSpPr/>
            <p:nvPr/>
          </p:nvSpPr>
          <p:spPr>
            <a:xfrm>
              <a:off x="8629650" y="3000375"/>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FFFFFF"/>
              </a:solidFill>
            </a:ln>
          </p:spPr>
        </p:sp>
        <p:sp>
          <p:nvSpPr>
            <p:cNvPr id="53" name="Freeform 53"/>
            <p:cNvSpPr/>
            <p:nvPr/>
          </p:nvSpPr>
          <p:spPr>
            <a:xfrm>
              <a:off x="8672512" y="3000375"/>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FFFFFF"/>
              </a:solidFill>
            </a:ln>
          </p:spPr>
        </p:sp>
        <p:sp>
          <p:nvSpPr>
            <p:cNvPr id="54" name="Freeform 54"/>
            <p:cNvSpPr/>
            <p:nvPr/>
          </p:nvSpPr>
          <p:spPr>
            <a:xfrm>
              <a:off x="8629650" y="2957512"/>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FFFFFF"/>
              </a:solidFill>
            </a:ln>
          </p:spPr>
        </p:sp>
        <p:sp>
          <p:nvSpPr>
            <p:cNvPr id="55" name="Freeform 55"/>
            <p:cNvSpPr/>
            <p:nvPr/>
          </p:nvSpPr>
          <p:spPr>
            <a:xfrm>
              <a:off x="8672512" y="2957512"/>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FFFFFF"/>
              </a:solidFill>
            </a:ln>
          </p:spPr>
        </p:sp>
        <p:sp>
          <p:nvSpPr>
            <p:cNvPr id="56" name="Freeform 56"/>
            <p:cNvSpPr/>
            <p:nvPr/>
          </p:nvSpPr>
          <p:spPr>
            <a:xfrm>
              <a:off x="8672512" y="2914650"/>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FFFFFF"/>
              </a:solidFill>
            </a:ln>
          </p:spPr>
        </p:sp>
        <p:sp>
          <p:nvSpPr>
            <p:cNvPr id="57" name="Freeform 57"/>
            <p:cNvSpPr/>
            <p:nvPr/>
          </p:nvSpPr>
          <p:spPr>
            <a:xfrm>
              <a:off x="8580658" y="3103531"/>
              <a:ext cx="42262" cy="11144"/>
            </a:xfrm>
            <a:custGeom>
              <a:avLst/>
              <a:gdLst/>
              <a:ahLst/>
              <a:cxnLst/>
              <a:rect l="l" t="t" r="r" b="b"/>
              <a:pathLst>
                <a:path w="42262" h="11144">
                  <a:moveTo>
                    <a:pt x="0" y="11144"/>
                  </a:moveTo>
                  <a:cubicBezTo>
                    <a:pt x="21431" y="11144"/>
                    <a:pt x="29247" y="10087"/>
                    <a:pt x="42262" y="0"/>
                  </a:cubicBezTo>
                </a:path>
              </a:pathLst>
            </a:custGeom>
            <a:noFill/>
            <a:ln w="19050">
              <a:solidFill>
                <a:srgbClr val="FFFFFF"/>
              </a:solidFill>
            </a:ln>
          </p:spPr>
        </p:sp>
        <p:sp>
          <p:nvSpPr>
            <p:cNvPr id="58" name="Freeform 58"/>
            <p:cNvSpPr/>
            <p:nvPr/>
          </p:nvSpPr>
          <p:spPr>
            <a:xfrm>
              <a:off x="8658225" y="3086100"/>
              <a:ext cx="9525" cy="9525"/>
            </a:xfrm>
            <a:custGeom>
              <a:avLst/>
              <a:gdLst/>
              <a:ahLst/>
              <a:cxnLst/>
              <a:rect l="l" t="t" r="r" b="b"/>
              <a:pathLst>
                <a:path w="9525" h="9525">
                  <a:moveTo>
                    <a:pt x="0" y="0"/>
                  </a:moveTo>
                  <a:lnTo>
                    <a:pt x="0" y="143"/>
                  </a:lnTo>
                </a:path>
              </a:pathLst>
            </a:custGeom>
            <a:noFill/>
            <a:ln w="19050">
              <a:solidFill>
                <a:srgbClr val="FFFFFF"/>
              </a:solidFill>
            </a:ln>
          </p:spPr>
        </p:sp>
      </p:grpSp>
      <p:sp>
        <p:nvSpPr>
          <p:cNvPr id="60" name="TextBox 60"/>
          <p:cNvSpPr txBox="1"/>
          <p:nvPr/>
        </p:nvSpPr>
        <p:spPr>
          <a:xfrm>
            <a:off x="8098155" y="3549968"/>
            <a:ext cx="148032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Docker Compose</a:t>
            </a:r>
          </a:p>
        </p:txBody>
      </p:sp>
      <p:sp>
        <p:nvSpPr>
          <p:cNvPr id="61" name="TextBox 61"/>
          <p:cNvSpPr txBox="1"/>
          <p:nvPr/>
        </p:nvSpPr>
        <p:spPr>
          <a:xfrm>
            <a:off x="8081962" y="3850481"/>
            <a:ext cx="128123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Nginx, FE, BE, DB</a:t>
            </a:r>
          </a:p>
        </p:txBody>
      </p:sp>
      <p:sp>
        <p:nvSpPr>
          <p:cNvPr id="62" name="TextBox 62"/>
          <p:cNvSpPr txBox="1"/>
          <p:nvPr/>
        </p:nvSpPr>
        <p:spPr>
          <a:xfrm>
            <a:off x="8311515" y="4115752"/>
            <a:ext cx="1181814"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internal network</a:t>
            </a:r>
          </a:p>
        </p:txBody>
      </p:sp>
      <p:sp>
        <p:nvSpPr>
          <p:cNvPr id="63" name="Polygon 63"/>
          <p:cNvSpPr/>
          <p:nvPr/>
        </p:nvSpPr>
        <p:spPr>
          <a:xfrm>
            <a:off x="9772650" y="2895600"/>
            <a:ext cx="314325" cy="266700"/>
          </a:xfrm>
          <a:custGeom>
            <a:avLst/>
            <a:gdLst/>
            <a:ahLst/>
            <a:cxnLst/>
            <a:rect l="l" t="t" r="r" b="b"/>
            <a:pathLst>
              <a:path w="314325" h="266700">
                <a:moveTo>
                  <a:pt x="0" y="0"/>
                </a:moveTo>
                <a:lnTo>
                  <a:pt x="314325" y="133350"/>
                </a:lnTo>
                <a:lnTo>
                  <a:pt x="0" y="266700"/>
                </a:lnTo>
                <a:close/>
              </a:path>
            </a:pathLst>
          </a:custGeom>
          <a:solidFill>
            <a:srgbClr val="CBD5E1"/>
          </a:solidFill>
          <a:ln>
            <a:noFill/>
          </a:ln>
        </p:spPr>
      </p:sp>
      <p:sp>
        <p:nvSpPr>
          <p:cNvPr id="64" name="Ellipse 64"/>
          <p:cNvSpPr/>
          <p:nvPr/>
        </p:nvSpPr>
        <p:spPr>
          <a:xfrm>
            <a:off x="10020300" y="2686050"/>
            <a:ext cx="685800" cy="685800"/>
          </a:xfrm>
          <a:prstGeom prst="ellipse">
            <a:avLst/>
          </a:prstGeom>
          <a:solidFill>
            <a:srgbClr val="00A676"/>
          </a:solidFill>
          <a:ln>
            <a:noFill/>
          </a:ln>
        </p:spPr>
      </p:sp>
      <p:sp>
        <p:nvSpPr>
          <p:cNvPr id="65" name="Freeform 65"/>
          <p:cNvSpPr/>
          <p:nvPr/>
        </p:nvSpPr>
        <p:spPr>
          <a:xfrm>
            <a:off x="10263188" y="2957512"/>
            <a:ext cx="214312" cy="142875"/>
          </a:xfrm>
          <a:custGeom>
            <a:avLst/>
            <a:gdLst/>
            <a:ahLst/>
            <a:cxnLst/>
            <a:rect l="l" t="t" r="r" b="b"/>
            <a:pathLst>
              <a:path w="214312" h="142875">
                <a:moveTo>
                  <a:pt x="0" y="71438"/>
                </a:moveTo>
                <a:lnTo>
                  <a:pt x="71438" y="142875"/>
                </a:lnTo>
                <a:lnTo>
                  <a:pt x="214312" y="0"/>
                </a:lnTo>
              </a:path>
            </a:pathLst>
          </a:custGeom>
          <a:noFill/>
          <a:ln w="19050">
            <a:solidFill>
              <a:srgbClr val="FFFFFF"/>
            </a:solidFill>
          </a:ln>
        </p:spPr>
      </p:sp>
      <p:sp>
        <p:nvSpPr>
          <p:cNvPr id="66" name="TextBox 66"/>
          <p:cNvSpPr txBox="1"/>
          <p:nvPr/>
        </p:nvSpPr>
        <p:spPr>
          <a:xfrm>
            <a:off x="9965055" y="3549968"/>
            <a:ext cx="66751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Go-live</a:t>
            </a:r>
          </a:p>
        </p:txBody>
      </p:sp>
      <p:sp>
        <p:nvSpPr>
          <p:cNvPr id="67" name="TextBox 67"/>
          <p:cNvSpPr txBox="1"/>
          <p:nvPr/>
        </p:nvSpPr>
        <p:spPr>
          <a:xfrm>
            <a:off x="9664065" y="3858578"/>
            <a:ext cx="985790"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HTTP/2 200 OK</a:t>
            </a:r>
          </a:p>
        </p:txBody>
      </p:sp>
      <p:sp>
        <p:nvSpPr>
          <p:cNvPr id="68" name="TextBox 68"/>
          <p:cNvSpPr txBox="1"/>
          <p:nvPr/>
        </p:nvSpPr>
        <p:spPr>
          <a:xfrm>
            <a:off x="9606915" y="4115752"/>
            <a:ext cx="111880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/api/health = ok</a:t>
            </a:r>
          </a:p>
        </p:txBody>
      </p:sp>
      <p:sp>
        <p:nvSpPr>
          <p:cNvPr id="69" name="Rectangle 69"/>
          <p:cNvSpPr/>
          <p:nvPr/>
        </p:nvSpPr>
        <p:spPr>
          <a:xfrm>
            <a:off x="762000" y="5105400"/>
            <a:ext cx="3333750" cy="876300"/>
          </a:xfrm>
          <a:prstGeom prst="roundRect">
            <a:avLst>
              <a:gd name="adj" fmla="val 19565"/>
            </a:avLst>
          </a:prstGeom>
          <a:solidFill>
            <a:srgbClr val="2563EB">
              <a:alpha val="8000"/>
            </a:srgbClr>
          </a:solidFill>
          <a:ln w="9525">
            <a:solidFill>
              <a:srgbClr val="2563EB"/>
            </a:solidFill>
          </a:ln>
        </p:spPr>
      </p:sp>
      <p:sp>
        <p:nvSpPr>
          <p:cNvPr id="70" name="TextBox 70"/>
          <p:cNvSpPr txBox="1"/>
          <p:nvPr/>
        </p:nvSpPr>
        <p:spPr>
          <a:xfrm>
            <a:off x="993458" y="5310664"/>
            <a:ext cx="1032110" cy="259080"/>
          </a:xfrm>
          <a:prstGeom prst="rect">
            <a:avLst/>
          </a:prstGeom>
          <a:noFill/>
          <a:ln>
            <a:noFill/>
          </a:ln>
        </p:spPr>
        <p:txBody>
          <a:bodyPr wrap="none" lIns="0" tIns="0" rIns="0" bIns="0" anchor="t" anchorCtr="0">
            <a:spAutoFit/>
          </a:bodyPr>
          <a:lstStyle/>
          <a:p>
            <a:pPr algn="l"/>
            <a:r>
              <a:rPr lang="zh-CN" sz="1275" b="1" dirty="0">
                <a:solidFill>
                  <a:srgbClr val="0F172A"/>
                </a:solidFill>
                <a:latin typeface="Arial"/>
                <a:ea typeface="Microsoft YaHei"/>
                <a:cs typeface="Arial"/>
              </a:rPr>
              <a:t>Vai trò IaaS</a:t>
            </a:r>
          </a:p>
        </p:txBody>
      </p:sp>
      <p:sp>
        <p:nvSpPr>
          <p:cNvPr id="71" name="TextBox 71"/>
          <p:cNvSpPr txBox="1"/>
          <p:nvPr/>
        </p:nvSpPr>
        <p:spPr>
          <a:xfrm>
            <a:off x="995362" y="5612606"/>
            <a:ext cx="328398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AWS cung cấp máy ảo, IP, network, firewall.</a:t>
            </a:r>
          </a:p>
        </p:txBody>
      </p:sp>
      <p:sp>
        <p:nvSpPr>
          <p:cNvPr id="72" name="Rectangle 72"/>
          <p:cNvSpPr/>
          <p:nvPr/>
        </p:nvSpPr>
        <p:spPr>
          <a:xfrm>
            <a:off x="4419600" y="5105400"/>
            <a:ext cx="3333750" cy="876300"/>
          </a:xfrm>
          <a:prstGeom prst="roundRect">
            <a:avLst>
              <a:gd name="adj" fmla="val 19565"/>
            </a:avLst>
          </a:prstGeom>
          <a:solidFill>
            <a:srgbClr val="F59E0B">
              <a:alpha val="10000"/>
            </a:srgbClr>
          </a:solidFill>
          <a:ln w="9525">
            <a:solidFill>
              <a:srgbClr val="F59E0B"/>
            </a:solidFill>
          </a:ln>
        </p:spPr>
      </p:sp>
      <p:sp>
        <p:nvSpPr>
          <p:cNvPr id="73" name="TextBox 73"/>
          <p:cNvSpPr txBox="1"/>
          <p:nvPr/>
        </p:nvSpPr>
        <p:spPr>
          <a:xfrm>
            <a:off x="4651058" y="5310664"/>
            <a:ext cx="1951500" cy="259080"/>
          </a:xfrm>
          <a:prstGeom prst="rect">
            <a:avLst/>
          </a:prstGeom>
          <a:noFill/>
          <a:ln>
            <a:noFill/>
          </a:ln>
        </p:spPr>
        <p:txBody>
          <a:bodyPr wrap="none" lIns="0" tIns="0" rIns="0" bIns="0" anchor="t" anchorCtr="0">
            <a:spAutoFit/>
          </a:bodyPr>
          <a:lstStyle/>
          <a:p>
            <a:pPr algn="l"/>
            <a:r>
              <a:rPr lang="zh-CN" sz="1275" b="1" dirty="0">
                <a:solidFill>
                  <a:srgbClr val="0F172A"/>
                </a:solidFill>
                <a:latin typeface="Arial"/>
                <a:ea typeface="Microsoft YaHei"/>
                <a:cs typeface="Arial"/>
              </a:rPr>
              <a:t>Phần nhóm tự vận hành</a:t>
            </a:r>
          </a:p>
        </p:txBody>
      </p:sp>
      <p:sp>
        <p:nvSpPr>
          <p:cNvPr id="74" name="TextBox 74"/>
          <p:cNvSpPr txBox="1"/>
          <p:nvPr/>
        </p:nvSpPr>
        <p:spPr>
          <a:xfrm>
            <a:off x="4652962" y="5612606"/>
            <a:ext cx="304395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OS, Docker, Nginx, SSL renewal, backup.</a:t>
            </a:r>
          </a:p>
        </p:txBody>
      </p:sp>
      <p:sp>
        <p:nvSpPr>
          <p:cNvPr id="75" name="Rectangle 75"/>
          <p:cNvSpPr/>
          <p:nvPr/>
        </p:nvSpPr>
        <p:spPr>
          <a:xfrm>
            <a:off x="8077200" y="5105400"/>
            <a:ext cx="3333750" cy="876300"/>
          </a:xfrm>
          <a:prstGeom prst="roundRect">
            <a:avLst>
              <a:gd name="adj" fmla="val 19565"/>
            </a:avLst>
          </a:prstGeom>
          <a:solidFill>
            <a:srgbClr val="00A676">
              <a:alpha val="8000"/>
            </a:srgbClr>
          </a:solidFill>
          <a:ln w="9525">
            <a:solidFill>
              <a:srgbClr val="00A676"/>
            </a:solidFill>
          </a:ln>
        </p:spPr>
      </p:sp>
      <p:sp>
        <p:nvSpPr>
          <p:cNvPr id="76" name="TextBox 76"/>
          <p:cNvSpPr txBox="1"/>
          <p:nvPr/>
        </p:nvSpPr>
        <p:spPr>
          <a:xfrm>
            <a:off x="8308658" y="5310664"/>
            <a:ext cx="1523046" cy="259080"/>
          </a:xfrm>
          <a:prstGeom prst="rect">
            <a:avLst/>
          </a:prstGeom>
          <a:noFill/>
          <a:ln>
            <a:noFill/>
          </a:ln>
        </p:spPr>
        <p:txBody>
          <a:bodyPr wrap="none" lIns="0" tIns="0" rIns="0" bIns="0" anchor="t" anchorCtr="0">
            <a:spAutoFit/>
          </a:bodyPr>
          <a:lstStyle/>
          <a:p>
            <a:pPr algn="l"/>
            <a:r>
              <a:rPr lang="zh-CN" sz="1275" b="1" dirty="0">
                <a:solidFill>
                  <a:srgbClr val="0F172A"/>
                </a:solidFill>
                <a:latin typeface="Arial"/>
                <a:ea typeface="Microsoft YaHei"/>
                <a:cs typeface="Arial"/>
              </a:rPr>
              <a:t>Kết quả công khai</a:t>
            </a:r>
          </a:p>
        </p:txBody>
      </p:sp>
      <p:sp>
        <p:nvSpPr>
          <p:cNvPr id="77" name="TextBox 77"/>
          <p:cNvSpPr txBox="1"/>
          <p:nvPr/>
        </p:nvSpPr>
        <p:spPr>
          <a:xfrm>
            <a:off x="8310562" y="5612606"/>
            <a:ext cx="201632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Consolas"/>
                <a:ea typeface="Microsoft YaHei"/>
                <a:cs typeface="Consolas"/>
              </a:rPr>
              <a:t>https://pkiresearch.id.vn</a:t>
            </a:r>
          </a:p>
        </p:txBody>
      </p:sp>
      <p:sp>
        <p:nvSpPr>
          <p:cNvPr id="78" name="TextBox 78"/>
          <p:cNvSpPr txBox="1"/>
          <p:nvPr/>
        </p:nvSpPr>
        <p:spPr>
          <a:xfrm>
            <a:off x="521970" y="6475095"/>
            <a:ext cx="1499044"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07 · AWS Deployment Flow</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8572152"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Thiết kế container hóa bằng Docker Compose</a:t>
            </a:r>
          </a:p>
        </p:txBody>
      </p:sp>
      <p:sp>
        <p:nvSpPr>
          <p:cNvPr id="4" name="TextBox 4"/>
          <p:cNvSpPr txBox="1"/>
          <p:nvPr/>
        </p:nvSpPr>
        <p:spPr>
          <a:xfrm>
            <a:off x="535305" y="921068"/>
            <a:ext cx="770324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Mỗi thành phần chạy độc lập, giao tiếp qua network nội bộ, chỉ gateway mở ra Internet.</a:t>
            </a:r>
          </a:p>
        </p:txBody>
      </p:sp>
      <p:sp>
        <p:nvSpPr>
          <p:cNvPr id="5" name="Rectangle 5"/>
          <p:cNvSpPr/>
          <p:nvPr/>
        </p:nvSpPr>
        <p:spPr>
          <a:xfrm>
            <a:off x="723900" y="1428750"/>
            <a:ext cx="10744200" cy="4095750"/>
          </a:xfrm>
          <a:prstGeom prst="roundRect">
            <a:avLst>
              <a:gd name="adj" fmla="val 6512"/>
            </a:avLst>
          </a:prstGeom>
          <a:solidFill>
            <a:srgbClr val="FFFFFF"/>
          </a:solidFill>
          <a:ln w="14288">
            <a:solidFill>
              <a:srgbClr val="CBD5E1"/>
            </a:solidFill>
          </a:ln>
        </p:spPr>
      </p:sp>
      <p:sp>
        <p:nvSpPr>
          <p:cNvPr id="6" name="Rectangle 6"/>
          <p:cNvSpPr/>
          <p:nvPr/>
        </p:nvSpPr>
        <p:spPr>
          <a:xfrm>
            <a:off x="990600" y="1733550"/>
            <a:ext cx="10210800" cy="3409950"/>
          </a:xfrm>
          <a:prstGeom prst="roundRect">
            <a:avLst>
              <a:gd name="adj" fmla="val 6704"/>
            </a:avLst>
          </a:prstGeom>
          <a:solidFill>
            <a:srgbClr val="2563EB">
              <a:alpha val="6000"/>
            </a:srgbClr>
          </a:solidFill>
          <a:ln w="9525">
            <a:solidFill>
              <a:srgbClr val="2563EB"/>
            </a:solidFill>
            <a:custDash>
              <a:ds d="800000" sp="800000"/>
            </a:custDash>
          </a:ln>
        </p:spPr>
      </p:sp>
      <p:grpSp>
        <p:nvGrpSpPr>
          <p:cNvPr id="15" name="Group 15"/>
          <p:cNvGrpSpPr/>
          <p:nvPr/>
        </p:nvGrpSpPr>
        <p:grpSpPr>
          <a:xfrm>
            <a:off x="1259681" y="2002631"/>
            <a:ext cx="242887" cy="256382"/>
            <a:chOff x="1259681" y="2002631"/>
            <a:chExt cx="242887" cy="256382"/>
          </a:xfrm>
        </p:grpSpPr>
        <p:sp>
          <p:nvSpPr>
            <p:cNvPr id="7" name="Freeform 7"/>
            <p:cNvSpPr/>
            <p:nvPr/>
          </p:nvSpPr>
          <p:spPr>
            <a:xfrm>
              <a:off x="1300162" y="2002631"/>
              <a:ext cx="161925" cy="161925"/>
            </a:xfrm>
            <a:custGeom>
              <a:avLst/>
              <a:gdLst/>
              <a:ahLst/>
              <a:cxnLst/>
              <a:rect l="l" t="t" r="r" b="b"/>
              <a:pathLst>
                <a:path w="161925" h="161925">
                  <a:moveTo>
                    <a:pt x="0" y="80962"/>
                  </a:moveTo>
                  <a:cubicBezTo>
                    <a:pt x="0" y="125677"/>
                    <a:pt x="36248" y="161925"/>
                    <a:pt x="80962" y="161925"/>
                  </a:cubicBezTo>
                  <a:cubicBezTo>
                    <a:pt x="125677" y="161925"/>
                    <a:pt x="161925" y="125677"/>
                    <a:pt x="161925" y="80962"/>
                  </a:cubicBezTo>
                  <a:cubicBezTo>
                    <a:pt x="161925" y="36248"/>
                    <a:pt x="125677" y="0"/>
                    <a:pt x="80962" y="0"/>
                  </a:cubicBezTo>
                  <a:cubicBezTo>
                    <a:pt x="36248" y="0"/>
                    <a:pt x="0" y="36248"/>
                    <a:pt x="0" y="80962"/>
                  </a:cubicBezTo>
                </a:path>
              </a:pathLst>
            </a:custGeom>
            <a:noFill/>
            <a:ln w="19050">
              <a:solidFill>
                <a:srgbClr val="2563EB"/>
              </a:solidFill>
            </a:ln>
          </p:spPr>
        </p:sp>
        <p:sp>
          <p:nvSpPr>
            <p:cNvPr id="8" name="Freeform 8"/>
            <p:cNvSpPr/>
            <p:nvPr/>
          </p:nvSpPr>
          <p:spPr>
            <a:xfrm>
              <a:off x="1381125" y="2002631"/>
              <a:ext cx="26988" cy="161925"/>
            </a:xfrm>
            <a:custGeom>
              <a:avLst/>
              <a:gdLst/>
              <a:ahLst/>
              <a:cxnLst/>
              <a:rect l="l" t="t" r="r" b="b"/>
              <a:pathLst>
                <a:path w="26988" h="161925">
                  <a:moveTo>
                    <a:pt x="0" y="0"/>
                  </a:moveTo>
                  <a:cubicBezTo>
                    <a:pt x="17987" y="4493"/>
                    <a:pt x="26988" y="31481"/>
                    <a:pt x="26988" y="80962"/>
                  </a:cubicBezTo>
                  <a:cubicBezTo>
                    <a:pt x="26988" y="130444"/>
                    <a:pt x="17987" y="157432"/>
                    <a:pt x="0" y="161925"/>
                  </a:cubicBezTo>
                </a:path>
              </a:pathLst>
            </a:custGeom>
            <a:noFill/>
            <a:ln w="19050">
              <a:solidFill>
                <a:srgbClr val="2563EB"/>
              </a:solidFill>
            </a:ln>
          </p:spPr>
        </p:sp>
        <p:sp>
          <p:nvSpPr>
            <p:cNvPr id="9" name="Freeform 9"/>
            <p:cNvSpPr/>
            <p:nvPr/>
          </p:nvSpPr>
          <p:spPr>
            <a:xfrm>
              <a:off x="1354138" y="2002631"/>
              <a:ext cx="26988" cy="161925"/>
            </a:xfrm>
            <a:custGeom>
              <a:avLst/>
              <a:gdLst/>
              <a:ahLst/>
              <a:cxnLst/>
              <a:rect l="l" t="t" r="r" b="b"/>
              <a:pathLst>
                <a:path w="26988" h="161925">
                  <a:moveTo>
                    <a:pt x="26988" y="0"/>
                  </a:moveTo>
                  <a:cubicBezTo>
                    <a:pt x="9000" y="4493"/>
                    <a:pt x="0" y="31481"/>
                    <a:pt x="0" y="80962"/>
                  </a:cubicBezTo>
                  <a:cubicBezTo>
                    <a:pt x="0" y="130444"/>
                    <a:pt x="9000" y="157432"/>
                    <a:pt x="26988" y="161925"/>
                  </a:cubicBezTo>
                </a:path>
              </a:pathLst>
            </a:custGeom>
            <a:noFill/>
            <a:ln w="19050">
              <a:solidFill>
                <a:srgbClr val="2563EB"/>
              </a:solidFill>
            </a:ln>
          </p:spPr>
        </p:sp>
        <p:sp>
          <p:nvSpPr>
            <p:cNvPr id="10" name="Freeform 10"/>
            <p:cNvSpPr/>
            <p:nvPr/>
          </p:nvSpPr>
          <p:spPr>
            <a:xfrm>
              <a:off x="1300162" y="2083594"/>
              <a:ext cx="161925" cy="9525"/>
            </a:xfrm>
            <a:custGeom>
              <a:avLst/>
              <a:gdLst/>
              <a:ahLst/>
              <a:cxnLst/>
              <a:rect l="l" t="t" r="r" b="b"/>
              <a:pathLst>
                <a:path w="161925" h="9525">
                  <a:moveTo>
                    <a:pt x="0" y="0"/>
                  </a:moveTo>
                  <a:lnTo>
                    <a:pt x="161925" y="0"/>
                  </a:lnTo>
                </a:path>
              </a:pathLst>
            </a:custGeom>
            <a:noFill/>
            <a:ln w="19050">
              <a:solidFill>
                <a:srgbClr val="2563EB"/>
              </a:solidFill>
            </a:ln>
          </p:spPr>
        </p:sp>
        <p:sp>
          <p:nvSpPr>
            <p:cNvPr id="11" name="Freeform 11"/>
            <p:cNvSpPr/>
            <p:nvPr/>
          </p:nvSpPr>
          <p:spPr>
            <a:xfrm>
              <a:off x="1259681" y="2232025"/>
              <a:ext cx="94456" cy="9525"/>
            </a:xfrm>
            <a:custGeom>
              <a:avLst/>
              <a:gdLst/>
              <a:ahLst/>
              <a:cxnLst/>
              <a:rect l="l" t="t" r="r" b="b"/>
              <a:pathLst>
                <a:path w="94456" h="9525">
                  <a:moveTo>
                    <a:pt x="0" y="0"/>
                  </a:moveTo>
                  <a:lnTo>
                    <a:pt x="94456" y="0"/>
                  </a:lnTo>
                </a:path>
              </a:pathLst>
            </a:custGeom>
            <a:noFill/>
            <a:ln w="19050">
              <a:solidFill>
                <a:srgbClr val="2563EB"/>
              </a:solidFill>
            </a:ln>
          </p:spPr>
        </p:sp>
        <p:sp>
          <p:nvSpPr>
            <p:cNvPr id="12" name="Freeform 12"/>
            <p:cNvSpPr/>
            <p:nvPr/>
          </p:nvSpPr>
          <p:spPr>
            <a:xfrm>
              <a:off x="1408112" y="2232025"/>
              <a:ext cx="94456" cy="9525"/>
            </a:xfrm>
            <a:custGeom>
              <a:avLst/>
              <a:gdLst/>
              <a:ahLst/>
              <a:cxnLst/>
              <a:rect l="l" t="t" r="r" b="b"/>
              <a:pathLst>
                <a:path w="94456" h="9525">
                  <a:moveTo>
                    <a:pt x="0" y="0"/>
                  </a:moveTo>
                  <a:lnTo>
                    <a:pt x="94456" y="0"/>
                  </a:lnTo>
                </a:path>
              </a:pathLst>
            </a:custGeom>
            <a:noFill/>
            <a:ln w="19050">
              <a:solidFill>
                <a:srgbClr val="2563EB"/>
              </a:solidFill>
            </a:ln>
          </p:spPr>
        </p:sp>
        <p:sp>
          <p:nvSpPr>
            <p:cNvPr id="13" name="Freeform 13"/>
            <p:cNvSpPr/>
            <p:nvPr/>
          </p:nvSpPr>
          <p:spPr>
            <a:xfrm>
              <a:off x="1354138" y="2205038"/>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19050">
              <a:solidFill>
                <a:srgbClr val="2563EB"/>
              </a:solidFill>
            </a:ln>
          </p:spPr>
        </p:sp>
        <p:sp>
          <p:nvSpPr>
            <p:cNvPr id="14" name="Freeform 14"/>
            <p:cNvSpPr/>
            <p:nvPr/>
          </p:nvSpPr>
          <p:spPr>
            <a:xfrm>
              <a:off x="1381125" y="2164556"/>
              <a:ext cx="9525" cy="40481"/>
            </a:xfrm>
            <a:custGeom>
              <a:avLst/>
              <a:gdLst/>
              <a:ahLst/>
              <a:cxnLst/>
              <a:rect l="l" t="t" r="r" b="b"/>
              <a:pathLst>
                <a:path w="9525" h="40481">
                  <a:moveTo>
                    <a:pt x="0" y="0"/>
                  </a:moveTo>
                  <a:lnTo>
                    <a:pt x="0" y="40481"/>
                  </a:lnTo>
                </a:path>
              </a:pathLst>
            </a:custGeom>
            <a:noFill/>
            <a:ln w="19050">
              <a:solidFill>
                <a:srgbClr val="2563EB"/>
              </a:solidFill>
            </a:ln>
          </p:spPr>
        </p:sp>
      </p:grpSp>
      <p:sp>
        <p:nvSpPr>
          <p:cNvPr id="16" name="TextBox 16"/>
          <p:cNvSpPr txBox="1"/>
          <p:nvPr/>
        </p:nvSpPr>
        <p:spPr>
          <a:xfrm>
            <a:off x="1638300" y="2028825"/>
            <a:ext cx="350353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minddeck internal Docker network</a:t>
            </a:r>
          </a:p>
        </p:txBody>
      </p:sp>
      <p:sp>
        <p:nvSpPr>
          <p:cNvPr id="17" name="Rectangle 17"/>
          <p:cNvSpPr/>
          <p:nvPr/>
        </p:nvSpPr>
        <p:spPr>
          <a:xfrm>
            <a:off x="1257300" y="2838450"/>
            <a:ext cx="1657350" cy="1066800"/>
          </a:xfrm>
          <a:prstGeom prst="roundRect">
            <a:avLst>
              <a:gd name="adj" fmla="val 16071"/>
            </a:avLst>
          </a:prstGeom>
          <a:solidFill>
            <a:srgbClr val="0F172A"/>
          </a:solidFill>
          <a:ln>
            <a:noFill/>
          </a:ln>
        </p:spPr>
      </p:sp>
      <p:grpSp>
        <p:nvGrpSpPr>
          <p:cNvPr id="23" name="Group 23"/>
          <p:cNvGrpSpPr/>
          <p:nvPr/>
        </p:nvGrpSpPr>
        <p:grpSpPr>
          <a:xfrm>
            <a:off x="1507331" y="3088481"/>
            <a:ext cx="242888" cy="242888"/>
            <a:chOff x="1507331" y="3088481"/>
            <a:chExt cx="242888" cy="242888"/>
          </a:xfrm>
        </p:grpSpPr>
        <p:sp>
          <p:nvSpPr>
            <p:cNvPr id="18" name="Freeform 18"/>
            <p:cNvSpPr/>
            <p:nvPr/>
          </p:nvSpPr>
          <p:spPr>
            <a:xfrm>
              <a:off x="1507331" y="3088481"/>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FFFFFF"/>
              </a:solidFill>
            </a:ln>
          </p:spPr>
        </p:sp>
        <p:sp>
          <p:nvSpPr>
            <p:cNvPr id="19" name="Freeform 19"/>
            <p:cNvSpPr/>
            <p:nvPr/>
          </p:nvSpPr>
          <p:spPr>
            <a:xfrm>
              <a:off x="1515428" y="3169444"/>
              <a:ext cx="226695" cy="9525"/>
            </a:xfrm>
            <a:custGeom>
              <a:avLst/>
              <a:gdLst/>
              <a:ahLst/>
              <a:cxnLst/>
              <a:rect l="l" t="t" r="r" b="b"/>
              <a:pathLst>
                <a:path w="226695" h="9525">
                  <a:moveTo>
                    <a:pt x="0" y="0"/>
                  </a:moveTo>
                  <a:lnTo>
                    <a:pt x="226695" y="0"/>
                  </a:lnTo>
                </a:path>
              </a:pathLst>
            </a:custGeom>
            <a:noFill/>
            <a:ln w="19050">
              <a:solidFill>
                <a:srgbClr val="FFFFFF"/>
              </a:solidFill>
            </a:ln>
          </p:spPr>
        </p:sp>
        <p:sp>
          <p:nvSpPr>
            <p:cNvPr id="20" name="Freeform 20"/>
            <p:cNvSpPr/>
            <p:nvPr/>
          </p:nvSpPr>
          <p:spPr>
            <a:xfrm>
              <a:off x="1515428" y="3250406"/>
              <a:ext cx="226695" cy="9525"/>
            </a:xfrm>
            <a:custGeom>
              <a:avLst/>
              <a:gdLst/>
              <a:ahLst/>
              <a:cxnLst/>
              <a:rect l="l" t="t" r="r" b="b"/>
              <a:pathLst>
                <a:path w="226695" h="9525">
                  <a:moveTo>
                    <a:pt x="0" y="0"/>
                  </a:moveTo>
                  <a:lnTo>
                    <a:pt x="226695" y="0"/>
                  </a:lnTo>
                </a:path>
              </a:pathLst>
            </a:custGeom>
            <a:noFill/>
            <a:ln w="19050">
              <a:solidFill>
                <a:srgbClr val="FFFFFF"/>
              </a:solidFill>
            </a:ln>
          </p:spPr>
        </p:sp>
        <p:sp>
          <p:nvSpPr>
            <p:cNvPr id="21" name="Freeform 21"/>
            <p:cNvSpPr/>
            <p:nvPr/>
          </p:nvSpPr>
          <p:spPr>
            <a:xfrm>
              <a:off x="1575649" y="3088481"/>
              <a:ext cx="46379" cy="242888"/>
            </a:xfrm>
            <a:custGeom>
              <a:avLst/>
              <a:gdLst/>
              <a:ahLst/>
              <a:cxnLst/>
              <a:rect l="l" t="t" r="r" b="b"/>
              <a:pathLst>
                <a:path w="46379" h="242888">
                  <a:moveTo>
                    <a:pt x="46379" y="0"/>
                  </a:moveTo>
                  <a:cubicBezTo>
                    <a:pt x="0" y="74321"/>
                    <a:pt x="0" y="168567"/>
                    <a:pt x="46379" y="242888"/>
                  </a:cubicBezTo>
                </a:path>
              </a:pathLst>
            </a:custGeom>
            <a:noFill/>
            <a:ln w="19050">
              <a:solidFill>
                <a:srgbClr val="FFFFFF"/>
              </a:solidFill>
            </a:ln>
          </p:spPr>
        </p:sp>
        <p:sp>
          <p:nvSpPr>
            <p:cNvPr id="22" name="Freeform 22"/>
            <p:cNvSpPr/>
            <p:nvPr/>
          </p:nvSpPr>
          <p:spPr>
            <a:xfrm>
              <a:off x="1635522" y="3088481"/>
              <a:ext cx="46379" cy="242888"/>
            </a:xfrm>
            <a:custGeom>
              <a:avLst/>
              <a:gdLst/>
              <a:ahLst/>
              <a:cxnLst/>
              <a:rect l="l" t="t" r="r" b="b"/>
              <a:pathLst>
                <a:path w="46379" h="242888">
                  <a:moveTo>
                    <a:pt x="0" y="0"/>
                  </a:moveTo>
                  <a:cubicBezTo>
                    <a:pt x="46379" y="74321"/>
                    <a:pt x="46379" y="168567"/>
                    <a:pt x="0" y="242888"/>
                  </a:cubicBezTo>
                </a:path>
              </a:pathLst>
            </a:custGeom>
            <a:noFill/>
            <a:ln w="19050">
              <a:solidFill>
                <a:srgbClr val="FFFFFF"/>
              </a:solidFill>
            </a:ln>
          </p:spPr>
        </p:sp>
      </p:grpSp>
      <p:sp>
        <p:nvSpPr>
          <p:cNvPr id="24" name="TextBox 24"/>
          <p:cNvSpPr txBox="1"/>
          <p:nvPr/>
        </p:nvSpPr>
        <p:spPr>
          <a:xfrm>
            <a:off x="1868805" y="3130868"/>
            <a:ext cx="81873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Internet</a:t>
            </a:r>
          </a:p>
        </p:txBody>
      </p:sp>
      <p:sp>
        <p:nvSpPr>
          <p:cNvPr id="25" name="TextBox 25"/>
          <p:cNvSpPr txBox="1"/>
          <p:nvPr/>
        </p:nvSpPr>
        <p:spPr>
          <a:xfrm>
            <a:off x="1453515" y="3525202"/>
            <a:ext cx="1006793"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Consolas"/>
                <a:ea typeface="Microsoft YaHei"/>
                <a:cs typeface="Consolas"/>
              </a:rPr>
              <a:t>80 / 443 public</a:t>
            </a:r>
          </a:p>
        </p:txBody>
      </p:sp>
      <p:sp>
        <p:nvSpPr>
          <p:cNvPr id="26" name="Polygon 26"/>
          <p:cNvSpPr/>
          <p:nvPr/>
        </p:nvSpPr>
        <p:spPr>
          <a:xfrm>
            <a:off x="3143250" y="3238500"/>
            <a:ext cx="333375" cy="266700"/>
          </a:xfrm>
          <a:custGeom>
            <a:avLst/>
            <a:gdLst/>
            <a:ahLst/>
            <a:cxnLst/>
            <a:rect l="l" t="t" r="r" b="b"/>
            <a:pathLst>
              <a:path w="333375" h="266700">
                <a:moveTo>
                  <a:pt x="0" y="0"/>
                </a:moveTo>
                <a:lnTo>
                  <a:pt x="333375" y="133350"/>
                </a:lnTo>
                <a:lnTo>
                  <a:pt x="0" y="266700"/>
                </a:lnTo>
                <a:close/>
              </a:path>
            </a:pathLst>
          </a:custGeom>
          <a:solidFill>
            <a:srgbClr val="CBD5E1"/>
          </a:solidFill>
          <a:ln>
            <a:noFill/>
          </a:ln>
        </p:spPr>
      </p:sp>
      <p:sp>
        <p:nvSpPr>
          <p:cNvPr id="27" name="Rectangle 27"/>
          <p:cNvSpPr/>
          <p:nvPr/>
        </p:nvSpPr>
        <p:spPr>
          <a:xfrm>
            <a:off x="3752850" y="2628900"/>
            <a:ext cx="1962150" cy="1485900"/>
          </a:xfrm>
          <a:prstGeom prst="roundRect">
            <a:avLst>
              <a:gd name="adj" fmla="val 14103"/>
            </a:avLst>
          </a:prstGeom>
          <a:solidFill>
            <a:srgbClr val="FFFFFF"/>
          </a:solidFill>
          <a:ln w="19050">
            <a:solidFill>
              <a:srgbClr val="2563EB"/>
            </a:solidFill>
          </a:ln>
        </p:spPr>
      </p:sp>
      <p:grpSp>
        <p:nvGrpSpPr>
          <p:cNvPr id="31" name="Group 31"/>
          <p:cNvGrpSpPr/>
          <p:nvPr/>
        </p:nvGrpSpPr>
        <p:grpSpPr>
          <a:xfrm>
            <a:off x="4043362" y="2938462"/>
            <a:ext cx="257176" cy="257176"/>
            <a:chOff x="4043362" y="2938462"/>
            <a:chExt cx="257176" cy="257176"/>
          </a:xfrm>
        </p:grpSpPr>
        <p:sp>
          <p:nvSpPr>
            <p:cNvPr id="28" name="Freeform 28"/>
            <p:cNvSpPr/>
            <p:nvPr/>
          </p:nvSpPr>
          <p:spPr>
            <a:xfrm>
              <a:off x="4043362" y="3138488"/>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2563EB"/>
              </a:solidFill>
            </a:ln>
          </p:spPr>
        </p:sp>
        <p:sp>
          <p:nvSpPr>
            <p:cNvPr id="29" name="Freeform 29"/>
            <p:cNvSpPr/>
            <p:nvPr/>
          </p:nvSpPr>
          <p:spPr>
            <a:xfrm>
              <a:off x="4243388" y="2938462"/>
              <a:ext cx="57150" cy="57150"/>
            </a:xfrm>
            <a:custGeom>
              <a:avLst/>
              <a:gdLst/>
              <a:ahLst/>
              <a:cxnLst/>
              <a:rect l="l" t="t" r="r" b="b"/>
              <a:pathLst>
                <a:path w="57150" h="57150">
                  <a:moveTo>
                    <a:pt x="28575" y="57150"/>
                  </a:moveTo>
                  <a:cubicBezTo>
                    <a:pt x="44357" y="57150"/>
                    <a:pt x="57150" y="44357"/>
                    <a:pt x="57150" y="28575"/>
                  </a:cubicBezTo>
                  <a:cubicBezTo>
                    <a:pt x="57150" y="12793"/>
                    <a:pt x="44357" y="0"/>
                    <a:pt x="28575" y="0"/>
                  </a:cubicBezTo>
                  <a:cubicBezTo>
                    <a:pt x="12793" y="0"/>
                    <a:pt x="0" y="12793"/>
                    <a:pt x="0" y="28575"/>
                  </a:cubicBezTo>
                  <a:cubicBezTo>
                    <a:pt x="0" y="44357"/>
                    <a:pt x="12793" y="57150"/>
                    <a:pt x="28575" y="57150"/>
                  </a:cubicBezTo>
                </a:path>
              </a:pathLst>
            </a:custGeom>
            <a:noFill/>
            <a:ln w="19050">
              <a:solidFill>
                <a:srgbClr val="2563EB"/>
              </a:solidFill>
            </a:ln>
          </p:spPr>
        </p:sp>
        <p:sp>
          <p:nvSpPr>
            <p:cNvPr id="30" name="Freeform 30"/>
            <p:cNvSpPr/>
            <p:nvPr/>
          </p:nvSpPr>
          <p:spPr>
            <a:xfrm>
              <a:off x="4071938" y="2967038"/>
              <a:ext cx="214312" cy="200025"/>
            </a:xfrm>
            <a:custGeom>
              <a:avLst/>
              <a:gdLst/>
              <a:ahLst/>
              <a:cxnLst/>
              <a:rect l="l" t="t" r="r" b="b"/>
              <a:pathLst>
                <a:path w="214312" h="200025">
                  <a:moveTo>
                    <a:pt x="85725" y="200025"/>
                  </a:moveTo>
                  <a:lnTo>
                    <a:pt x="164306" y="200025"/>
                  </a:lnTo>
                  <a:cubicBezTo>
                    <a:pt x="191924" y="200025"/>
                    <a:pt x="214312" y="177636"/>
                    <a:pt x="214312" y="150019"/>
                  </a:cubicBezTo>
                  <a:cubicBezTo>
                    <a:pt x="214312" y="122401"/>
                    <a:pt x="191924" y="100012"/>
                    <a:pt x="164306" y="100012"/>
                  </a:cubicBezTo>
                  <a:lnTo>
                    <a:pt x="50006" y="100012"/>
                  </a:lnTo>
                  <a:cubicBezTo>
                    <a:pt x="22389" y="100012"/>
                    <a:pt x="0" y="77624"/>
                    <a:pt x="0" y="50006"/>
                  </a:cubicBezTo>
                  <a:cubicBezTo>
                    <a:pt x="0" y="22389"/>
                    <a:pt x="22389" y="0"/>
                    <a:pt x="50006" y="0"/>
                  </a:cubicBezTo>
                  <a:lnTo>
                    <a:pt x="114300" y="0"/>
                  </a:lnTo>
                </a:path>
              </a:pathLst>
            </a:custGeom>
            <a:noFill/>
            <a:ln w="19050">
              <a:solidFill>
                <a:srgbClr val="2563EB"/>
              </a:solidFill>
            </a:ln>
          </p:spPr>
        </p:sp>
      </p:grpSp>
      <p:sp>
        <p:nvSpPr>
          <p:cNvPr id="32" name="TextBox 32"/>
          <p:cNvSpPr txBox="1"/>
          <p:nvPr/>
        </p:nvSpPr>
        <p:spPr>
          <a:xfrm>
            <a:off x="4457700" y="2981325"/>
            <a:ext cx="1592294"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minddeck-nginx</a:t>
            </a:r>
          </a:p>
        </p:txBody>
      </p:sp>
      <p:sp>
        <p:nvSpPr>
          <p:cNvPr id="33" name="TextBox 33"/>
          <p:cNvSpPr txBox="1"/>
          <p:nvPr/>
        </p:nvSpPr>
        <p:spPr>
          <a:xfrm>
            <a:off x="3987165" y="3391852"/>
            <a:ext cx="1111806"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0.0.0.0:80 → 80</a:t>
            </a:r>
          </a:p>
        </p:txBody>
      </p:sp>
      <p:sp>
        <p:nvSpPr>
          <p:cNvPr id="34" name="TextBox 34"/>
          <p:cNvSpPr txBox="1"/>
          <p:nvPr/>
        </p:nvSpPr>
        <p:spPr>
          <a:xfrm>
            <a:off x="3986212" y="3640931"/>
            <a:ext cx="234636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TLS termination, reverse proxy</a:t>
            </a:r>
          </a:p>
        </p:txBody>
      </p:sp>
      <p:sp>
        <p:nvSpPr>
          <p:cNvPr id="35" name="Line 35"/>
          <p:cNvSpPr/>
          <p:nvPr/>
        </p:nvSpPr>
        <p:spPr>
          <a:xfrm>
            <a:off x="5715000" y="2457450"/>
            <a:ext cx="762000" cy="666750"/>
          </a:xfrm>
          <a:custGeom>
            <a:avLst/>
            <a:gdLst/>
            <a:ahLst/>
            <a:cxnLst/>
            <a:rect l="l" t="t" r="r" b="b"/>
            <a:pathLst>
              <a:path w="762000" h="666750">
                <a:moveTo>
                  <a:pt x="0" y="666750"/>
                </a:moveTo>
                <a:lnTo>
                  <a:pt x="762000" y="0"/>
                </a:lnTo>
              </a:path>
            </a:pathLst>
          </a:custGeom>
          <a:noFill/>
          <a:ln w="28575">
            <a:solidFill>
              <a:srgbClr val="CBD5E1"/>
            </a:solidFill>
          </a:ln>
        </p:spPr>
      </p:sp>
      <p:sp>
        <p:nvSpPr>
          <p:cNvPr id="36" name="Polygon 36"/>
          <p:cNvSpPr/>
          <p:nvPr/>
        </p:nvSpPr>
        <p:spPr>
          <a:xfrm>
            <a:off x="6305550" y="2324100"/>
            <a:ext cx="323850" cy="285750"/>
          </a:xfrm>
          <a:custGeom>
            <a:avLst/>
            <a:gdLst/>
            <a:ahLst/>
            <a:cxnLst/>
            <a:rect l="l" t="t" r="r" b="b"/>
            <a:pathLst>
              <a:path w="323850" h="285750">
                <a:moveTo>
                  <a:pt x="0" y="57150"/>
                </a:moveTo>
                <a:lnTo>
                  <a:pt x="323850" y="0"/>
                </a:lnTo>
                <a:lnTo>
                  <a:pt x="152400" y="285750"/>
                </a:lnTo>
                <a:close/>
              </a:path>
            </a:pathLst>
          </a:custGeom>
          <a:solidFill>
            <a:srgbClr val="CBD5E1"/>
          </a:solidFill>
          <a:ln>
            <a:noFill/>
          </a:ln>
        </p:spPr>
      </p:sp>
      <p:sp>
        <p:nvSpPr>
          <p:cNvPr id="37" name="Rectangle 37"/>
          <p:cNvSpPr/>
          <p:nvPr/>
        </p:nvSpPr>
        <p:spPr>
          <a:xfrm>
            <a:off x="6819900" y="1943100"/>
            <a:ext cx="1943100" cy="1028700"/>
          </a:xfrm>
          <a:prstGeom prst="roundRect">
            <a:avLst>
              <a:gd name="adj" fmla="val 18519"/>
            </a:avLst>
          </a:prstGeom>
          <a:solidFill>
            <a:srgbClr val="FFFFFF"/>
          </a:solidFill>
          <a:ln w="9525">
            <a:solidFill>
              <a:srgbClr val="CBD5E1"/>
            </a:solidFill>
          </a:ln>
        </p:spPr>
      </p:sp>
      <p:grpSp>
        <p:nvGrpSpPr>
          <p:cNvPr id="41" name="Group 41"/>
          <p:cNvGrpSpPr/>
          <p:nvPr/>
        </p:nvGrpSpPr>
        <p:grpSpPr>
          <a:xfrm>
            <a:off x="7121525" y="2263775"/>
            <a:ext cx="215900" cy="215900"/>
            <a:chOff x="7121525" y="2263775"/>
            <a:chExt cx="215900" cy="215900"/>
          </a:xfrm>
        </p:grpSpPr>
        <p:sp>
          <p:nvSpPr>
            <p:cNvPr id="38" name="Freeform 38"/>
            <p:cNvSpPr/>
            <p:nvPr/>
          </p:nvSpPr>
          <p:spPr>
            <a:xfrm>
              <a:off x="7121525" y="2317750"/>
              <a:ext cx="215900" cy="9525"/>
            </a:xfrm>
            <a:custGeom>
              <a:avLst/>
              <a:gdLst/>
              <a:ahLst/>
              <a:cxnLst/>
              <a:rect l="l" t="t" r="r" b="b"/>
              <a:pathLst>
                <a:path w="215900" h="9525">
                  <a:moveTo>
                    <a:pt x="0" y="0"/>
                  </a:moveTo>
                  <a:lnTo>
                    <a:pt x="215900" y="0"/>
                  </a:lnTo>
                </a:path>
              </a:pathLst>
            </a:custGeom>
            <a:noFill/>
            <a:ln w="19050">
              <a:solidFill>
                <a:srgbClr val="2563EB"/>
              </a:solidFill>
            </a:ln>
          </p:spPr>
        </p:sp>
        <p:sp>
          <p:nvSpPr>
            <p:cNvPr id="39" name="Freeform 39"/>
            <p:cNvSpPr/>
            <p:nvPr/>
          </p:nvSpPr>
          <p:spPr>
            <a:xfrm>
              <a:off x="7121525" y="2263775"/>
              <a:ext cx="215900" cy="215900"/>
            </a:xfrm>
            <a:custGeom>
              <a:avLst/>
              <a:gdLst/>
              <a:ahLst/>
              <a:cxnLst/>
              <a:rect l="l" t="t" r="r" b="b"/>
              <a:pathLst>
                <a:path w="215900" h="215900">
                  <a:moveTo>
                    <a:pt x="0" y="26988"/>
                  </a:moveTo>
                  <a:cubicBezTo>
                    <a:pt x="0" y="12083"/>
                    <a:pt x="12083" y="0"/>
                    <a:pt x="26988" y="0"/>
                  </a:cubicBezTo>
                  <a:lnTo>
                    <a:pt x="188913" y="0"/>
                  </a:lnTo>
                  <a:cubicBezTo>
                    <a:pt x="203817" y="0"/>
                    <a:pt x="215900" y="12083"/>
                    <a:pt x="215900" y="26988"/>
                  </a:cubicBezTo>
                  <a:lnTo>
                    <a:pt x="215900" y="188913"/>
                  </a:lnTo>
                  <a:cubicBezTo>
                    <a:pt x="215900" y="203817"/>
                    <a:pt x="203817" y="215900"/>
                    <a:pt x="188913" y="215900"/>
                  </a:cubicBezTo>
                  <a:lnTo>
                    <a:pt x="26988" y="215900"/>
                  </a:lnTo>
                  <a:cubicBezTo>
                    <a:pt x="12083" y="215900"/>
                    <a:pt x="0" y="203817"/>
                    <a:pt x="0" y="188913"/>
                  </a:cubicBezTo>
                  <a:lnTo>
                    <a:pt x="0" y="26988"/>
                  </a:lnTo>
                </a:path>
              </a:pathLst>
            </a:custGeom>
            <a:noFill/>
            <a:ln w="19050">
              <a:solidFill>
                <a:srgbClr val="2563EB"/>
              </a:solidFill>
            </a:ln>
          </p:spPr>
        </p:sp>
        <p:sp>
          <p:nvSpPr>
            <p:cNvPr id="40" name="Freeform 40"/>
            <p:cNvSpPr/>
            <p:nvPr/>
          </p:nvSpPr>
          <p:spPr>
            <a:xfrm>
              <a:off x="7175500" y="2263775"/>
              <a:ext cx="9525" cy="53975"/>
            </a:xfrm>
            <a:custGeom>
              <a:avLst/>
              <a:gdLst/>
              <a:ahLst/>
              <a:cxnLst/>
              <a:rect l="l" t="t" r="r" b="b"/>
              <a:pathLst>
                <a:path w="9525" h="53975">
                  <a:moveTo>
                    <a:pt x="0" y="0"/>
                  </a:moveTo>
                  <a:lnTo>
                    <a:pt x="0" y="53975"/>
                  </a:lnTo>
                </a:path>
              </a:pathLst>
            </a:custGeom>
            <a:noFill/>
            <a:ln w="19050">
              <a:solidFill>
                <a:srgbClr val="2563EB"/>
              </a:solidFill>
            </a:ln>
          </p:spPr>
        </p:sp>
      </p:grpSp>
      <p:sp>
        <p:nvSpPr>
          <p:cNvPr id="42" name="TextBox 42"/>
          <p:cNvSpPr txBox="1"/>
          <p:nvPr/>
        </p:nvSpPr>
        <p:spPr>
          <a:xfrm>
            <a:off x="7469505" y="2273618"/>
            <a:ext cx="865994"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frontend</a:t>
            </a:r>
          </a:p>
        </p:txBody>
      </p:sp>
      <p:sp>
        <p:nvSpPr>
          <p:cNvPr id="43" name="TextBox 43"/>
          <p:cNvSpPr txBox="1"/>
          <p:nvPr/>
        </p:nvSpPr>
        <p:spPr>
          <a:xfrm>
            <a:off x="7054215" y="2601278"/>
            <a:ext cx="1237821"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React static build</a:t>
            </a:r>
          </a:p>
        </p:txBody>
      </p:sp>
      <p:sp>
        <p:nvSpPr>
          <p:cNvPr id="44" name="Line 44"/>
          <p:cNvSpPr/>
          <p:nvPr/>
        </p:nvSpPr>
        <p:spPr>
          <a:xfrm>
            <a:off x="5715000" y="3638550"/>
            <a:ext cx="762000" cy="685800"/>
          </a:xfrm>
          <a:custGeom>
            <a:avLst/>
            <a:gdLst/>
            <a:ahLst/>
            <a:cxnLst/>
            <a:rect l="l" t="t" r="r" b="b"/>
            <a:pathLst>
              <a:path w="762000" h="685800">
                <a:moveTo>
                  <a:pt x="0" y="0"/>
                </a:moveTo>
                <a:lnTo>
                  <a:pt x="762000" y="685800"/>
                </a:lnTo>
              </a:path>
            </a:pathLst>
          </a:custGeom>
          <a:noFill/>
          <a:ln w="28575">
            <a:solidFill>
              <a:srgbClr val="CBD5E1"/>
            </a:solidFill>
          </a:ln>
        </p:spPr>
      </p:sp>
      <p:sp>
        <p:nvSpPr>
          <p:cNvPr id="45" name="Polygon 45"/>
          <p:cNvSpPr/>
          <p:nvPr/>
        </p:nvSpPr>
        <p:spPr>
          <a:xfrm>
            <a:off x="6305550" y="4133850"/>
            <a:ext cx="333375" cy="285750"/>
          </a:xfrm>
          <a:custGeom>
            <a:avLst/>
            <a:gdLst/>
            <a:ahLst/>
            <a:cxnLst/>
            <a:rect l="l" t="t" r="r" b="b"/>
            <a:pathLst>
              <a:path w="333375" h="285750">
                <a:moveTo>
                  <a:pt x="133350" y="0"/>
                </a:moveTo>
                <a:lnTo>
                  <a:pt x="333375" y="285750"/>
                </a:lnTo>
                <a:lnTo>
                  <a:pt x="0" y="228600"/>
                </a:lnTo>
                <a:close/>
              </a:path>
            </a:pathLst>
          </a:custGeom>
          <a:solidFill>
            <a:srgbClr val="CBD5E1"/>
          </a:solidFill>
          <a:ln>
            <a:noFill/>
          </a:ln>
        </p:spPr>
      </p:sp>
      <p:sp>
        <p:nvSpPr>
          <p:cNvPr id="46" name="Rectangle 46"/>
          <p:cNvSpPr/>
          <p:nvPr/>
        </p:nvSpPr>
        <p:spPr>
          <a:xfrm>
            <a:off x="6819900" y="3905250"/>
            <a:ext cx="1943100" cy="1066800"/>
          </a:xfrm>
          <a:prstGeom prst="roundRect">
            <a:avLst>
              <a:gd name="adj" fmla="val 17857"/>
            </a:avLst>
          </a:prstGeom>
          <a:solidFill>
            <a:srgbClr val="FFFFFF"/>
          </a:solidFill>
          <a:ln w="9525">
            <a:solidFill>
              <a:srgbClr val="CBD5E1"/>
            </a:solidFill>
          </a:ln>
        </p:spPr>
      </p:sp>
      <p:grpSp>
        <p:nvGrpSpPr>
          <p:cNvPr id="51" name="Group 51"/>
          <p:cNvGrpSpPr/>
          <p:nvPr/>
        </p:nvGrpSpPr>
        <p:grpSpPr>
          <a:xfrm>
            <a:off x="7121525" y="4279900"/>
            <a:ext cx="225425" cy="107950"/>
            <a:chOff x="7121525" y="4279900"/>
            <a:chExt cx="225425" cy="107950"/>
          </a:xfrm>
        </p:grpSpPr>
        <p:sp>
          <p:nvSpPr>
            <p:cNvPr id="47" name="Freeform 47"/>
            <p:cNvSpPr/>
            <p:nvPr/>
          </p:nvSpPr>
          <p:spPr>
            <a:xfrm>
              <a:off x="7121525" y="4347369"/>
              <a:ext cx="67469" cy="9525"/>
            </a:xfrm>
            <a:custGeom>
              <a:avLst/>
              <a:gdLst/>
              <a:ahLst/>
              <a:cxnLst/>
              <a:rect l="l" t="t" r="r" b="b"/>
              <a:pathLst>
                <a:path w="67469" h="9525">
                  <a:moveTo>
                    <a:pt x="0" y="0"/>
                  </a:moveTo>
                  <a:lnTo>
                    <a:pt x="67469" y="0"/>
                  </a:lnTo>
                </a:path>
              </a:pathLst>
            </a:custGeom>
            <a:noFill/>
            <a:ln w="19050">
              <a:solidFill>
                <a:srgbClr val="00A676"/>
              </a:solidFill>
            </a:ln>
          </p:spPr>
        </p:sp>
        <p:sp>
          <p:nvSpPr>
            <p:cNvPr id="48" name="Freeform 48"/>
            <p:cNvSpPr/>
            <p:nvPr/>
          </p:nvSpPr>
          <p:spPr>
            <a:xfrm>
              <a:off x="7229475" y="4279900"/>
              <a:ext cx="67469" cy="107950"/>
            </a:xfrm>
            <a:custGeom>
              <a:avLst/>
              <a:gdLst/>
              <a:ahLst/>
              <a:cxnLst/>
              <a:rect l="l" t="t" r="r" b="b"/>
              <a:pathLst>
                <a:path w="67469" h="107950">
                  <a:moveTo>
                    <a:pt x="0" y="107950"/>
                  </a:moveTo>
                  <a:lnTo>
                    <a:pt x="0" y="0"/>
                  </a:lnTo>
                  <a:lnTo>
                    <a:pt x="40481" y="0"/>
                  </a:lnTo>
                  <a:cubicBezTo>
                    <a:pt x="55386" y="0"/>
                    <a:pt x="67469" y="12083"/>
                    <a:pt x="67469" y="26988"/>
                  </a:cubicBezTo>
                  <a:lnTo>
                    <a:pt x="67469" y="40481"/>
                  </a:lnTo>
                  <a:cubicBezTo>
                    <a:pt x="67469" y="55386"/>
                    <a:pt x="55386" y="67469"/>
                    <a:pt x="40481" y="67469"/>
                  </a:cubicBezTo>
                  <a:lnTo>
                    <a:pt x="0" y="67469"/>
                  </a:lnTo>
                </a:path>
              </a:pathLst>
            </a:custGeom>
            <a:noFill/>
            <a:ln w="19050">
              <a:solidFill>
                <a:srgbClr val="00A676"/>
              </a:solidFill>
            </a:ln>
          </p:spPr>
        </p:sp>
        <p:sp>
          <p:nvSpPr>
            <p:cNvPr id="49" name="Freeform 49"/>
            <p:cNvSpPr/>
            <p:nvPr/>
          </p:nvSpPr>
          <p:spPr>
            <a:xfrm>
              <a:off x="7337425" y="4279900"/>
              <a:ext cx="9525" cy="107950"/>
            </a:xfrm>
            <a:custGeom>
              <a:avLst/>
              <a:gdLst/>
              <a:ahLst/>
              <a:cxnLst/>
              <a:rect l="l" t="t" r="r" b="b"/>
              <a:pathLst>
                <a:path w="9525" h="107950">
                  <a:moveTo>
                    <a:pt x="0" y="0"/>
                  </a:moveTo>
                  <a:lnTo>
                    <a:pt x="0" y="107950"/>
                  </a:lnTo>
                </a:path>
              </a:pathLst>
            </a:custGeom>
            <a:noFill/>
            <a:ln w="19050">
              <a:solidFill>
                <a:srgbClr val="00A676"/>
              </a:solidFill>
            </a:ln>
          </p:spPr>
        </p:sp>
        <p:sp>
          <p:nvSpPr>
            <p:cNvPr id="50" name="Freeform 50"/>
            <p:cNvSpPr/>
            <p:nvPr/>
          </p:nvSpPr>
          <p:spPr>
            <a:xfrm>
              <a:off x="7121525" y="4279900"/>
              <a:ext cx="67469" cy="107950"/>
            </a:xfrm>
            <a:custGeom>
              <a:avLst/>
              <a:gdLst/>
              <a:ahLst/>
              <a:cxnLst/>
              <a:rect l="l" t="t" r="r" b="b"/>
              <a:pathLst>
                <a:path w="67469" h="107950">
                  <a:moveTo>
                    <a:pt x="67469" y="107950"/>
                  </a:moveTo>
                  <a:lnTo>
                    <a:pt x="67469" y="33734"/>
                  </a:lnTo>
                  <a:cubicBezTo>
                    <a:pt x="67469" y="15103"/>
                    <a:pt x="52365" y="0"/>
                    <a:pt x="33734" y="0"/>
                  </a:cubicBezTo>
                  <a:cubicBezTo>
                    <a:pt x="15103" y="0"/>
                    <a:pt x="0" y="15103"/>
                    <a:pt x="0" y="33734"/>
                  </a:cubicBezTo>
                  <a:lnTo>
                    <a:pt x="0" y="107950"/>
                  </a:lnTo>
                </a:path>
              </a:pathLst>
            </a:custGeom>
            <a:noFill/>
            <a:ln w="19050">
              <a:solidFill>
                <a:srgbClr val="00A676"/>
              </a:solidFill>
            </a:ln>
          </p:spPr>
        </p:sp>
      </p:grpSp>
      <p:sp>
        <p:nvSpPr>
          <p:cNvPr id="52" name="TextBox 52"/>
          <p:cNvSpPr txBox="1"/>
          <p:nvPr/>
        </p:nvSpPr>
        <p:spPr>
          <a:xfrm>
            <a:off x="7469505" y="42357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backend</a:t>
            </a:r>
          </a:p>
        </p:txBody>
      </p:sp>
      <p:sp>
        <p:nvSpPr>
          <p:cNvPr id="53" name="TextBox 53"/>
          <p:cNvSpPr txBox="1"/>
          <p:nvPr/>
        </p:nvSpPr>
        <p:spPr>
          <a:xfrm>
            <a:off x="7054215" y="4563428"/>
            <a:ext cx="957786"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FastAPI :8000</a:t>
            </a:r>
          </a:p>
        </p:txBody>
      </p:sp>
      <p:sp>
        <p:nvSpPr>
          <p:cNvPr id="54" name="Polygon 54"/>
          <p:cNvSpPr/>
          <p:nvPr/>
        </p:nvSpPr>
        <p:spPr>
          <a:xfrm>
            <a:off x="8934450" y="4324350"/>
            <a:ext cx="323850" cy="266700"/>
          </a:xfrm>
          <a:custGeom>
            <a:avLst/>
            <a:gdLst/>
            <a:ahLst/>
            <a:cxnLst/>
            <a:rect l="l" t="t" r="r" b="b"/>
            <a:pathLst>
              <a:path w="323850" h="266700">
                <a:moveTo>
                  <a:pt x="0" y="0"/>
                </a:moveTo>
                <a:lnTo>
                  <a:pt x="323850" y="133350"/>
                </a:lnTo>
                <a:lnTo>
                  <a:pt x="0" y="266700"/>
                </a:lnTo>
                <a:close/>
              </a:path>
            </a:pathLst>
          </a:custGeom>
          <a:solidFill>
            <a:srgbClr val="CBD5E1"/>
          </a:solidFill>
          <a:ln>
            <a:noFill/>
          </a:ln>
        </p:spPr>
      </p:sp>
      <p:sp>
        <p:nvSpPr>
          <p:cNvPr id="55" name="Rectangle 55"/>
          <p:cNvSpPr/>
          <p:nvPr/>
        </p:nvSpPr>
        <p:spPr>
          <a:xfrm>
            <a:off x="9486900" y="3905250"/>
            <a:ext cx="1409700" cy="1066800"/>
          </a:xfrm>
          <a:prstGeom prst="roundRect">
            <a:avLst>
              <a:gd name="adj" fmla="val 17857"/>
            </a:avLst>
          </a:prstGeom>
          <a:solidFill>
            <a:srgbClr val="FFFFFF"/>
          </a:solidFill>
          <a:ln w="9525">
            <a:solidFill>
              <a:srgbClr val="CBD5E1"/>
            </a:solidFill>
          </a:ln>
        </p:spPr>
      </p:sp>
      <p:grpSp>
        <p:nvGrpSpPr>
          <p:cNvPr id="59" name="Group 59"/>
          <p:cNvGrpSpPr/>
          <p:nvPr/>
        </p:nvGrpSpPr>
        <p:grpSpPr>
          <a:xfrm>
            <a:off x="9826625" y="4193381"/>
            <a:ext cx="215900" cy="242888"/>
            <a:chOff x="9826625" y="4193381"/>
            <a:chExt cx="215900" cy="242888"/>
          </a:xfrm>
        </p:grpSpPr>
        <p:sp>
          <p:nvSpPr>
            <p:cNvPr id="56" name="Freeform 56"/>
            <p:cNvSpPr/>
            <p:nvPr/>
          </p:nvSpPr>
          <p:spPr>
            <a:xfrm>
              <a:off x="9826625" y="4193381"/>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9050">
              <a:solidFill>
                <a:srgbClr val="F59E0B"/>
              </a:solidFill>
            </a:ln>
          </p:spPr>
        </p:sp>
        <p:sp>
          <p:nvSpPr>
            <p:cNvPr id="57" name="Freeform 57"/>
            <p:cNvSpPr/>
            <p:nvPr/>
          </p:nvSpPr>
          <p:spPr>
            <a:xfrm>
              <a:off x="9826625" y="4233862"/>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F59E0B"/>
              </a:solidFill>
            </a:ln>
          </p:spPr>
        </p:sp>
        <p:sp>
          <p:nvSpPr>
            <p:cNvPr id="58" name="Freeform 58"/>
            <p:cNvSpPr/>
            <p:nvPr/>
          </p:nvSpPr>
          <p:spPr>
            <a:xfrm>
              <a:off x="9826625" y="4314825"/>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F59E0B"/>
              </a:solidFill>
            </a:ln>
          </p:spPr>
        </p:sp>
      </p:grpSp>
      <p:sp>
        <p:nvSpPr>
          <p:cNvPr id="60" name="TextBox 60"/>
          <p:cNvSpPr txBox="1"/>
          <p:nvPr/>
        </p:nvSpPr>
        <p:spPr>
          <a:xfrm>
            <a:off x="10155555" y="4226242"/>
            <a:ext cx="2422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db</a:t>
            </a:r>
          </a:p>
        </p:txBody>
      </p:sp>
      <p:sp>
        <p:nvSpPr>
          <p:cNvPr id="61" name="TextBox 61"/>
          <p:cNvSpPr txBox="1"/>
          <p:nvPr/>
        </p:nvSpPr>
        <p:spPr>
          <a:xfrm>
            <a:off x="9721215" y="4563428"/>
            <a:ext cx="80376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Consolas"/>
                <a:ea typeface="Microsoft YaHei"/>
                <a:cs typeface="Consolas"/>
              </a:rPr>
              <a:t>Postgres 16</a:t>
            </a:r>
          </a:p>
        </p:txBody>
      </p:sp>
      <p:sp>
        <p:nvSpPr>
          <p:cNvPr id="62" name="Rectangle 62"/>
          <p:cNvSpPr/>
          <p:nvPr/>
        </p:nvSpPr>
        <p:spPr>
          <a:xfrm>
            <a:off x="9258300" y="2152650"/>
            <a:ext cx="1581150" cy="552450"/>
          </a:xfrm>
          <a:prstGeom prst="roundRect">
            <a:avLst>
              <a:gd name="adj" fmla="val 25862"/>
            </a:avLst>
          </a:prstGeom>
          <a:solidFill>
            <a:srgbClr val="F59E0B">
              <a:alpha val="12000"/>
            </a:srgbClr>
          </a:solidFill>
          <a:ln w="9525">
            <a:solidFill>
              <a:srgbClr val="F59E0B"/>
            </a:solidFill>
          </a:ln>
        </p:spPr>
      </p:sp>
      <p:sp>
        <p:nvSpPr>
          <p:cNvPr id="63" name="TextBox 63"/>
          <p:cNvSpPr txBox="1"/>
          <p:nvPr/>
        </p:nvSpPr>
        <p:spPr>
          <a:xfrm>
            <a:off x="9491662" y="2269331"/>
            <a:ext cx="1414748"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Arial"/>
                <a:ea typeface="Microsoft YaHei"/>
                <a:cs typeface="Arial"/>
              </a:rPr>
              <a:t>Persistent volume</a:t>
            </a:r>
          </a:p>
        </p:txBody>
      </p:sp>
      <p:sp>
        <p:nvSpPr>
          <p:cNvPr id="64" name="TextBox 64"/>
          <p:cNvSpPr txBox="1"/>
          <p:nvPr/>
        </p:nvSpPr>
        <p:spPr>
          <a:xfrm>
            <a:off x="9512618" y="2495074"/>
            <a:ext cx="45381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pgdata</a:t>
            </a:r>
          </a:p>
        </p:txBody>
      </p:sp>
      <p:sp>
        <p:nvSpPr>
          <p:cNvPr id="65" name="Line 65"/>
          <p:cNvSpPr/>
          <p:nvPr/>
        </p:nvSpPr>
        <p:spPr>
          <a:xfrm>
            <a:off x="10039350" y="2705100"/>
            <a:ext cx="152400" cy="1200150"/>
          </a:xfrm>
          <a:custGeom>
            <a:avLst/>
            <a:gdLst/>
            <a:ahLst/>
            <a:cxnLst/>
            <a:rect l="l" t="t" r="r" b="b"/>
            <a:pathLst>
              <a:path w="152400" h="1200150">
                <a:moveTo>
                  <a:pt x="0" y="0"/>
                </a:moveTo>
                <a:lnTo>
                  <a:pt x="152400" y="1200150"/>
                </a:lnTo>
              </a:path>
            </a:pathLst>
          </a:custGeom>
          <a:noFill/>
          <a:ln w="19050">
            <a:solidFill>
              <a:srgbClr val="F59E0B"/>
            </a:solidFill>
            <a:custDash>
              <a:ds d="300000" sp="300000"/>
            </a:custDash>
          </a:ln>
        </p:spPr>
      </p:sp>
      <p:sp>
        <p:nvSpPr>
          <p:cNvPr id="66" name="Rectangle 66"/>
          <p:cNvSpPr/>
          <p:nvPr/>
        </p:nvSpPr>
        <p:spPr>
          <a:xfrm>
            <a:off x="933450" y="5772150"/>
            <a:ext cx="3219450" cy="552450"/>
          </a:xfrm>
          <a:prstGeom prst="roundRect">
            <a:avLst>
              <a:gd name="adj" fmla="val 27586"/>
            </a:avLst>
          </a:prstGeom>
          <a:solidFill>
            <a:srgbClr val="2563EB">
              <a:alpha val="8000"/>
            </a:srgbClr>
          </a:solidFill>
          <a:ln w="9525">
            <a:solidFill>
              <a:srgbClr val="2563EB"/>
            </a:solidFill>
          </a:ln>
        </p:spPr>
      </p:sp>
      <p:sp>
        <p:nvSpPr>
          <p:cNvPr id="67" name="TextBox 67"/>
          <p:cNvSpPr txBox="1"/>
          <p:nvPr/>
        </p:nvSpPr>
        <p:spPr>
          <a:xfrm>
            <a:off x="1166812" y="5984081"/>
            <a:ext cx="272141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Cổng public chỉ nằm ở gateway Nginx.</a:t>
            </a:r>
          </a:p>
        </p:txBody>
      </p:sp>
      <p:sp>
        <p:nvSpPr>
          <p:cNvPr id="68" name="Rectangle 68"/>
          <p:cNvSpPr/>
          <p:nvPr/>
        </p:nvSpPr>
        <p:spPr>
          <a:xfrm>
            <a:off x="4495800" y="5772150"/>
            <a:ext cx="3219450" cy="552450"/>
          </a:xfrm>
          <a:prstGeom prst="roundRect">
            <a:avLst>
              <a:gd name="adj" fmla="val 27586"/>
            </a:avLst>
          </a:prstGeom>
          <a:solidFill>
            <a:srgbClr val="00A676">
              <a:alpha val="8000"/>
            </a:srgbClr>
          </a:solidFill>
          <a:ln w="9525">
            <a:solidFill>
              <a:srgbClr val="00A676"/>
            </a:solidFill>
          </a:ln>
        </p:spPr>
      </p:sp>
      <p:sp>
        <p:nvSpPr>
          <p:cNvPr id="69" name="TextBox 69"/>
          <p:cNvSpPr txBox="1"/>
          <p:nvPr/>
        </p:nvSpPr>
        <p:spPr>
          <a:xfrm>
            <a:off x="4729162" y="5984081"/>
            <a:ext cx="302144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Backend và DB trao đổi trong mạng riêng.</a:t>
            </a:r>
          </a:p>
        </p:txBody>
      </p:sp>
      <p:sp>
        <p:nvSpPr>
          <p:cNvPr id="70" name="Rectangle 70"/>
          <p:cNvSpPr/>
          <p:nvPr/>
        </p:nvSpPr>
        <p:spPr>
          <a:xfrm>
            <a:off x="8058150" y="5772150"/>
            <a:ext cx="3219450" cy="552450"/>
          </a:xfrm>
          <a:prstGeom prst="roundRect">
            <a:avLst>
              <a:gd name="adj" fmla="val 27586"/>
            </a:avLst>
          </a:prstGeom>
          <a:solidFill>
            <a:srgbClr val="F59E0B">
              <a:alpha val="10000"/>
            </a:srgbClr>
          </a:solidFill>
          <a:ln w="9525">
            <a:solidFill>
              <a:srgbClr val="F59E0B"/>
            </a:solidFill>
          </a:ln>
        </p:spPr>
      </p:sp>
      <p:sp>
        <p:nvSpPr>
          <p:cNvPr id="71" name="TextBox 71"/>
          <p:cNvSpPr txBox="1"/>
          <p:nvPr/>
        </p:nvSpPr>
        <p:spPr>
          <a:xfrm>
            <a:off x="8291512" y="5984081"/>
            <a:ext cx="296894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Dữ liệu sống bền qua volume PostgreSQL.</a:t>
            </a:r>
          </a:p>
        </p:txBody>
      </p:sp>
      <p:sp>
        <p:nvSpPr>
          <p:cNvPr id="72" name="TextBox 72"/>
          <p:cNvSpPr txBox="1"/>
          <p:nvPr/>
        </p:nvSpPr>
        <p:spPr>
          <a:xfrm>
            <a:off x="521970" y="6475095"/>
            <a:ext cx="1661065"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08 · Containerization Design</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8053387"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IaaS: AWS EC2 là nền hạ tầng của hệ thống</a:t>
            </a:r>
          </a:p>
        </p:txBody>
      </p:sp>
      <p:sp>
        <p:nvSpPr>
          <p:cNvPr id="4" name="TextBox 4"/>
          <p:cNvSpPr txBox="1"/>
          <p:nvPr/>
        </p:nvSpPr>
        <p:spPr>
          <a:xfrm>
            <a:off x="535305" y="921068"/>
            <a:ext cx="898140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as a Service: thuê tài nguyên hạ tầng, còn hệ điều hành và runtime do nhóm tự quản lý.</a:t>
            </a:r>
          </a:p>
        </p:txBody>
      </p:sp>
      <p:sp>
        <p:nvSpPr>
          <p:cNvPr id="5" name="Rectangle 5"/>
          <p:cNvSpPr/>
          <p:nvPr/>
        </p:nvSpPr>
        <p:spPr>
          <a:xfrm>
            <a:off x="685800" y="1524000"/>
            <a:ext cx="3371850" cy="4000500"/>
          </a:xfrm>
          <a:prstGeom prst="roundRect">
            <a:avLst>
              <a:gd name="adj" fmla="val 7910"/>
            </a:avLst>
          </a:prstGeom>
          <a:solidFill>
            <a:srgbClr val="2563EB"/>
          </a:solidFill>
          <a:ln>
            <a:noFill/>
          </a:ln>
        </p:spPr>
      </p:sp>
      <p:grpSp>
        <p:nvGrpSpPr>
          <p:cNvPr id="10" name="Group 10"/>
          <p:cNvGrpSpPr/>
          <p:nvPr/>
        </p:nvGrpSpPr>
        <p:grpSpPr>
          <a:xfrm>
            <a:off x="1109662" y="1981700"/>
            <a:ext cx="428625" cy="392406"/>
            <a:chOff x="1109662" y="1981700"/>
            <a:chExt cx="428625" cy="392406"/>
          </a:xfrm>
        </p:grpSpPr>
        <p:sp>
          <p:nvSpPr>
            <p:cNvPr id="6" name="Freeform 6"/>
            <p:cNvSpPr/>
            <p:nvPr/>
          </p:nvSpPr>
          <p:spPr>
            <a:xfrm>
              <a:off x="1109662" y="1981700"/>
              <a:ext cx="428625" cy="285336"/>
            </a:xfrm>
            <a:custGeom>
              <a:avLst/>
              <a:gdLst/>
              <a:ahLst/>
              <a:cxnLst/>
              <a:rect l="l" t="t" r="r" b="b"/>
              <a:pathLst>
                <a:path w="428625" h="285336">
                  <a:moveTo>
                    <a:pt x="99805" y="285250"/>
                  </a:moveTo>
                  <a:cubicBezTo>
                    <a:pt x="44684" y="285250"/>
                    <a:pt x="0" y="242237"/>
                    <a:pt x="0" y="189174"/>
                  </a:cubicBezTo>
                  <a:cubicBezTo>
                    <a:pt x="0" y="136131"/>
                    <a:pt x="44684" y="93119"/>
                    <a:pt x="99805" y="93119"/>
                  </a:cubicBezTo>
                  <a:cubicBezTo>
                    <a:pt x="108228" y="55357"/>
                    <a:pt x="138253" y="24539"/>
                    <a:pt x="178565" y="12259"/>
                  </a:cubicBezTo>
                  <a:cubicBezTo>
                    <a:pt x="218856" y="0"/>
                    <a:pt x="263347" y="8122"/>
                    <a:pt x="295237" y="33690"/>
                  </a:cubicBezTo>
                  <a:cubicBezTo>
                    <a:pt x="327127" y="59193"/>
                    <a:pt x="341571" y="98134"/>
                    <a:pt x="333170" y="135896"/>
                  </a:cubicBezTo>
                  <a:lnTo>
                    <a:pt x="354387" y="135896"/>
                  </a:lnTo>
                  <a:cubicBezTo>
                    <a:pt x="395385" y="135896"/>
                    <a:pt x="428625" y="169328"/>
                    <a:pt x="428625" y="210605"/>
                  </a:cubicBezTo>
                  <a:cubicBezTo>
                    <a:pt x="428625" y="251903"/>
                    <a:pt x="395385" y="285336"/>
                    <a:pt x="354366" y="285336"/>
                  </a:cubicBezTo>
                  <a:lnTo>
                    <a:pt x="99805" y="285336"/>
                  </a:lnTo>
                </a:path>
              </a:pathLst>
            </a:custGeom>
            <a:noFill/>
            <a:ln w="19050">
              <a:solidFill>
                <a:srgbClr val="FFFFFF"/>
              </a:solidFill>
            </a:ln>
          </p:spPr>
        </p:sp>
        <p:sp>
          <p:nvSpPr>
            <p:cNvPr id="7" name="Freeform 7"/>
            <p:cNvSpPr/>
            <p:nvPr/>
          </p:nvSpPr>
          <p:spPr>
            <a:xfrm>
              <a:off x="1323975" y="2266950"/>
              <a:ext cx="9525" cy="107156"/>
            </a:xfrm>
            <a:custGeom>
              <a:avLst/>
              <a:gdLst/>
              <a:ahLst/>
              <a:cxnLst/>
              <a:rect l="l" t="t" r="r" b="b"/>
              <a:pathLst>
                <a:path w="9525" h="107156">
                  <a:moveTo>
                    <a:pt x="0" y="0"/>
                  </a:moveTo>
                  <a:lnTo>
                    <a:pt x="0" y="107156"/>
                  </a:lnTo>
                </a:path>
              </a:pathLst>
            </a:custGeom>
            <a:noFill/>
            <a:ln w="19050">
              <a:solidFill>
                <a:srgbClr val="FFFFFF"/>
              </a:solidFill>
            </a:ln>
          </p:spPr>
        </p:sp>
        <p:sp>
          <p:nvSpPr>
            <p:cNvPr id="8" name="Freeform 8"/>
            <p:cNvSpPr/>
            <p:nvPr/>
          </p:nvSpPr>
          <p:spPr>
            <a:xfrm>
              <a:off x="1409700" y="2266950"/>
              <a:ext cx="107156" cy="107156"/>
            </a:xfrm>
            <a:custGeom>
              <a:avLst/>
              <a:gdLst/>
              <a:ahLst/>
              <a:cxnLst/>
              <a:rect l="l" t="t" r="r" b="b"/>
              <a:pathLst>
                <a:path w="107156" h="107156">
                  <a:moveTo>
                    <a:pt x="0" y="0"/>
                  </a:moveTo>
                  <a:lnTo>
                    <a:pt x="0" y="85725"/>
                  </a:lnTo>
                  <a:cubicBezTo>
                    <a:pt x="0" y="97561"/>
                    <a:pt x="9595" y="107156"/>
                    <a:pt x="21431" y="107156"/>
                  </a:cubicBezTo>
                  <a:lnTo>
                    <a:pt x="107156" y="107156"/>
                  </a:lnTo>
                </a:path>
              </a:pathLst>
            </a:custGeom>
            <a:noFill/>
            <a:ln w="19050">
              <a:solidFill>
                <a:srgbClr val="FFFFFF"/>
              </a:solidFill>
            </a:ln>
          </p:spPr>
        </p:sp>
        <p:sp>
          <p:nvSpPr>
            <p:cNvPr id="9" name="Freeform 9"/>
            <p:cNvSpPr/>
            <p:nvPr/>
          </p:nvSpPr>
          <p:spPr>
            <a:xfrm>
              <a:off x="1131094" y="2266950"/>
              <a:ext cx="107156" cy="107156"/>
            </a:xfrm>
            <a:custGeom>
              <a:avLst/>
              <a:gdLst/>
              <a:ahLst/>
              <a:cxnLst/>
              <a:rect l="l" t="t" r="r" b="b"/>
              <a:pathLst>
                <a:path w="107156" h="107156">
                  <a:moveTo>
                    <a:pt x="107156" y="0"/>
                  </a:moveTo>
                  <a:lnTo>
                    <a:pt x="107156" y="85725"/>
                  </a:lnTo>
                  <a:cubicBezTo>
                    <a:pt x="107156" y="97561"/>
                    <a:pt x="97561" y="107156"/>
                    <a:pt x="85725" y="107156"/>
                  </a:cubicBezTo>
                  <a:lnTo>
                    <a:pt x="0" y="107156"/>
                  </a:lnTo>
                </a:path>
              </a:pathLst>
            </a:custGeom>
            <a:noFill/>
            <a:ln w="19050">
              <a:solidFill>
                <a:srgbClr val="FFFFFF"/>
              </a:solidFill>
            </a:ln>
          </p:spPr>
        </p:sp>
      </p:grpSp>
      <p:sp>
        <p:nvSpPr>
          <p:cNvPr id="11" name="TextBox 11"/>
          <p:cNvSpPr txBox="1"/>
          <p:nvPr/>
        </p:nvSpPr>
        <p:spPr>
          <a:xfrm>
            <a:off x="1038225" y="2538412"/>
            <a:ext cx="2041898"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AWS cung cấp</a:t>
            </a:r>
          </a:p>
        </p:txBody>
      </p:sp>
      <p:sp>
        <p:nvSpPr>
          <p:cNvPr id="12" name="TextBox 12"/>
          <p:cNvSpPr txBox="1"/>
          <p:nvPr/>
        </p:nvSpPr>
        <p:spPr>
          <a:xfrm>
            <a:off x="1049655" y="3054668"/>
            <a:ext cx="6101048"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Máy ảo EC2, public IP, VPC, Security Group và hạ tầng vật lý bên dưới.</a:t>
            </a:r>
          </a:p>
        </p:txBody>
      </p:sp>
      <p:sp>
        <p:nvSpPr>
          <p:cNvPr id="13" name="Rectangle 13"/>
          <p:cNvSpPr/>
          <p:nvPr/>
        </p:nvSpPr>
        <p:spPr>
          <a:xfrm>
            <a:off x="1066800" y="3829050"/>
            <a:ext cx="2400300" cy="476250"/>
          </a:xfrm>
          <a:prstGeom prst="roundRect">
            <a:avLst>
              <a:gd name="adj" fmla="val 28000"/>
            </a:avLst>
          </a:prstGeom>
          <a:solidFill>
            <a:srgbClr val="FFFFFF">
              <a:alpha val="18000"/>
            </a:srgbClr>
          </a:solidFill>
          <a:ln w="9525">
            <a:solidFill>
              <a:srgbClr val="FFFFFF"/>
            </a:solidFill>
          </a:ln>
        </p:spPr>
      </p:sp>
      <p:sp>
        <p:nvSpPr>
          <p:cNvPr id="14" name="TextBox 14"/>
          <p:cNvSpPr txBox="1"/>
          <p:nvPr/>
        </p:nvSpPr>
        <p:spPr>
          <a:xfrm>
            <a:off x="1262062" y="4012406"/>
            <a:ext cx="943689"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Consolas"/>
                <a:ea typeface="Microsoft YaHei"/>
                <a:cs typeface="Consolas"/>
              </a:rPr>
              <a:t>13.212.82.45</a:t>
            </a:r>
          </a:p>
        </p:txBody>
      </p:sp>
      <p:sp>
        <p:nvSpPr>
          <p:cNvPr id="15" name="Rectangle 15"/>
          <p:cNvSpPr/>
          <p:nvPr/>
        </p:nvSpPr>
        <p:spPr>
          <a:xfrm>
            <a:off x="1066800" y="4457700"/>
            <a:ext cx="2400300" cy="476250"/>
          </a:xfrm>
          <a:prstGeom prst="roundRect">
            <a:avLst>
              <a:gd name="adj" fmla="val 28000"/>
            </a:avLst>
          </a:prstGeom>
          <a:solidFill>
            <a:srgbClr val="FFFFFF">
              <a:alpha val="18000"/>
            </a:srgbClr>
          </a:solidFill>
          <a:ln w="9525">
            <a:solidFill>
              <a:srgbClr val="FFFFFF"/>
            </a:solidFill>
          </a:ln>
        </p:spPr>
      </p:sp>
      <p:sp>
        <p:nvSpPr>
          <p:cNvPr id="16" name="TextBox 16"/>
          <p:cNvSpPr txBox="1"/>
          <p:nvPr/>
        </p:nvSpPr>
        <p:spPr>
          <a:xfrm>
            <a:off x="1262062" y="4641056"/>
            <a:ext cx="134874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Consolas"/>
                <a:ea typeface="Microsoft YaHei"/>
                <a:cs typeface="Consolas"/>
              </a:rPr>
              <a:t>Amazon Linux 2023</a:t>
            </a:r>
          </a:p>
        </p:txBody>
      </p:sp>
      <p:sp>
        <p:nvSpPr>
          <p:cNvPr id="17" name="Rectangle 17"/>
          <p:cNvSpPr/>
          <p:nvPr/>
        </p:nvSpPr>
        <p:spPr>
          <a:xfrm>
            <a:off x="4495800" y="1524000"/>
            <a:ext cx="7010400" cy="4000500"/>
          </a:xfrm>
          <a:prstGeom prst="roundRect">
            <a:avLst>
              <a:gd name="adj" fmla="val 6667"/>
            </a:avLst>
          </a:prstGeom>
          <a:solidFill>
            <a:srgbClr val="FFFFFF"/>
          </a:solidFill>
          <a:ln w="9525">
            <a:solidFill>
              <a:srgbClr val="CBD5E1"/>
            </a:solidFill>
          </a:ln>
        </p:spPr>
      </p:sp>
      <p:sp>
        <p:nvSpPr>
          <p:cNvPr id="18" name="TextBox 18"/>
          <p:cNvSpPr txBox="1"/>
          <p:nvPr/>
        </p:nvSpPr>
        <p:spPr>
          <a:xfrm>
            <a:off x="4871085" y="1865948"/>
            <a:ext cx="4363469" cy="396240"/>
          </a:xfrm>
          <a:prstGeom prst="rect">
            <a:avLst/>
          </a:prstGeom>
          <a:noFill/>
          <a:ln>
            <a:noFill/>
          </a:ln>
        </p:spPr>
        <p:txBody>
          <a:bodyPr wrap="none" lIns="0" tIns="0" rIns="0" bIns="0" anchor="t" anchorCtr="0">
            <a:spAutoFit/>
          </a:bodyPr>
          <a:lstStyle/>
          <a:p>
            <a:pPr algn="l"/>
            <a:r>
              <a:rPr lang="zh-CN" sz="1950" b="1" dirty="0">
                <a:solidFill>
                  <a:srgbClr val="0F172A"/>
                </a:solidFill>
                <a:latin typeface="Arial"/>
                <a:ea typeface="Microsoft YaHei"/>
                <a:cs typeface="Arial"/>
              </a:rPr>
              <a:t>Nhóm phát triển phải tự vận hành</a:t>
            </a:r>
          </a:p>
        </p:txBody>
      </p:sp>
      <p:sp>
        <p:nvSpPr>
          <p:cNvPr id="19" name="TextBox 19"/>
          <p:cNvSpPr txBox="1"/>
          <p:nvPr/>
        </p:nvSpPr>
        <p:spPr>
          <a:xfrm>
            <a:off x="4879658" y="2262664"/>
            <a:ext cx="7292292"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Đây là điểm phân biệt IaaS với PaaS: quyền kiểm soát cao hơn đi kèm trách nhiệm cao hơn.</a:t>
            </a:r>
          </a:p>
        </p:txBody>
      </p:sp>
      <p:sp>
        <p:nvSpPr>
          <p:cNvPr id="20" name="Rectangle 20"/>
          <p:cNvSpPr/>
          <p:nvPr/>
        </p:nvSpPr>
        <p:spPr>
          <a:xfrm>
            <a:off x="4953000" y="2857500"/>
            <a:ext cx="2724150" cy="723900"/>
          </a:xfrm>
          <a:prstGeom prst="roundRect">
            <a:avLst>
              <a:gd name="adj" fmla="val 23684"/>
            </a:avLst>
          </a:prstGeom>
          <a:solidFill>
            <a:srgbClr val="2563EB">
              <a:alpha val="8000"/>
            </a:srgbClr>
          </a:solidFill>
          <a:ln w="9525">
            <a:solidFill>
              <a:srgbClr val="2563EB"/>
            </a:solidFill>
          </a:ln>
        </p:spPr>
      </p:sp>
      <p:grpSp>
        <p:nvGrpSpPr>
          <p:cNvPr id="25" name="Group 25"/>
          <p:cNvGrpSpPr/>
          <p:nvPr/>
        </p:nvGrpSpPr>
        <p:grpSpPr>
          <a:xfrm>
            <a:off x="5217319" y="3114675"/>
            <a:ext cx="214312" cy="190500"/>
            <a:chOff x="5217319" y="3114675"/>
            <a:chExt cx="214312" cy="190500"/>
          </a:xfrm>
        </p:grpSpPr>
        <p:sp>
          <p:nvSpPr>
            <p:cNvPr id="21" name="Freeform 21"/>
            <p:cNvSpPr/>
            <p:nvPr/>
          </p:nvSpPr>
          <p:spPr>
            <a:xfrm>
              <a:off x="5217319" y="311467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path>
              </a:pathLst>
            </a:custGeom>
            <a:noFill/>
            <a:ln w="19050">
              <a:solidFill>
                <a:srgbClr val="2563EB"/>
              </a:solidFill>
            </a:ln>
          </p:spPr>
        </p:sp>
        <p:sp>
          <p:nvSpPr>
            <p:cNvPr id="22" name="Freeform 22"/>
            <p:cNvSpPr/>
            <p:nvPr/>
          </p:nvSpPr>
          <p:spPr>
            <a:xfrm>
              <a:off x="5217319" y="320992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19050">
              <a:solidFill>
                <a:srgbClr val="2563EB"/>
              </a:solidFill>
            </a:ln>
          </p:spPr>
        </p:sp>
        <p:sp>
          <p:nvSpPr>
            <p:cNvPr id="23" name="Freeform 23"/>
            <p:cNvSpPr/>
            <p:nvPr/>
          </p:nvSpPr>
          <p:spPr>
            <a:xfrm>
              <a:off x="5264944" y="3162300"/>
              <a:ext cx="9525" cy="9525"/>
            </a:xfrm>
            <a:custGeom>
              <a:avLst/>
              <a:gdLst/>
              <a:ahLst/>
              <a:cxnLst/>
              <a:rect l="l" t="t" r="r" b="b"/>
              <a:pathLst>
                <a:path w="9525" h="9525">
                  <a:moveTo>
                    <a:pt x="0" y="0"/>
                  </a:moveTo>
                  <a:lnTo>
                    <a:pt x="0" y="119"/>
                  </a:lnTo>
                </a:path>
              </a:pathLst>
            </a:custGeom>
            <a:noFill/>
            <a:ln w="19050">
              <a:solidFill>
                <a:srgbClr val="2563EB"/>
              </a:solidFill>
            </a:ln>
          </p:spPr>
        </p:sp>
        <p:sp>
          <p:nvSpPr>
            <p:cNvPr id="24" name="Freeform 24"/>
            <p:cNvSpPr/>
            <p:nvPr/>
          </p:nvSpPr>
          <p:spPr>
            <a:xfrm>
              <a:off x="5264944" y="3257550"/>
              <a:ext cx="9525" cy="9525"/>
            </a:xfrm>
            <a:custGeom>
              <a:avLst/>
              <a:gdLst/>
              <a:ahLst/>
              <a:cxnLst/>
              <a:rect l="l" t="t" r="r" b="b"/>
              <a:pathLst>
                <a:path w="9525" h="9525">
                  <a:moveTo>
                    <a:pt x="0" y="0"/>
                  </a:moveTo>
                  <a:lnTo>
                    <a:pt x="0" y="119"/>
                  </a:lnTo>
                </a:path>
              </a:pathLst>
            </a:custGeom>
            <a:noFill/>
            <a:ln w="19050">
              <a:solidFill>
                <a:srgbClr val="2563EB"/>
              </a:solidFill>
            </a:ln>
          </p:spPr>
        </p:sp>
      </p:grpSp>
      <p:sp>
        <p:nvSpPr>
          <p:cNvPr id="26" name="TextBox 26"/>
          <p:cNvSpPr txBox="1"/>
          <p:nvPr/>
        </p:nvSpPr>
        <p:spPr>
          <a:xfrm>
            <a:off x="5583555" y="3026092"/>
            <a:ext cx="91325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OS và SSH</a:t>
            </a:r>
          </a:p>
        </p:txBody>
      </p:sp>
      <p:sp>
        <p:nvSpPr>
          <p:cNvPr id="27" name="TextBox 27"/>
          <p:cNvSpPr txBox="1"/>
          <p:nvPr/>
        </p:nvSpPr>
        <p:spPr>
          <a:xfrm>
            <a:off x="5587365" y="3296602"/>
            <a:ext cx="3100054"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User ec2-user, key pair, update hệ điều hành</a:t>
            </a:r>
          </a:p>
        </p:txBody>
      </p:sp>
      <p:sp>
        <p:nvSpPr>
          <p:cNvPr id="28" name="Rectangle 28"/>
          <p:cNvSpPr/>
          <p:nvPr/>
        </p:nvSpPr>
        <p:spPr>
          <a:xfrm>
            <a:off x="8096250" y="2857500"/>
            <a:ext cx="2724150" cy="723900"/>
          </a:xfrm>
          <a:prstGeom prst="roundRect">
            <a:avLst>
              <a:gd name="adj" fmla="val 23684"/>
            </a:avLst>
          </a:prstGeom>
          <a:solidFill>
            <a:srgbClr val="2563EB">
              <a:alpha val="8000"/>
            </a:srgbClr>
          </a:solidFill>
          <a:ln w="9525">
            <a:solidFill>
              <a:srgbClr val="2563EB"/>
            </a:solidFill>
          </a:ln>
        </p:spPr>
      </p:sp>
      <p:grpSp>
        <p:nvGrpSpPr>
          <p:cNvPr id="38" name="Group 38"/>
          <p:cNvGrpSpPr/>
          <p:nvPr/>
        </p:nvGrpSpPr>
        <p:grpSpPr>
          <a:xfrm>
            <a:off x="8360569" y="3114675"/>
            <a:ext cx="226219" cy="190762"/>
            <a:chOff x="8360569" y="3114675"/>
            <a:chExt cx="226219" cy="190762"/>
          </a:xfrm>
        </p:grpSpPr>
        <p:sp>
          <p:nvSpPr>
            <p:cNvPr id="29" name="Freeform 29"/>
            <p:cNvSpPr/>
            <p:nvPr/>
          </p:nvSpPr>
          <p:spPr>
            <a:xfrm>
              <a:off x="8360569" y="3181350"/>
              <a:ext cx="226219" cy="124087"/>
            </a:xfrm>
            <a:custGeom>
              <a:avLst/>
              <a:gdLst/>
              <a:ahLst/>
              <a:cxnLst/>
              <a:rect l="l" t="t" r="r" b="b"/>
              <a:pathLst>
                <a:path w="226219" h="124087">
                  <a:moveTo>
                    <a:pt x="226219" y="35004"/>
                  </a:moveTo>
                  <a:cubicBezTo>
                    <a:pt x="204740" y="30897"/>
                    <a:pt x="194060" y="22146"/>
                    <a:pt x="184273" y="0"/>
                  </a:cubicBezTo>
                  <a:cubicBezTo>
                    <a:pt x="178475" y="8287"/>
                    <a:pt x="171152" y="18669"/>
                    <a:pt x="173319" y="28575"/>
                  </a:cubicBezTo>
                  <a:cubicBezTo>
                    <a:pt x="173653" y="31409"/>
                    <a:pt x="169509" y="40481"/>
                    <a:pt x="166688" y="40481"/>
                  </a:cubicBezTo>
                  <a:lnTo>
                    <a:pt x="0" y="40481"/>
                  </a:lnTo>
                  <a:cubicBezTo>
                    <a:pt x="0" y="102489"/>
                    <a:pt x="37671" y="123825"/>
                    <a:pt x="73771" y="123825"/>
                  </a:cubicBezTo>
                  <a:cubicBezTo>
                    <a:pt x="122872" y="124087"/>
                    <a:pt x="166973" y="107442"/>
                    <a:pt x="191095" y="64294"/>
                  </a:cubicBezTo>
                  <a:cubicBezTo>
                    <a:pt x="204740" y="63091"/>
                    <a:pt x="218432" y="46375"/>
                    <a:pt x="226219" y="35004"/>
                  </a:cubicBezTo>
                </a:path>
              </a:pathLst>
            </a:custGeom>
            <a:noFill/>
            <a:ln w="19050">
              <a:solidFill>
                <a:srgbClr val="2563EB"/>
              </a:solidFill>
            </a:ln>
          </p:spPr>
        </p:sp>
        <p:sp>
          <p:nvSpPr>
            <p:cNvPr id="30" name="Freeform 30"/>
            <p:cNvSpPr/>
            <p:nvPr/>
          </p:nvSpPr>
          <p:spPr>
            <a:xfrm>
              <a:off x="8384381" y="3186112"/>
              <a:ext cx="35719" cy="35719"/>
            </a:xfrm>
            <a:custGeom>
              <a:avLst/>
              <a:gdLst/>
              <a:ahLst/>
              <a:cxnLst/>
              <a:rect l="l" t="t" r="r" b="b"/>
              <a:pathLst>
                <a:path w="35719" h="35719">
                  <a:moveTo>
                    <a:pt x="0" y="0"/>
                  </a:moveTo>
                  <a:lnTo>
                    <a:pt x="35719" y="0"/>
                  </a:lnTo>
                  <a:lnTo>
                    <a:pt x="35719" y="35719"/>
                  </a:lnTo>
                  <a:lnTo>
                    <a:pt x="0" y="35719"/>
                  </a:lnTo>
                  <a:lnTo>
                    <a:pt x="0" y="0"/>
                  </a:lnTo>
                </a:path>
              </a:pathLst>
            </a:custGeom>
            <a:noFill/>
            <a:ln w="19050">
              <a:solidFill>
                <a:srgbClr val="2563EB"/>
              </a:solidFill>
            </a:ln>
          </p:spPr>
        </p:sp>
        <p:sp>
          <p:nvSpPr>
            <p:cNvPr id="31" name="Freeform 31"/>
            <p:cNvSpPr/>
            <p:nvPr/>
          </p:nvSpPr>
          <p:spPr>
            <a:xfrm>
              <a:off x="8420100" y="3186112"/>
              <a:ext cx="35719" cy="35719"/>
            </a:xfrm>
            <a:custGeom>
              <a:avLst/>
              <a:gdLst/>
              <a:ahLst/>
              <a:cxnLst/>
              <a:rect l="l" t="t" r="r" b="b"/>
              <a:pathLst>
                <a:path w="35719" h="35719">
                  <a:moveTo>
                    <a:pt x="0" y="0"/>
                  </a:moveTo>
                  <a:lnTo>
                    <a:pt x="35719" y="0"/>
                  </a:lnTo>
                  <a:lnTo>
                    <a:pt x="35719" y="35719"/>
                  </a:lnTo>
                  <a:lnTo>
                    <a:pt x="0" y="35719"/>
                  </a:lnTo>
                  <a:lnTo>
                    <a:pt x="0" y="0"/>
                  </a:lnTo>
                </a:path>
              </a:pathLst>
            </a:custGeom>
            <a:noFill/>
            <a:ln w="19050">
              <a:solidFill>
                <a:srgbClr val="2563EB"/>
              </a:solidFill>
            </a:ln>
          </p:spPr>
        </p:sp>
        <p:sp>
          <p:nvSpPr>
            <p:cNvPr id="32" name="Freeform 32"/>
            <p:cNvSpPr/>
            <p:nvPr/>
          </p:nvSpPr>
          <p:spPr>
            <a:xfrm>
              <a:off x="8455819" y="3186112"/>
              <a:ext cx="35719" cy="35719"/>
            </a:xfrm>
            <a:custGeom>
              <a:avLst/>
              <a:gdLst/>
              <a:ahLst/>
              <a:cxnLst/>
              <a:rect l="l" t="t" r="r" b="b"/>
              <a:pathLst>
                <a:path w="35719" h="35719">
                  <a:moveTo>
                    <a:pt x="0" y="0"/>
                  </a:moveTo>
                  <a:lnTo>
                    <a:pt x="35719" y="0"/>
                  </a:lnTo>
                  <a:lnTo>
                    <a:pt x="35719" y="35719"/>
                  </a:lnTo>
                  <a:lnTo>
                    <a:pt x="0" y="35719"/>
                  </a:lnTo>
                  <a:lnTo>
                    <a:pt x="0" y="0"/>
                  </a:lnTo>
                </a:path>
              </a:pathLst>
            </a:custGeom>
            <a:noFill/>
            <a:ln w="19050">
              <a:solidFill>
                <a:srgbClr val="2563EB"/>
              </a:solidFill>
            </a:ln>
          </p:spPr>
        </p:sp>
        <p:sp>
          <p:nvSpPr>
            <p:cNvPr id="33" name="Freeform 33"/>
            <p:cNvSpPr/>
            <p:nvPr/>
          </p:nvSpPr>
          <p:spPr>
            <a:xfrm>
              <a:off x="8420100" y="3150394"/>
              <a:ext cx="35719" cy="35719"/>
            </a:xfrm>
            <a:custGeom>
              <a:avLst/>
              <a:gdLst/>
              <a:ahLst/>
              <a:cxnLst/>
              <a:rect l="l" t="t" r="r" b="b"/>
              <a:pathLst>
                <a:path w="35719" h="35719">
                  <a:moveTo>
                    <a:pt x="0" y="0"/>
                  </a:moveTo>
                  <a:lnTo>
                    <a:pt x="35719" y="0"/>
                  </a:lnTo>
                  <a:lnTo>
                    <a:pt x="35719" y="35719"/>
                  </a:lnTo>
                  <a:lnTo>
                    <a:pt x="0" y="35719"/>
                  </a:lnTo>
                  <a:lnTo>
                    <a:pt x="0" y="0"/>
                  </a:lnTo>
                </a:path>
              </a:pathLst>
            </a:custGeom>
            <a:noFill/>
            <a:ln w="19050">
              <a:solidFill>
                <a:srgbClr val="2563EB"/>
              </a:solidFill>
            </a:ln>
          </p:spPr>
        </p:sp>
        <p:sp>
          <p:nvSpPr>
            <p:cNvPr id="34" name="Freeform 34"/>
            <p:cNvSpPr/>
            <p:nvPr/>
          </p:nvSpPr>
          <p:spPr>
            <a:xfrm>
              <a:off x="8455819" y="3150394"/>
              <a:ext cx="35719" cy="35719"/>
            </a:xfrm>
            <a:custGeom>
              <a:avLst/>
              <a:gdLst/>
              <a:ahLst/>
              <a:cxnLst/>
              <a:rect l="l" t="t" r="r" b="b"/>
              <a:pathLst>
                <a:path w="35719" h="35719">
                  <a:moveTo>
                    <a:pt x="0" y="0"/>
                  </a:moveTo>
                  <a:lnTo>
                    <a:pt x="35719" y="0"/>
                  </a:lnTo>
                  <a:lnTo>
                    <a:pt x="35719" y="35719"/>
                  </a:lnTo>
                  <a:lnTo>
                    <a:pt x="0" y="35719"/>
                  </a:lnTo>
                  <a:lnTo>
                    <a:pt x="0" y="0"/>
                  </a:lnTo>
                </a:path>
              </a:pathLst>
            </a:custGeom>
            <a:noFill/>
            <a:ln w="19050">
              <a:solidFill>
                <a:srgbClr val="2563EB"/>
              </a:solidFill>
            </a:ln>
          </p:spPr>
        </p:sp>
        <p:sp>
          <p:nvSpPr>
            <p:cNvPr id="35" name="Freeform 35"/>
            <p:cNvSpPr/>
            <p:nvPr/>
          </p:nvSpPr>
          <p:spPr>
            <a:xfrm>
              <a:off x="8455819" y="3114675"/>
              <a:ext cx="35719" cy="35719"/>
            </a:xfrm>
            <a:custGeom>
              <a:avLst/>
              <a:gdLst/>
              <a:ahLst/>
              <a:cxnLst/>
              <a:rect l="l" t="t" r="r" b="b"/>
              <a:pathLst>
                <a:path w="35719" h="35719">
                  <a:moveTo>
                    <a:pt x="0" y="0"/>
                  </a:moveTo>
                  <a:lnTo>
                    <a:pt x="35719" y="0"/>
                  </a:lnTo>
                  <a:lnTo>
                    <a:pt x="35719" y="35719"/>
                  </a:lnTo>
                  <a:lnTo>
                    <a:pt x="0" y="35719"/>
                  </a:lnTo>
                  <a:lnTo>
                    <a:pt x="0" y="0"/>
                  </a:lnTo>
                </a:path>
              </a:pathLst>
            </a:custGeom>
            <a:noFill/>
            <a:ln w="19050">
              <a:solidFill>
                <a:srgbClr val="2563EB"/>
              </a:solidFill>
            </a:ln>
          </p:spPr>
        </p:sp>
        <p:sp>
          <p:nvSpPr>
            <p:cNvPr id="36" name="Freeform 36"/>
            <p:cNvSpPr/>
            <p:nvPr/>
          </p:nvSpPr>
          <p:spPr>
            <a:xfrm>
              <a:off x="8379273" y="3272076"/>
              <a:ext cx="35219" cy="9525"/>
            </a:xfrm>
            <a:custGeom>
              <a:avLst/>
              <a:gdLst/>
              <a:ahLst/>
              <a:cxnLst/>
              <a:rect l="l" t="t" r="r" b="b"/>
              <a:pathLst>
                <a:path w="35219" h="9525">
                  <a:moveTo>
                    <a:pt x="0" y="9287"/>
                  </a:moveTo>
                  <a:cubicBezTo>
                    <a:pt x="17859" y="9287"/>
                    <a:pt x="24372" y="8406"/>
                    <a:pt x="35219" y="0"/>
                  </a:cubicBezTo>
                </a:path>
              </a:pathLst>
            </a:custGeom>
            <a:noFill/>
            <a:ln w="19050">
              <a:solidFill>
                <a:srgbClr val="2563EB"/>
              </a:solidFill>
            </a:ln>
          </p:spPr>
        </p:sp>
        <p:sp>
          <p:nvSpPr>
            <p:cNvPr id="37" name="Freeform 37"/>
            <p:cNvSpPr/>
            <p:nvPr/>
          </p:nvSpPr>
          <p:spPr>
            <a:xfrm>
              <a:off x="8443912" y="3257550"/>
              <a:ext cx="9525" cy="9525"/>
            </a:xfrm>
            <a:custGeom>
              <a:avLst/>
              <a:gdLst/>
              <a:ahLst/>
              <a:cxnLst/>
              <a:rect l="l" t="t" r="r" b="b"/>
              <a:pathLst>
                <a:path w="9525" h="9525">
                  <a:moveTo>
                    <a:pt x="0" y="0"/>
                  </a:moveTo>
                  <a:lnTo>
                    <a:pt x="0" y="119"/>
                  </a:lnTo>
                </a:path>
              </a:pathLst>
            </a:custGeom>
            <a:noFill/>
            <a:ln w="19050">
              <a:solidFill>
                <a:srgbClr val="2563EB"/>
              </a:solidFill>
            </a:ln>
          </p:spPr>
        </p:sp>
      </p:grpSp>
      <p:sp>
        <p:nvSpPr>
          <p:cNvPr id="39" name="TextBox 39"/>
          <p:cNvSpPr txBox="1"/>
          <p:nvPr/>
        </p:nvSpPr>
        <p:spPr>
          <a:xfrm>
            <a:off x="8726805" y="3026092"/>
            <a:ext cx="169769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Container runtime</a:t>
            </a:r>
          </a:p>
        </p:txBody>
      </p:sp>
      <p:sp>
        <p:nvSpPr>
          <p:cNvPr id="40" name="TextBox 40"/>
          <p:cNvSpPr txBox="1"/>
          <p:nvPr/>
        </p:nvSpPr>
        <p:spPr>
          <a:xfrm>
            <a:off x="8730615" y="3296602"/>
            <a:ext cx="2736009"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Build image, compose up, restart policy</a:t>
            </a:r>
          </a:p>
        </p:txBody>
      </p:sp>
      <p:sp>
        <p:nvSpPr>
          <p:cNvPr id="41" name="Rectangle 41"/>
          <p:cNvSpPr/>
          <p:nvPr/>
        </p:nvSpPr>
        <p:spPr>
          <a:xfrm>
            <a:off x="4953000" y="3867150"/>
            <a:ext cx="2724150" cy="723900"/>
          </a:xfrm>
          <a:prstGeom prst="roundRect">
            <a:avLst>
              <a:gd name="adj" fmla="val 23684"/>
            </a:avLst>
          </a:prstGeom>
          <a:solidFill>
            <a:srgbClr val="2563EB">
              <a:alpha val="8000"/>
            </a:srgbClr>
          </a:solidFill>
          <a:ln w="9525">
            <a:solidFill>
              <a:srgbClr val="2563EB"/>
            </a:solidFill>
          </a:ln>
        </p:spPr>
      </p:sp>
      <p:grpSp>
        <p:nvGrpSpPr>
          <p:cNvPr id="45" name="Group 45"/>
          <p:cNvGrpSpPr/>
          <p:nvPr/>
        </p:nvGrpSpPr>
        <p:grpSpPr>
          <a:xfrm>
            <a:off x="5217319" y="4112419"/>
            <a:ext cx="214312" cy="214312"/>
            <a:chOff x="5217319" y="4112419"/>
            <a:chExt cx="214312" cy="214312"/>
          </a:xfrm>
        </p:grpSpPr>
        <p:sp>
          <p:nvSpPr>
            <p:cNvPr id="42" name="Freeform 42"/>
            <p:cNvSpPr/>
            <p:nvPr/>
          </p:nvSpPr>
          <p:spPr>
            <a:xfrm>
              <a:off x="5217319" y="42791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2563EB"/>
              </a:solidFill>
            </a:ln>
          </p:spPr>
        </p:sp>
        <p:sp>
          <p:nvSpPr>
            <p:cNvPr id="43" name="Freeform 43"/>
            <p:cNvSpPr/>
            <p:nvPr/>
          </p:nvSpPr>
          <p:spPr>
            <a:xfrm>
              <a:off x="5384006" y="41124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19050">
              <a:solidFill>
                <a:srgbClr val="2563EB"/>
              </a:solidFill>
            </a:ln>
          </p:spPr>
        </p:sp>
        <p:sp>
          <p:nvSpPr>
            <p:cNvPr id="44" name="Freeform 44"/>
            <p:cNvSpPr/>
            <p:nvPr/>
          </p:nvSpPr>
          <p:spPr>
            <a:xfrm>
              <a:off x="5241131" y="41362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19050">
              <a:solidFill>
                <a:srgbClr val="2563EB"/>
              </a:solidFill>
            </a:ln>
          </p:spPr>
        </p:sp>
      </p:grpSp>
      <p:sp>
        <p:nvSpPr>
          <p:cNvPr id="46" name="TextBox 46"/>
          <p:cNvSpPr txBox="1"/>
          <p:nvPr/>
        </p:nvSpPr>
        <p:spPr>
          <a:xfrm>
            <a:off x="5583555" y="4035742"/>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Reverse proxy</a:t>
            </a:r>
          </a:p>
        </p:txBody>
      </p:sp>
      <p:sp>
        <p:nvSpPr>
          <p:cNvPr id="47" name="TextBox 47"/>
          <p:cNvSpPr txBox="1"/>
          <p:nvPr/>
        </p:nvSpPr>
        <p:spPr>
          <a:xfrm>
            <a:off x="5587365" y="4306252"/>
            <a:ext cx="2476976"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Nginx route frontend và backend API</a:t>
            </a:r>
          </a:p>
        </p:txBody>
      </p:sp>
      <p:sp>
        <p:nvSpPr>
          <p:cNvPr id="48" name="Rectangle 48"/>
          <p:cNvSpPr/>
          <p:nvPr/>
        </p:nvSpPr>
        <p:spPr>
          <a:xfrm>
            <a:off x="8096250" y="3867150"/>
            <a:ext cx="2724150" cy="723900"/>
          </a:xfrm>
          <a:prstGeom prst="roundRect">
            <a:avLst>
              <a:gd name="adj" fmla="val 23684"/>
            </a:avLst>
          </a:prstGeom>
          <a:solidFill>
            <a:srgbClr val="2563EB">
              <a:alpha val="8000"/>
            </a:srgbClr>
          </a:solidFill>
          <a:ln w="9525">
            <a:solidFill>
              <a:srgbClr val="2563EB"/>
            </a:solidFill>
          </a:ln>
        </p:spPr>
      </p:sp>
      <p:grpSp>
        <p:nvGrpSpPr>
          <p:cNvPr id="55" name="Group 55"/>
          <p:cNvGrpSpPr/>
          <p:nvPr/>
        </p:nvGrpSpPr>
        <p:grpSpPr>
          <a:xfrm>
            <a:off x="8360569" y="4136231"/>
            <a:ext cx="214312" cy="202406"/>
            <a:chOff x="8360569" y="4136231"/>
            <a:chExt cx="214312" cy="202406"/>
          </a:xfrm>
        </p:grpSpPr>
        <p:sp>
          <p:nvSpPr>
            <p:cNvPr id="49" name="Freeform 49"/>
            <p:cNvSpPr/>
            <p:nvPr/>
          </p:nvSpPr>
          <p:spPr>
            <a:xfrm>
              <a:off x="8467725" y="4219575"/>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9050">
              <a:solidFill>
                <a:srgbClr val="2563EB"/>
              </a:solidFill>
            </a:ln>
          </p:spPr>
        </p:sp>
        <p:sp>
          <p:nvSpPr>
            <p:cNvPr id="50" name="Freeform 50"/>
            <p:cNvSpPr/>
            <p:nvPr/>
          </p:nvSpPr>
          <p:spPr>
            <a:xfrm>
              <a:off x="8479631" y="4285059"/>
              <a:ext cx="47625" cy="53578"/>
            </a:xfrm>
            <a:custGeom>
              <a:avLst/>
              <a:gdLst/>
              <a:ahLst/>
              <a:cxnLst/>
              <a:rect l="l" t="t" r="r" b="b"/>
              <a:pathLst>
                <a:path w="47625" h="53578">
                  <a:moveTo>
                    <a:pt x="0" y="0"/>
                  </a:moveTo>
                  <a:lnTo>
                    <a:pt x="0" y="53578"/>
                  </a:lnTo>
                  <a:lnTo>
                    <a:pt x="23812" y="35719"/>
                  </a:lnTo>
                  <a:lnTo>
                    <a:pt x="47625" y="53578"/>
                  </a:lnTo>
                  <a:lnTo>
                    <a:pt x="47625" y="0"/>
                  </a:lnTo>
                </a:path>
              </a:pathLst>
            </a:custGeom>
            <a:noFill/>
            <a:ln w="19050">
              <a:solidFill>
                <a:srgbClr val="2563EB"/>
              </a:solidFill>
            </a:ln>
          </p:spPr>
        </p:sp>
        <p:sp>
          <p:nvSpPr>
            <p:cNvPr id="51" name="Freeform 51"/>
            <p:cNvSpPr/>
            <p:nvPr/>
          </p:nvSpPr>
          <p:spPr>
            <a:xfrm>
              <a:off x="8360569" y="4136231"/>
              <a:ext cx="214312" cy="166688"/>
            </a:xfrm>
            <a:custGeom>
              <a:avLst/>
              <a:gdLst/>
              <a:ahLst/>
              <a:cxnLst/>
              <a:rect l="l" t="t" r="r" b="b"/>
              <a:pathLst>
                <a:path w="214312" h="166688">
                  <a:moveTo>
                    <a:pt x="83344" y="166688"/>
                  </a:moveTo>
                  <a:lnTo>
                    <a:pt x="23812" y="166688"/>
                  </a:lnTo>
                  <a:cubicBezTo>
                    <a:pt x="10661" y="166688"/>
                    <a:pt x="0" y="156026"/>
                    <a:pt x="0" y="142875"/>
                  </a:cubicBezTo>
                  <a:lnTo>
                    <a:pt x="0" y="23812"/>
                  </a:lnTo>
                  <a:cubicBezTo>
                    <a:pt x="0" y="10716"/>
                    <a:pt x="10716" y="0"/>
                    <a:pt x="23812" y="0"/>
                  </a:cubicBezTo>
                  <a:lnTo>
                    <a:pt x="190500" y="0"/>
                  </a:lnTo>
                  <a:cubicBezTo>
                    <a:pt x="203651" y="0"/>
                    <a:pt x="214312" y="10661"/>
                    <a:pt x="214312" y="23812"/>
                  </a:cubicBezTo>
                  <a:lnTo>
                    <a:pt x="214312" y="142875"/>
                  </a:lnTo>
                  <a:cubicBezTo>
                    <a:pt x="214304" y="151374"/>
                    <a:pt x="209766" y="159223"/>
                    <a:pt x="202406" y="163473"/>
                  </a:cubicBezTo>
                </a:path>
              </a:pathLst>
            </a:custGeom>
            <a:noFill/>
            <a:ln w="19050">
              <a:solidFill>
                <a:srgbClr val="2563EB"/>
              </a:solidFill>
            </a:ln>
          </p:spPr>
        </p:sp>
        <p:sp>
          <p:nvSpPr>
            <p:cNvPr id="52" name="Freeform 52"/>
            <p:cNvSpPr/>
            <p:nvPr/>
          </p:nvSpPr>
          <p:spPr>
            <a:xfrm>
              <a:off x="8396288" y="4183856"/>
              <a:ext cx="142875" cy="9525"/>
            </a:xfrm>
            <a:custGeom>
              <a:avLst/>
              <a:gdLst/>
              <a:ahLst/>
              <a:cxnLst/>
              <a:rect l="l" t="t" r="r" b="b"/>
              <a:pathLst>
                <a:path w="142875" h="9525">
                  <a:moveTo>
                    <a:pt x="0" y="0"/>
                  </a:moveTo>
                  <a:lnTo>
                    <a:pt x="142875" y="0"/>
                  </a:lnTo>
                </a:path>
              </a:pathLst>
            </a:custGeom>
            <a:noFill/>
            <a:ln w="19050">
              <a:solidFill>
                <a:srgbClr val="2563EB"/>
              </a:solidFill>
            </a:ln>
          </p:spPr>
        </p:sp>
        <p:sp>
          <p:nvSpPr>
            <p:cNvPr id="53" name="Freeform 53"/>
            <p:cNvSpPr/>
            <p:nvPr/>
          </p:nvSpPr>
          <p:spPr>
            <a:xfrm>
              <a:off x="8396288" y="4219575"/>
              <a:ext cx="35719" cy="9525"/>
            </a:xfrm>
            <a:custGeom>
              <a:avLst/>
              <a:gdLst/>
              <a:ahLst/>
              <a:cxnLst/>
              <a:rect l="l" t="t" r="r" b="b"/>
              <a:pathLst>
                <a:path w="35719" h="9525">
                  <a:moveTo>
                    <a:pt x="0" y="0"/>
                  </a:moveTo>
                  <a:lnTo>
                    <a:pt x="35719" y="0"/>
                  </a:lnTo>
                </a:path>
              </a:pathLst>
            </a:custGeom>
            <a:noFill/>
            <a:ln w="19050">
              <a:solidFill>
                <a:srgbClr val="2563EB"/>
              </a:solidFill>
            </a:ln>
          </p:spPr>
        </p:sp>
        <p:sp>
          <p:nvSpPr>
            <p:cNvPr id="54" name="Freeform 54"/>
            <p:cNvSpPr/>
            <p:nvPr/>
          </p:nvSpPr>
          <p:spPr>
            <a:xfrm>
              <a:off x="8396288" y="4255294"/>
              <a:ext cx="23812" cy="9525"/>
            </a:xfrm>
            <a:custGeom>
              <a:avLst/>
              <a:gdLst/>
              <a:ahLst/>
              <a:cxnLst/>
              <a:rect l="l" t="t" r="r" b="b"/>
              <a:pathLst>
                <a:path w="23812" h="9525">
                  <a:moveTo>
                    <a:pt x="0" y="0"/>
                  </a:moveTo>
                  <a:lnTo>
                    <a:pt x="23812" y="0"/>
                  </a:lnTo>
                </a:path>
              </a:pathLst>
            </a:custGeom>
            <a:noFill/>
            <a:ln w="19050">
              <a:solidFill>
                <a:srgbClr val="2563EB"/>
              </a:solidFill>
            </a:ln>
          </p:spPr>
        </p:sp>
      </p:grpSp>
      <p:sp>
        <p:nvSpPr>
          <p:cNvPr id="56" name="TextBox 56"/>
          <p:cNvSpPr txBox="1"/>
          <p:nvPr/>
        </p:nvSpPr>
        <p:spPr>
          <a:xfrm>
            <a:off x="8726805" y="4035742"/>
            <a:ext cx="138580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SSL và renewal</a:t>
            </a:r>
          </a:p>
        </p:txBody>
      </p:sp>
      <p:sp>
        <p:nvSpPr>
          <p:cNvPr id="57" name="TextBox 57"/>
          <p:cNvSpPr txBox="1"/>
          <p:nvPr/>
        </p:nvSpPr>
        <p:spPr>
          <a:xfrm>
            <a:off x="8730615" y="4306252"/>
            <a:ext cx="2518981"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Certbot, HTTPS, lịch gia hạn định kỳ</a:t>
            </a:r>
          </a:p>
        </p:txBody>
      </p:sp>
      <p:sp>
        <p:nvSpPr>
          <p:cNvPr id="58" name="Rectangle 58"/>
          <p:cNvSpPr/>
          <p:nvPr/>
        </p:nvSpPr>
        <p:spPr>
          <a:xfrm>
            <a:off x="4953000" y="4876800"/>
            <a:ext cx="5867400" cy="400050"/>
          </a:xfrm>
          <a:prstGeom prst="roundRect">
            <a:avLst>
              <a:gd name="adj" fmla="val 33333"/>
            </a:avLst>
          </a:prstGeom>
          <a:solidFill>
            <a:srgbClr val="0F172A"/>
          </a:solidFill>
          <a:ln>
            <a:noFill/>
          </a:ln>
        </p:spPr>
      </p:sp>
      <p:sp>
        <p:nvSpPr>
          <p:cNvPr id="59" name="TextBox 59"/>
          <p:cNvSpPr txBox="1"/>
          <p:nvPr/>
        </p:nvSpPr>
        <p:spPr>
          <a:xfrm>
            <a:off x="5205412" y="5012531"/>
            <a:ext cx="4064079"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Consolas"/>
                <a:ea typeface="Microsoft YaHei"/>
                <a:cs typeface="Consolas"/>
              </a:rPr>
              <a:t>docker ps → nginx, frontend, backend, postgres đều Up</a:t>
            </a:r>
          </a:p>
        </p:txBody>
      </p:sp>
      <p:sp>
        <p:nvSpPr>
          <p:cNvPr id="60" name="Rectangle 60"/>
          <p:cNvSpPr/>
          <p:nvPr/>
        </p:nvSpPr>
        <p:spPr>
          <a:xfrm>
            <a:off x="1524000" y="5867400"/>
            <a:ext cx="9144000" cy="419100"/>
          </a:xfrm>
          <a:prstGeom prst="roundRect">
            <a:avLst>
              <a:gd name="adj" fmla="val 36364"/>
            </a:avLst>
          </a:prstGeom>
          <a:solidFill>
            <a:srgbClr val="FFFFFF"/>
          </a:solidFill>
          <a:ln w="9525">
            <a:solidFill>
              <a:srgbClr val="CBD5E1"/>
            </a:solidFill>
          </a:ln>
        </p:spPr>
      </p:sp>
      <p:sp>
        <p:nvSpPr>
          <p:cNvPr id="61" name="TextBox 61"/>
          <p:cNvSpPr txBox="1"/>
          <p:nvPr/>
        </p:nvSpPr>
        <p:spPr>
          <a:xfrm>
            <a:off x="1794510" y="6004560"/>
            <a:ext cx="807148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Kết luận: EC2 phù hợp để chứng minh IaaS vì nhóm phải xử lý gần như toàn bộ tầng vận hành phía trên VM.</a:t>
            </a:r>
          </a:p>
        </p:txBody>
      </p:sp>
      <p:sp>
        <p:nvSpPr>
          <p:cNvPr id="62" name="TextBox 62"/>
          <p:cNvSpPr txBox="1"/>
          <p:nvPr/>
        </p:nvSpPr>
        <p:spPr>
          <a:xfrm>
            <a:off x="521970" y="6475095"/>
            <a:ext cx="928973"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09 · IaaS on EC2</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8492342"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PaaS: nếu chuyển bớt vận hành cho nền tảng</a:t>
            </a:r>
          </a:p>
        </p:txBody>
      </p:sp>
      <p:sp>
        <p:nvSpPr>
          <p:cNvPr id="4" name="TextBox 4"/>
          <p:cNvSpPr txBox="1"/>
          <p:nvPr/>
        </p:nvSpPr>
        <p:spPr>
          <a:xfrm>
            <a:off x="535305" y="921068"/>
            <a:ext cx="980051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Platform as a Service giúp đội tập trung vào code, còn nền tảng xử lý runtime, scaling và nhiều tác vụ vận hành.</a:t>
            </a:r>
          </a:p>
        </p:txBody>
      </p:sp>
      <p:sp>
        <p:nvSpPr>
          <p:cNvPr id="5" name="Rectangle 5"/>
          <p:cNvSpPr/>
          <p:nvPr/>
        </p:nvSpPr>
        <p:spPr>
          <a:xfrm>
            <a:off x="742950" y="1504950"/>
            <a:ext cx="4953000" cy="4000500"/>
          </a:xfrm>
          <a:prstGeom prst="roundRect">
            <a:avLst>
              <a:gd name="adj" fmla="val 6190"/>
            </a:avLst>
          </a:prstGeom>
          <a:solidFill>
            <a:srgbClr val="FFFFFF"/>
          </a:solidFill>
          <a:ln w="19050">
            <a:solidFill>
              <a:srgbClr val="2563EB"/>
            </a:solidFill>
          </a:ln>
        </p:spPr>
      </p:sp>
      <p:sp>
        <p:nvSpPr>
          <p:cNvPr id="6" name="Rectangle 6"/>
          <p:cNvSpPr/>
          <p:nvPr/>
        </p:nvSpPr>
        <p:spPr>
          <a:xfrm>
            <a:off x="742950" y="1504950"/>
            <a:ext cx="4953000" cy="666750"/>
          </a:xfrm>
          <a:prstGeom prst="roundRect">
            <a:avLst>
              <a:gd name="adj" fmla="val 37143"/>
            </a:avLst>
          </a:prstGeom>
          <a:solidFill>
            <a:srgbClr val="2563EB"/>
          </a:solidFill>
          <a:ln>
            <a:noFill/>
          </a:ln>
        </p:spPr>
      </p:sp>
      <p:grpSp>
        <p:nvGrpSpPr>
          <p:cNvPr id="11" name="Group 11"/>
          <p:cNvGrpSpPr/>
          <p:nvPr/>
        </p:nvGrpSpPr>
        <p:grpSpPr>
          <a:xfrm>
            <a:off x="1104900" y="1755775"/>
            <a:ext cx="228600" cy="203200"/>
            <a:chOff x="1104900" y="1755775"/>
            <a:chExt cx="228600" cy="203200"/>
          </a:xfrm>
        </p:grpSpPr>
        <p:sp>
          <p:nvSpPr>
            <p:cNvPr id="7" name="Freeform 7"/>
            <p:cNvSpPr/>
            <p:nvPr/>
          </p:nvSpPr>
          <p:spPr>
            <a:xfrm>
              <a:off x="1104900" y="1755775"/>
              <a:ext cx="228600" cy="101600"/>
            </a:xfrm>
            <a:custGeom>
              <a:avLst/>
              <a:gdLst/>
              <a:ahLst/>
              <a:cxnLst/>
              <a:rect l="l" t="t" r="r" b="b"/>
              <a:pathLst>
                <a:path w="228600" h="101600">
                  <a:moveTo>
                    <a:pt x="0" y="38100"/>
                  </a:moveTo>
                  <a:cubicBezTo>
                    <a:pt x="0" y="17058"/>
                    <a:pt x="17058" y="0"/>
                    <a:pt x="38100" y="0"/>
                  </a:cubicBezTo>
                  <a:lnTo>
                    <a:pt x="190500" y="0"/>
                  </a:lnTo>
                  <a:cubicBezTo>
                    <a:pt x="211542" y="0"/>
                    <a:pt x="228600" y="17058"/>
                    <a:pt x="228600" y="38100"/>
                  </a:cubicBezTo>
                  <a:lnTo>
                    <a:pt x="228600" y="63500"/>
                  </a:lnTo>
                  <a:cubicBezTo>
                    <a:pt x="228600" y="84542"/>
                    <a:pt x="211542" y="101600"/>
                    <a:pt x="190500" y="101600"/>
                  </a:cubicBezTo>
                  <a:lnTo>
                    <a:pt x="38100" y="101600"/>
                  </a:lnTo>
                  <a:cubicBezTo>
                    <a:pt x="17058" y="101600"/>
                    <a:pt x="0" y="84542"/>
                    <a:pt x="0" y="63500"/>
                  </a:cubicBezTo>
                </a:path>
              </a:pathLst>
            </a:custGeom>
            <a:noFill/>
            <a:ln w="19050">
              <a:solidFill>
                <a:srgbClr val="FFFFFF"/>
              </a:solidFill>
            </a:ln>
          </p:spPr>
        </p:sp>
        <p:sp>
          <p:nvSpPr>
            <p:cNvPr id="8" name="Freeform 8"/>
            <p:cNvSpPr/>
            <p:nvPr/>
          </p:nvSpPr>
          <p:spPr>
            <a:xfrm>
              <a:off x="1104900" y="1857375"/>
              <a:ext cx="228600" cy="101600"/>
            </a:xfrm>
            <a:custGeom>
              <a:avLst/>
              <a:gdLst/>
              <a:ahLst/>
              <a:cxnLst/>
              <a:rect l="l" t="t" r="r" b="b"/>
              <a:pathLst>
                <a:path w="228600" h="101600">
                  <a:moveTo>
                    <a:pt x="0" y="38100"/>
                  </a:moveTo>
                  <a:cubicBezTo>
                    <a:pt x="0" y="17058"/>
                    <a:pt x="17058" y="0"/>
                    <a:pt x="38100" y="0"/>
                  </a:cubicBezTo>
                  <a:lnTo>
                    <a:pt x="190500" y="0"/>
                  </a:lnTo>
                  <a:cubicBezTo>
                    <a:pt x="211542" y="0"/>
                    <a:pt x="228600" y="17058"/>
                    <a:pt x="228600" y="38100"/>
                  </a:cubicBezTo>
                  <a:lnTo>
                    <a:pt x="228600" y="63500"/>
                  </a:lnTo>
                  <a:cubicBezTo>
                    <a:pt x="228600" y="84542"/>
                    <a:pt x="211542" y="101600"/>
                    <a:pt x="190500" y="101600"/>
                  </a:cubicBezTo>
                  <a:lnTo>
                    <a:pt x="38100" y="101600"/>
                  </a:lnTo>
                  <a:cubicBezTo>
                    <a:pt x="17058" y="101600"/>
                    <a:pt x="0" y="84542"/>
                    <a:pt x="0" y="63500"/>
                  </a:cubicBezTo>
                  <a:lnTo>
                    <a:pt x="0" y="38100"/>
                  </a:lnTo>
                </a:path>
              </a:pathLst>
            </a:custGeom>
            <a:noFill/>
            <a:ln w="19050">
              <a:solidFill>
                <a:srgbClr val="FFFFFF"/>
              </a:solidFill>
            </a:ln>
          </p:spPr>
        </p:sp>
        <p:sp>
          <p:nvSpPr>
            <p:cNvPr id="9" name="Freeform 9"/>
            <p:cNvSpPr/>
            <p:nvPr/>
          </p:nvSpPr>
          <p:spPr>
            <a:xfrm>
              <a:off x="1155700" y="1806575"/>
              <a:ext cx="9525" cy="9525"/>
            </a:xfrm>
            <a:custGeom>
              <a:avLst/>
              <a:gdLst/>
              <a:ahLst/>
              <a:cxnLst/>
              <a:rect l="l" t="t" r="r" b="b"/>
              <a:pathLst>
                <a:path w="9525" h="9525">
                  <a:moveTo>
                    <a:pt x="0" y="0"/>
                  </a:moveTo>
                  <a:lnTo>
                    <a:pt x="0" y="127"/>
                  </a:lnTo>
                </a:path>
              </a:pathLst>
            </a:custGeom>
            <a:noFill/>
            <a:ln w="19050">
              <a:solidFill>
                <a:srgbClr val="FFFFFF"/>
              </a:solidFill>
            </a:ln>
          </p:spPr>
        </p:sp>
        <p:sp>
          <p:nvSpPr>
            <p:cNvPr id="10" name="Freeform 10"/>
            <p:cNvSpPr/>
            <p:nvPr/>
          </p:nvSpPr>
          <p:spPr>
            <a:xfrm>
              <a:off x="1155700" y="1908175"/>
              <a:ext cx="9525" cy="9525"/>
            </a:xfrm>
            <a:custGeom>
              <a:avLst/>
              <a:gdLst/>
              <a:ahLst/>
              <a:cxnLst/>
              <a:rect l="l" t="t" r="r" b="b"/>
              <a:pathLst>
                <a:path w="9525" h="9525">
                  <a:moveTo>
                    <a:pt x="0" y="0"/>
                  </a:moveTo>
                  <a:lnTo>
                    <a:pt x="0" y="127"/>
                  </a:lnTo>
                </a:path>
              </a:pathLst>
            </a:custGeom>
            <a:noFill/>
            <a:ln w="19050">
              <a:solidFill>
                <a:srgbClr val="FFFFFF"/>
              </a:solidFill>
            </a:ln>
          </p:spPr>
        </p:sp>
      </p:grpSp>
      <p:sp>
        <p:nvSpPr>
          <p:cNvPr id="12" name="TextBox 12"/>
          <p:cNvSpPr txBox="1"/>
          <p:nvPr/>
        </p:nvSpPr>
        <p:spPr>
          <a:xfrm>
            <a:off x="1483042" y="1747361"/>
            <a:ext cx="2676494" cy="350520"/>
          </a:xfrm>
          <a:prstGeom prst="rect">
            <a:avLst/>
          </a:prstGeom>
          <a:noFill/>
          <a:ln>
            <a:noFill/>
          </a:ln>
        </p:spPr>
        <p:txBody>
          <a:bodyPr wrap="none" lIns="0" tIns="0" rIns="0" bIns="0" anchor="t" anchorCtr="0">
            <a:spAutoFit/>
          </a:bodyPr>
          <a:lstStyle/>
          <a:p>
            <a:pPr algn="l"/>
            <a:r>
              <a:rPr lang="zh-CN" sz="1725" b="1" dirty="0">
                <a:solidFill>
                  <a:srgbClr val="FFFFFF"/>
                </a:solidFill>
                <a:latin typeface="Arial"/>
                <a:ea typeface="Microsoft YaHei"/>
                <a:cs typeface="Arial"/>
              </a:rPr>
              <a:t>Hiện tại: EC2 dạng IaaS</a:t>
            </a:r>
          </a:p>
        </p:txBody>
      </p:sp>
      <p:sp>
        <p:nvSpPr>
          <p:cNvPr id="13" name="Rectangle 13"/>
          <p:cNvSpPr/>
          <p:nvPr/>
        </p:nvSpPr>
        <p:spPr>
          <a:xfrm>
            <a:off x="1123950" y="2533650"/>
            <a:ext cx="4191000" cy="438150"/>
          </a:xfrm>
          <a:prstGeom prst="roundRect">
            <a:avLst>
              <a:gd name="adj" fmla="val 30435"/>
            </a:avLst>
          </a:prstGeom>
          <a:solidFill>
            <a:srgbClr val="2563EB">
              <a:alpha val="8000"/>
            </a:srgbClr>
          </a:solidFill>
          <a:ln w="9525">
            <a:solidFill>
              <a:srgbClr val="2563EB"/>
            </a:solidFill>
          </a:ln>
        </p:spPr>
      </p:sp>
      <p:sp>
        <p:nvSpPr>
          <p:cNvPr id="14" name="TextBox 14"/>
          <p:cNvSpPr txBox="1"/>
          <p:nvPr/>
        </p:nvSpPr>
        <p:spPr>
          <a:xfrm>
            <a:off x="1375410" y="2680335"/>
            <a:ext cx="2942844"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Nhóm tự cấu hình OS, Docker và Nginx</a:t>
            </a:r>
          </a:p>
        </p:txBody>
      </p:sp>
      <p:sp>
        <p:nvSpPr>
          <p:cNvPr id="15" name="Rectangle 15"/>
          <p:cNvSpPr/>
          <p:nvPr/>
        </p:nvSpPr>
        <p:spPr>
          <a:xfrm>
            <a:off x="1123950" y="3143250"/>
            <a:ext cx="4191000" cy="438150"/>
          </a:xfrm>
          <a:prstGeom prst="roundRect">
            <a:avLst>
              <a:gd name="adj" fmla="val 30435"/>
            </a:avLst>
          </a:prstGeom>
          <a:solidFill>
            <a:srgbClr val="2563EB">
              <a:alpha val="8000"/>
            </a:srgbClr>
          </a:solidFill>
          <a:ln w="9525">
            <a:solidFill>
              <a:srgbClr val="2563EB"/>
            </a:solidFill>
          </a:ln>
        </p:spPr>
      </p:sp>
      <p:sp>
        <p:nvSpPr>
          <p:cNvPr id="16" name="TextBox 16"/>
          <p:cNvSpPr txBox="1"/>
          <p:nvPr/>
        </p:nvSpPr>
        <p:spPr>
          <a:xfrm>
            <a:off x="1375410" y="3289935"/>
            <a:ext cx="2542794"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Tự mở port, gắn domain, cấp SSL</a:t>
            </a:r>
          </a:p>
        </p:txBody>
      </p:sp>
      <p:sp>
        <p:nvSpPr>
          <p:cNvPr id="17" name="Rectangle 17"/>
          <p:cNvSpPr/>
          <p:nvPr/>
        </p:nvSpPr>
        <p:spPr>
          <a:xfrm>
            <a:off x="1123950" y="3752850"/>
            <a:ext cx="4191000" cy="438150"/>
          </a:xfrm>
          <a:prstGeom prst="roundRect">
            <a:avLst>
              <a:gd name="adj" fmla="val 30435"/>
            </a:avLst>
          </a:prstGeom>
          <a:solidFill>
            <a:srgbClr val="2563EB">
              <a:alpha val="8000"/>
            </a:srgbClr>
          </a:solidFill>
          <a:ln w="9525">
            <a:solidFill>
              <a:srgbClr val="2563EB"/>
            </a:solidFill>
          </a:ln>
        </p:spPr>
      </p:sp>
      <p:sp>
        <p:nvSpPr>
          <p:cNvPr id="18" name="TextBox 18"/>
          <p:cNvSpPr txBox="1"/>
          <p:nvPr/>
        </p:nvSpPr>
        <p:spPr>
          <a:xfrm>
            <a:off x="1375410" y="3899535"/>
            <a:ext cx="3262884"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Tự xem log, restart container, backup DB</a:t>
            </a:r>
          </a:p>
        </p:txBody>
      </p:sp>
      <p:sp>
        <p:nvSpPr>
          <p:cNvPr id="19" name="Rectangle 19"/>
          <p:cNvSpPr/>
          <p:nvPr/>
        </p:nvSpPr>
        <p:spPr>
          <a:xfrm>
            <a:off x="1123950" y="4362450"/>
            <a:ext cx="4191000" cy="438150"/>
          </a:xfrm>
          <a:prstGeom prst="roundRect">
            <a:avLst>
              <a:gd name="adj" fmla="val 30435"/>
            </a:avLst>
          </a:prstGeom>
          <a:solidFill>
            <a:srgbClr val="2563EB">
              <a:alpha val="8000"/>
            </a:srgbClr>
          </a:solidFill>
          <a:ln w="9525">
            <a:solidFill>
              <a:srgbClr val="2563EB"/>
            </a:solidFill>
          </a:ln>
        </p:spPr>
      </p:sp>
      <p:sp>
        <p:nvSpPr>
          <p:cNvPr id="20" name="TextBox 20"/>
          <p:cNvSpPr txBox="1"/>
          <p:nvPr/>
        </p:nvSpPr>
        <p:spPr>
          <a:xfrm>
            <a:off x="1375410" y="4509135"/>
            <a:ext cx="2454783"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Kiểm soát cao, trách nhiệm cao</a:t>
            </a:r>
          </a:p>
        </p:txBody>
      </p:sp>
      <p:sp>
        <p:nvSpPr>
          <p:cNvPr id="21" name="Rectangle 21"/>
          <p:cNvSpPr/>
          <p:nvPr/>
        </p:nvSpPr>
        <p:spPr>
          <a:xfrm>
            <a:off x="6496050" y="1504950"/>
            <a:ext cx="4953000" cy="4000500"/>
          </a:xfrm>
          <a:prstGeom prst="roundRect">
            <a:avLst>
              <a:gd name="adj" fmla="val 6190"/>
            </a:avLst>
          </a:prstGeom>
          <a:solidFill>
            <a:srgbClr val="FFFFFF"/>
          </a:solidFill>
          <a:ln w="19050">
            <a:solidFill>
              <a:srgbClr val="F59E0B"/>
            </a:solidFill>
          </a:ln>
        </p:spPr>
      </p:sp>
      <p:sp>
        <p:nvSpPr>
          <p:cNvPr id="22" name="Rectangle 22"/>
          <p:cNvSpPr/>
          <p:nvPr/>
        </p:nvSpPr>
        <p:spPr>
          <a:xfrm>
            <a:off x="6496050" y="1504950"/>
            <a:ext cx="4953000" cy="666750"/>
          </a:xfrm>
          <a:prstGeom prst="roundRect">
            <a:avLst>
              <a:gd name="adj" fmla="val 37143"/>
            </a:avLst>
          </a:prstGeom>
          <a:solidFill>
            <a:srgbClr val="F59E0B"/>
          </a:solidFill>
          <a:ln>
            <a:noFill/>
          </a:ln>
        </p:spPr>
      </p:sp>
      <p:grpSp>
        <p:nvGrpSpPr>
          <p:cNvPr id="25" name="Group 25"/>
          <p:cNvGrpSpPr/>
          <p:nvPr/>
        </p:nvGrpSpPr>
        <p:grpSpPr>
          <a:xfrm>
            <a:off x="6870691" y="1755775"/>
            <a:ext cx="203209" cy="203200"/>
            <a:chOff x="6870691" y="1755775"/>
            <a:chExt cx="203209" cy="203200"/>
          </a:xfrm>
        </p:grpSpPr>
        <p:sp>
          <p:nvSpPr>
            <p:cNvPr id="23" name="Freeform 23"/>
            <p:cNvSpPr/>
            <p:nvPr/>
          </p:nvSpPr>
          <p:spPr>
            <a:xfrm>
              <a:off x="6921500" y="1806575"/>
              <a:ext cx="152400" cy="152400"/>
            </a:xfrm>
            <a:custGeom>
              <a:avLst/>
              <a:gdLst/>
              <a:ahLst/>
              <a:cxnLst/>
              <a:rect l="l" t="t" r="r" b="b"/>
              <a:pathLst>
                <a:path w="152400" h="152400">
                  <a:moveTo>
                    <a:pt x="139700" y="3404"/>
                  </a:moveTo>
                  <a:cubicBezTo>
                    <a:pt x="147559" y="7941"/>
                    <a:pt x="152400" y="16326"/>
                    <a:pt x="152400" y="25400"/>
                  </a:cubicBezTo>
                  <a:lnTo>
                    <a:pt x="152400" y="127000"/>
                  </a:lnTo>
                  <a:cubicBezTo>
                    <a:pt x="152400" y="141028"/>
                    <a:pt x="141028" y="152400"/>
                    <a:pt x="127000" y="152400"/>
                  </a:cubicBezTo>
                  <a:lnTo>
                    <a:pt x="25400" y="152400"/>
                  </a:lnTo>
                  <a:cubicBezTo>
                    <a:pt x="11372" y="152400"/>
                    <a:pt x="0" y="141028"/>
                    <a:pt x="0" y="127000"/>
                  </a:cubicBezTo>
                  <a:lnTo>
                    <a:pt x="0" y="25400"/>
                  </a:lnTo>
                  <a:cubicBezTo>
                    <a:pt x="0" y="11372"/>
                    <a:pt x="11372" y="0"/>
                    <a:pt x="25400" y="0"/>
                  </a:cubicBezTo>
                  <a:lnTo>
                    <a:pt x="63500" y="0"/>
                  </a:lnTo>
                </a:path>
              </a:pathLst>
            </a:custGeom>
            <a:noFill/>
            <a:ln w="19050">
              <a:solidFill>
                <a:srgbClr val="FFFFFF"/>
              </a:solidFill>
            </a:ln>
          </p:spPr>
        </p:sp>
        <p:sp>
          <p:nvSpPr>
            <p:cNvPr id="24" name="Freeform 24"/>
            <p:cNvSpPr/>
            <p:nvPr/>
          </p:nvSpPr>
          <p:spPr>
            <a:xfrm>
              <a:off x="6870691" y="1755775"/>
              <a:ext cx="152409" cy="152400"/>
            </a:xfrm>
            <a:custGeom>
              <a:avLst/>
              <a:gdLst/>
              <a:ahLst/>
              <a:cxnLst/>
              <a:rect l="l" t="t" r="r" b="b"/>
              <a:pathLst>
                <a:path w="152409" h="152400">
                  <a:moveTo>
                    <a:pt x="12709" y="149022"/>
                  </a:moveTo>
                  <a:cubicBezTo>
                    <a:pt x="4842" y="144480"/>
                    <a:pt x="0" y="136083"/>
                    <a:pt x="9" y="127000"/>
                  </a:cubicBezTo>
                  <a:lnTo>
                    <a:pt x="9" y="25400"/>
                  </a:lnTo>
                  <a:cubicBezTo>
                    <a:pt x="9" y="11372"/>
                    <a:pt x="11381" y="0"/>
                    <a:pt x="25409" y="0"/>
                  </a:cubicBezTo>
                  <a:lnTo>
                    <a:pt x="127009" y="0"/>
                  </a:lnTo>
                  <a:cubicBezTo>
                    <a:pt x="141037" y="0"/>
                    <a:pt x="152409" y="11372"/>
                    <a:pt x="152409" y="25400"/>
                  </a:cubicBezTo>
                  <a:lnTo>
                    <a:pt x="152409" y="127000"/>
                  </a:lnTo>
                  <a:cubicBezTo>
                    <a:pt x="152409" y="141028"/>
                    <a:pt x="141037" y="152400"/>
                    <a:pt x="127009" y="152400"/>
                  </a:cubicBezTo>
                  <a:lnTo>
                    <a:pt x="88909" y="152400"/>
                  </a:lnTo>
                </a:path>
              </a:pathLst>
            </a:custGeom>
            <a:noFill/>
            <a:ln w="19050">
              <a:solidFill>
                <a:srgbClr val="FFFFFF"/>
              </a:solidFill>
            </a:ln>
          </p:spPr>
        </p:sp>
      </p:grpSp>
      <p:sp>
        <p:nvSpPr>
          <p:cNvPr id="26" name="TextBox 26"/>
          <p:cNvSpPr txBox="1"/>
          <p:nvPr/>
        </p:nvSpPr>
        <p:spPr>
          <a:xfrm>
            <a:off x="7236142" y="1747361"/>
            <a:ext cx="1782832" cy="350520"/>
          </a:xfrm>
          <a:prstGeom prst="rect">
            <a:avLst/>
          </a:prstGeom>
          <a:noFill/>
          <a:ln>
            <a:noFill/>
          </a:ln>
        </p:spPr>
        <p:txBody>
          <a:bodyPr wrap="none" lIns="0" tIns="0" rIns="0" bIns="0" anchor="t" anchorCtr="0">
            <a:spAutoFit/>
          </a:bodyPr>
          <a:lstStyle/>
          <a:p>
            <a:pPr algn="l"/>
            <a:r>
              <a:rPr lang="zh-CN" sz="1725" b="1" dirty="0">
                <a:solidFill>
                  <a:srgbClr val="FFFFFF"/>
                </a:solidFill>
                <a:latin typeface="Arial"/>
                <a:ea typeface="Microsoft YaHei"/>
                <a:cs typeface="Arial"/>
              </a:rPr>
              <a:t>Phương án PaaS</a:t>
            </a:r>
          </a:p>
        </p:txBody>
      </p:sp>
      <p:sp>
        <p:nvSpPr>
          <p:cNvPr id="27" name="Rectangle 27"/>
          <p:cNvSpPr/>
          <p:nvPr/>
        </p:nvSpPr>
        <p:spPr>
          <a:xfrm>
            <a:off x="6877050" y="2533650"/>
            <a:ext cx="4191000" cy="438150"/>
          </a:xfrm>
          <a:prstGeom prst="roundRect">
            <a:avLst>
              <a:gd name="adj" fmla="val 30435"/>
            </a:avLst>
          </a:prstGeom>
          <a:solidFill>
            <a:srgbClr val="F59E0B">
              <a:alpha val="12000"/>
            </a:srgbClr>
          </a:solidFill>
          <a:ln w="9525">
            <a:solidFill>
              <a:srgbClr val="F59E0B"/>
            </a:solidFill>
          </a:ln>
        </p:spPr>
      </p:sp>
      <p:sp>
        <p:nvSpPr>
          <p:cNvPr id="28" name="TextBox 28"/>
          <p:cNvSpPr txBox="1"/>
          <p:nvPr/>
        </p:nvSpPr>
        <p:spPr>
          <a:xfrm>
            <a:off x="7128510" y="2680335"/>
            <a:ext cx="3862959"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Deploy code lên App Runner hoặc Elastic Beanstalk</a:t>
            </a:r>
          </a:p>
        </p:txBody>
      </p:sp>
      <p:sp>
        <p:nvSpPr>
          <p:cNvPr id="29" name="Rectangle 29"/>
          <p:cNvSpPr/>
          <p:nvPr/>
        </p:nvSpPr>
        <p:spPr>
          <a:xfrm>
            <a:off x="6877050" y="3143250"/>
            <a:ext cx="4191000" cy="438150"/>
          </a:xfrm>
          <a:prstGeom prst="roundRect">
            <a:avLst>
              <a:gd name="adj" fmla="val 30435"/>
            </a:avLst>
          </a:prstGeom>
          <a:solidFill>
            <a:srgbClr val="F59E0B">
              <a:alpha val="12000"/>
            </a:srgbClr>
          </a:solidFill>
          <a:ln w="9525">
            <a:solidFill>
              <a:srgbClr val="F59E0B"/>
            </a:solidFill>
          </a:ln>
        </p:spPr>
      </p:sp>
      <p:sp>
        <p:nvSpPr>
          <p:cNvPr id="30" name="TextBox 30"/>
          <p:cNvSpPr txBox="1"/>
          <p:nvPr/>
        </p:nvSpPr>
        <p:spPr>
          <a:xfrm>
            <a:off x="7128510" y="3289935"/>
            <a:ext cx="3182874"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Nền tảng quản lý runtime và health check</a:t>
            </a:r>
          </a:p>
        </p:txBody>
      </p:sp>
      <p:sp>
        <p:nvSpPr>
          <p:cNvPr id="31" name="Rectangle 31"/>
          <p:cNvSpPr/>
          <p:nvPr/>
        </p:nvSpPr>
        <p:spPr>
          <a:xfrm>
            <a:off x="6877050" y="3752850"/>
            <a:ext cx="4191000" cy="438150"/>
          </a:xfrm>
          <a:prstGeom prst="roundRect">
            <a:avLst>
              <a:gd name="adj" fmla="val 30435"/>
            </a:avLst>
          </a:prstGeom>
          <a:solidFill>
            <a:srgbClr val="F59E0B">
              <a:alpha val="12000"/>
            </a:srgbClr>
          </a:solidFill>
          <a:ln w="9525">
            <a:solidFill>
              <a:srgbClr val="F59E0B"/>
            </a:solidFill>
          </a:ln>
        </p:spPr>
      </p:sp>
      <p:sp>
        <p:nvSpPr>
          <p:cNvPr id="32" name="TextBox 32"/>
          <p:cNvSpPr txBox="1"/>
          <p:nvPr/>
        </p:nvSpPr>
        <p:spPr>
          <a:xfrm>
            <a:off x="7128510" y="3899535"/>
            <a:ext cx="3118866"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Scaling, rolling deploy, log tích hợp hơn</a:t>
            </a:r>
          </a:p>
        </p:txBody>
      </p:sp>
      <p:sp>
        <p:nvSpPr>
          <p:cNvPr id="33" name="Rectangle 33"/>
          <p:cNvSpPr/>
          <p:nvPr/>
        </p:nvSpPr>
        <p:spPr>
          <a:xfrm>
            <a:off x="6877050" y="4362450"/>
            <a:ext cx="4191000" cy="438150"/>
          </a:xfrm>
          <a:prstGeom prst="roundRect">
            <a:avLst>
              <a:gd name="adj" fmla="val 30435"/>
            </a:avLst>
          </a:prstGeom>
          <a:solidFill>
            <a:srgbClr val="F59E0B">
              <a:alpha val="12000"/>
            </a:srgbClr>
          </a:solidFill>
          <a:ln w="9525">
            <a:solidFill>
              <a:srgbClr val="F59E0B"/>
            </a:solidFill>
          </a:ln>
        </p:spPr>
      </p:sp>
      <p:sp>
        <p:nvSpPr>
          <p:cNvPr id="34" name="TextBox 34"/>
          <p:cNvSpPr txBox="1"/>
          <p:nvPr/>
        </p:nvSpPr>
        <p:spPr>
          <a:xfrm>
            <a:off x="7128510" y="4509135"/>
            <a:ext cx="3846957"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Ít quản trị máy chủ, ít quyền tùy biến thấp tầng</a:t>
            </a:r>
          </a:p>
        </p:txBody>
      </p:sp>
      <p:sp>
        <p:nvSpPr>
          <p:cNvPr id="35" name="Rectangle 35"/>
          <p:cNvSpPr/>
          <p:nvPr/>
        </p:nvSpPr>
        <p:spPr>
          <a:xfrm>
            <a:off x="5143500" y="3219450"/>
            <a:ext cx="1905000" cy="666750"/>
          </a:xfrm>
          <a:prstGeom prst="roundRect">
            <a:avLst>
              <a:gd name="adj" fmla="val 28571"/>
            </a:avLst>
          </a:prstGeom>
          <a:solidFill>
            <a:srgbClr val="0F172A"/>
          </a:solidFill>
          <a:ln>
            <a:noFill/>
          </a:ln>
        </p:spPr>
      </p:sp>
      <p:sp>
        <p:nvSpPr>
          <p:cNvPr id="36" name="TextBox 36"/>
          <p:cNvSpPr txBox="1"/>
          <p:nvPr/>
        </p:nvSpPr>
        <p:spPr>
          <a:xfrm>
            <a:off x="5433060" y="3356610"/>
            <a:ext cx="100500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Dịch chuyển</a:t>
            </a:r>
          </a:p>
        </p:txBody>
      </p:sp>
      <p:sp>
        <p:nvSpPr>
          <p:cNvPr id="37" name="TextBox 37"/>
          <p:cNvSpPr txBox="1"/>
          <p:nvPr/>
        </p:nvSpPr>
        <p:spPr>
          <a:xfrm>
            <a:off x="5434965" y="3610928"/>
            <a:ext cx="1454849"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trách nhiệm vận hành</a:t>
            </a:r>
          </a:p>
        </p:txBody>
      </p:sp>
      <p:sp>
        <p:nvSpPr>
          <p:cNvPr id="38" name="Polygon 38"/>
          <p:cNvSpPr/>
          <p:nvPr/>
        </p:nvSpPr>
        <p:spPr>
          <a:xfrm>
            <a:off x="5962650" y="3981450"/>
            <a:ext cx="266700" cy="285750"/>
          </a:xfrm>
          <a:custGeom>
            <a:avLst/>
            <a:gdLst/>
            <a:ahLst/>
            <a:cxnLst/>
            <a:rect l="l" t="t" r="r" b="b"/>
            <a:pathLst>
              <a:path w="266700" h="285750">
                <a:moveTo>
                  <a:pt x="266700" y="0"/>
                </a:moveTo>
                <a:lnTo>
                  <a:pt x="133350" y="285750"/>
                </a:lnTo>
                <a:lnTo>
                  <a:pt x="0" y="0"/>
                </a:lnTo>
                <a:close/>
              </a:path>
            </a:pathLst>
          </a:custGeom>
          <a:solidFill>
            <a:srgbClr val="0F172A"/>
          </a:solidFill>
          <a:ln>
            <a:noFill/>
          </a:ln>
        </p:spPr>
      </p:sp>
      <p:sp>
        <p:nvSpPr>
          <p:cNvPr id="39" name="Rectangle 39"/>
          <p:cNvSpPr/>
          <p:nvPr/>
        </p:nvSpPr>
        <p:spPr>
          <a:xfrm>
            <a:off x="971550" y="5848350"/>
            <a:ext cx="10248900" cy="457200"/>
          </a:xfrm>
          <a:prstGeom prst="roundRect">
            <a:avLst>
              <a:gd name="adj" fmla="val 37500"/>
            </a:avLst>
          </a:prstGeom>
          <a:solidFill>
            <a:srgbClr val="FFFFFF"/>
          </a:solidFill>
          <a:ln w="9525">
            <a:solidFill>
              <a:srgbClr val="CBD5E1"/>
            </a:solidFill>
          </a:ln>
        </p:spPr>
      </p:sp>
      <p:sp>
        <p:nvSpPr>
          <p:cNvPr id="40" name="TextBox 40"/>
          <p:cNvSpPr txBox="1"/>
          <p:nvPr/>
        </p:nvSpPr>
        <p:spPr>
          <a:xfrm>
            <a:off x="1242060" y="6004560"/>
            <a:ext cx="9519666"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Trong báo cáo: SmartNoteCloud đang chạy trên IaaS; PaaS được dùng làm góc so sánh để giải thích mức trừu tượng cao hơn.</a:t>
            </a:r>
          </a:p>
        </p:txBody>
      </p:sp>
      <p:sp>
        <p:nvSpPr>
          <p:cNvPr id="41" name="TextBox 41"/>
          <p:cNvSpPr txBox="1"/>
          <p:nvPr/>
        </p:nvSpPr>
        <p:spPr>
          <a:xfrm>
            <a:off x="521970" y="6475095"/>
            <a:ext cx="1217009"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10 · PaaS Comparison</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5639136"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SaaS: dùng dịch vụ AI qua API</a:t>
            </a:r>
          </a:p>
        </p:txBody>
      </p:sp>
      <p:sp>
        <p:nvSpPr>
          <p:cNvPr id="4" name="TextBox 4"/>
          <p:cNvSpPr txBox="1"/>
          <p:nvPr/>
        </p:nvSpPr>
        <p:spPr>
          <a:xfrm>
            <a:off x="535305" y="921068"/>
            <a:ext cx="1034957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Software as a Service xuất hiện ở tầng tính năng AI: hệ thống gọi dịch vụ đã vận hành sẵn thay vì tự triển khai model.</a:t>
            </a:r>
          </a:p>
        </p:txBody>
      </p:sp>
      <p:sp>
        <p:nvSpPr>
          <p:cNvPr id="5" name="Rectangle 5"/>
          <p:cNvSpPr/>
          <p:nvPr/>
        </p:nvSpPr>
        <p:spPr>
          <a:xfrm>
            <a:off x="781050" y="1600200"/>
            <a:ext cx="3143250" cy="3543300"/>
          </a:xfrm>
          <a:prstGeom prst="roundRect">
            <a:avLst>
              <a:gd name="adj" fmla="val 7879"/>
            </a:avLst>
          </a:prstGeom>
          <a:solidFill>
            <a:srgbClr val="FFFFFF"/>
          </a:solidFill>
          <a:ln w="9525">
            <a:solidFill>
              <a:srgbClr val="CBD5E1"/>
            </a:solidFill>
          </a:ln>
        </p:spPr>
      </p:sp>
      <p:grpSp>
        <p:nvGrpSpPr>
          <p:cNvPr id="8" name="Group 8"/>
          <p:cNvGrpSpPr/>
          <p:nvPr/>
        </p:nvGrpSpPr>
        <p:grpSpPr>
          <a:xfrm>
            <a:off x="1290638" y="2112169"/>
            <a:ext cx="219075" cy="328613"/>
            <a:chOff x="1290638" y="2112169"/>
            <a:chExt cx="219075" cy="328613"/>
          </a:xfrm>
        </p:grpSpPr>
        <p:sp>
          <p:nvSpPr>
            <p:cNvPr id="6" name="Freeform 6"/>
            <p:cNvSpPr/>
            <p:nvPr/>
          </p:nvSpPr>
          <p:spPr>
            <a:xfrm>
              <a:off x="1327150" y="2112169"/>
              <a:ext cx="146050" cy="146050"/>
            </a:xfrm>
            <a:custGeom>
              <a:avLst/>
              <a:gdLst/>
              <a:ahLst/>
              <a:cxnLst/>
              <a:rect l="l" t="t" r="r" b="b"/>
              <a:pathLst>
                <a:path w="146050" h="146050">
                  <a:moveTo>
                    <a:pt x="0" y="73025"/>
                  </a:moveTo>
                  <a:cubicBezTo>
                    <a:pt x="0" y="113356"/>
                    <a:pt x="32694" y="146050"/>
                    <a:pt x="73025" y="146050"/>
                  </a:cubicBezTo>
                  <a:cubicBezTo>
                    <a:pt x="113356" y="146050"/>
                    <a:pt x="146050" y="113356"/>
                    <a:pt x="146050" y="73025"/>
                  </a:cubicBezTo>
                  <a:cubicBezTo>
                    <a:pt x="146050" y="32694"/>
                    <a:pt x="113356" y="0"/>
                    <a:pt x="73025" y="0"/>
                  </a:cubicBezTo>
                  <a:cubicBezTo>
                    <a:pt x="32694" y="0"/>
                    <a:pt x="0" y="32694"/>
                    <a:pt x="0" y="73025"/>
                  </a:cubicBezTo>
                </a:path>
              </a:pathLst>
            </a:custGeom>
            <a:noFill/>
            <a:ln w="19050">
              <a:solidFill>
                <a:srgbClr val="2563EB"/>
              </a:solidFill>
            </a:ln>
          </p:spPr>
        </p:sp>
        <p:sp>
          <p:nvSpPr>
            <p:cNvPr id="7" name="Freeform 7"/>
            <p:cNvSpPr/>
            <p:nvPr/>
          </p:nvSpPr>
          <p:spPr>
            <a:xfrm>
              <a:off x="1290638" y="2331244"/>
              <a:ext cx="219075" cy="109538"/>
            </a:xfrm>
            <a:custGeom>
              <a:avLst/>
              <a:gdLst/>
              <a:ahLst/>
              <a:cxnLst/>
              <a:rect l="l" t="t" r="r" b="b"/>
              <a:pathLst>
                <a:path w="219075" h="109538">
                  <a:moveTo>
                    <a:pt x="0" y="109538"/>
                  </a:moveTo>
                  <a:lnTo>
                    <a:pt x="0" y="73025"/>
                  </a:lnTo>
                  <a:cubicBezTo>
                    <a:pt x="0" y="32694"/>
                    <a:pt x="32694" y="0"/>
                    <a:pt x="73025" y="0"/>
                  </a:cubicBezTo>
                  <a:lnTo>
                    <a:pt x="146050" y="0"/>
                  </a:lnTo>
                  <a:cubicBezTo>
                    <a:pt x="186381" y="0"/>
                    <a:pt x="219075" y="32694"/>
                    <a:pt x="219075" y="73025"/>
                  </a:cubicBezTo>
                  <a:lnTo>
                    <a:pt x="219075" y="109538"/>
                  </a:lnTo>
                </a:path>
              </a:pathLst>
            </a:custGeom>
            <a:noFill/>
            <a:ln w="19050">
              <a:solidFill>
                <a:srgbClr val="2563EB"/>
              </a:solidFill>
            </a:ln>
          </p:spPr>
        </p:sp>
      </p:grpSp>
      <p:sp>
        <p:nvSpPr>
          <p:cNvPr id="9" name="TextBox 9"/>
          <p:cNvSpPr txBox="1"/>
          <p:nvPr/>
        </p:nvSpPr>
        <p:spPr>
          <a:xfrm>
            <a:off x="1158240" y="2625090"/>
            <a:ext cx="1167260"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Người học</a:t>
            </a:r>
          </a:p>
        </p:txBody>
      </p:sp>
      <p:sp>
        <p:nvSpPr>
          <p:cNvPr id="10" name="TextBox 10"/>
          <p:cNvSpPr txBox="1"/>
          <p:nvPr/>
        </p:nvSpPr>
        <p:spPr>
          <a:xfrm>
            <a:off x="1164908" y="3005614"/>
            <a:ext cx="4750475"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Viết note hoặc chọn nội dung cần tóm tắt, tạo flashcard.</a:t>
            </a:r>
          </a:p>
        </p:txBody>
      </p:sp>
      <p:sp>
        <p:nvSpPr>
          <p:cNvPr id="11" name="Rectangle 11"/>
          <p:cNvSpPr/>
          <p:nvPr/>
        </p:nvSpPr>
        <p:spPr>
          <a:xfrm>
            <a:off x="1181100" y="3829050"/>
            <a:ext cx="2133600" cy="495300"/>
          </a:xfrm>
          <a:prstGeom prst="roundRect">
            <a:avLst>
              <a:gd name="adj" fmla="val 26923"/>
            </a:avLst>
          </a:prstGeom>
          <a:solidFill>
            <a:srgbClr val="2563EB">
              <a:alpha val="8000"/>
            </a:srgbClr>
          </a:solidFill>
          <a:ln w="9525">
            <a:solidFill>
              <a:srgbClr val="2563EB"/>
            </a:solidFill>
          </a:ln>
        </p:spPr>
      </p:sp>
      <p:sp>
        <p:nvSpPr>
          <p:cNvPr id="12" name="TextBox 12"/>
          <p:cNvSpPr txBox="1"/>
          <p:nvPr/>
        </p:nvSpPr>
        <p:spPr>
          <a:xfrm>
            <a:off x="1414462" y="4021931"/>
            <a:ext cx="1266230" cy="228600"/>
          </a:xfrm>
          <a:prstGeom prst="rect">
            <a:avLst/>
          </a:prstGeom>
          <a:noFill/>
          <a:ln>
            <a:noFill/>
          </a:ln>
        </p:spPr>
        <p:txBody>
          <a:bodyPr wrap="none" lIns="0" tIns="0" rIns="0" bIns="0" anchor="t" anchorCtr="0">
            <a:spAutoFit/>
          </a:bodyPr>
          <a:lstStyle/>
          <a:p>
            <a:pPr algn="l"/>
            <a:r>
              <a:rPr lang="zh-CN" sz="1125" dirty="0">
                <a:solidFill>
                  <a:srgbClr val="2563EB"/>
                </a:solidFill>
                <a:latin typeface="Consolas"/>
                <a:ea typeface="Microsoft YaHei"/>
                <a:cs typeface="Consolas"/>
              </a:rPr>
              <a:t>POST /api/ai/...</a:t>
            </a:r>
          </a:p>
        </p:txBody>
      </p:sp>
      <p:sp>
        <p:nvSpPr>
          <p:cNvPr id="13" name="Polygon 13"/>
          <p:cNvSpPr/>
          <p:nvPr/>
        </p:nvSpPr>
        <p:spPr>
          <a:xfrm>
            <a:off x="4229100" y="3200400"/>
            <a:ext cx="400050" cy="342900"/>
          </a:xfrm>
          <a:custGeom>
            <a:avLst/>
            <a:gdLst/>
            <a:ahLst/>
            <a:cxnLst/>
            <a:rect l="l" t="t" r="r" b="b"/>
            <a:pathLst>
              <a:path w="400050" h="342900">
                <a:moveTo>
                  <a:pt x="0" y="0"/>
                </a:moveTo>
                <a:lnTo>
                  <a:pt x="400050" y="171450"/>
                </a:lnTo>
                <a:lnTo>
                  <a:pt x="0" y="342900"/>
                </a:lnTo>
                <a:close/>
              </a:path>
            </a:pathLst>
          </a:custGeom>
          <a:solidFill>
            <a:srgbClr val="CBD5E1"/>
          </a:solidFill>
          <a:ln>
            <a:noFill/>
          </a:ln>
        </p:spPr>
      </p:sp>
      <p:sp>
        <p:nvSpPr>
          <p:cNvPr id="14" name="Rectangle 14"/>
          <p:cNvSpPr/>
          <p:nvPr/>
        </p:nvSpPr>
        <p:spPr>
          <a:xfrm>
            <a:off x="4914900" y="1600200"/>
            <a:ext cx="3143250" cy="3543300"/>
          </a:xfrm>
          <a:prstGeom prst="roundRect">
            <a:avLst>
              <a:gd name="adj" fmla="val 7879"/>
            </a:avLst>
          </a:prstGeom>
          <a:solidFill>
            <a:srgbClr val="FFFFFF"/>
          </a:solidFill>
          <a:ln w="9525">
            <a:solidFill>
              <a:srgbClr val="CBD5E1"/>
            </a:solidFill>
          </a:ln>
        </p:spPr>
      </p:sp>
      <p:grpSp>
        <p:nvGrpSpPr>
          <p:cNvPr id="19" name="Group 19"/>
          <p:cNvGrpSpPr/>
          <p:nvPr/>
        </p:nvGrpSpPr>
        <p:grpSpPr>
          <a:xfrm>
            <a:off x="5387975" y="2203450"/>
            <a:ext cx="301625" cy="146050"/>
            <a:chOff x="5387975" y="2203450"/>
            <a:chExt cx="301625" cy="146050"/>
          </a:xfrm>
        </p:grpSpPr>
        <p:sp>
          <p:nvSpPr>
            <p:cNvPr id="15" name="Freeform 15"/>
            <p:cNvSpPr/>
            <p:nvPr/>
          </p:nvSpPr>
          <p:spPr>
            <a:xfrm>
              <a:off x="5387975" y="2294731"/>
              <a:ext cx="91281" cy="9525"/>
            </a:xfrm>
            <a:custGeom>
              <a:avLst/>
              <a:gdLst/>
              <a:ahLst/>
              <a:cxnLst/>
              <a:rect l="l" t="t" r="r" b="b"/>
              <a:pathLst>
                <a:path w="91281" h="9525">
                  <a:moveTo>
                    <a:pt x="0" y="0"/>
                  </a:moveTo>
                  <a:lnTo>
                    <a:pt x="91281" y="0"/>
                  </a:lnTo>
                </a:path>
              </a:pathLst>
            </a:custGeom>
            <a:noFill/>
            <a:ln w="19050">
              <a:solidFill>
                <a:srgbClr val="00A676"/>
              </a:solidFill>
            </a:ln>
          </p:spPr>
        </p:sp>
        <p:sp>
          <p:nvSpPr>
            <p:cNvPr id="16" name="Freeform 16"/>
            <p:cNvSpPr/>
            <p:nvPr/>
          </p:nvSpPr>
          <p:spPr>
            <a:xfrm>
              <a:off x="5534025" y="2203450"/>
              <a:ext cx="91281" cy="146050"/>
            </a:xfrm>
            <a:custGeom>
              <a:avLst/>
              <a:gdLst/>
              <a:ahLst/>
              <a:cxnLst/>
              <a:rect l="l" t="t" r="r" b="b"/>
              <a:pathLst>
                <a:path w="91281" h="146050">
                  <a:moveTo>
                    <a:pt x="0" y="146050"/>
                  </a:moveTo>
                  <a:lnTo>
                    <a:pt x="0" y="0"/>
                  </a:lnTo>
                  <a:lnTo>
                    <a:pt x="54769" y="0"/>
                  </a:lnTo>
                  <a:cubicBezTo>
                    <a:pt x="74934" y="0"/>
                    <a:pt x="91281" y="16347"/>
                    <a:pt x="91281" y="36512"/>
                  </a:cubicBezTo>
                  <a:lnTo>
                    <a:pt x="91281" y="54769"/>
                  </a:lnTo>
                  <a:cubicBezTo>
                    <a:pt x="91281" y="74934"/>
                    <a:pt x="74934" y="91281"/>
                    <a:pt x="54769" y="91281"/>
                  </a:cubicBezTo>
                  <a:lnTo>
                    <a:pt x="0" y="91281"/>
                  </a:lnTo>
                </a:path>
              </a:pathLst>
            </a:custGeom>
            <a:noFill/>
            <a:ln w="19050">
              <a:solidFill>
                <a:srgbClr val="00A676"/>
              </a:solidFill>
            </a:ln>
          </p:spPr>
        </p:sp>
        <p:sp>
          <p:nvSpPr>
            <p:cNvPr id="17" name="Freeform 17"/>
            <p:cNvSpPr/>
            <p:nvPr/>
          </p:nvSpPr>
          <p:spPr>
            <a:xfrm>
              <a:off x="5680075" y="2203450"/>
              <a:ext cx="9525" cy="146050"/>
            </a:xfrm>
            <a:custGeom>
              <a:avLst/>
              <a:gdLst/>
              <a:ahLst/>
              <a:cxnLst/>
              <a:rect l="l" t="t" r="r" b="b"/>
              <a:pathLst>
                <a:path w="9525" h="146050">
                  <a:moveTo>
                    <a:pt x="0" y="0"/>
                  </a:moveTo>
                  <a:lnTo>
                    <a:pt x="0" y="146050"/>
                  </a:lnTo>
                </a:path>
              </a:pathLst>
            </a:custGeom>
            <a:noFill/>
            <a:ln w="19050">
              <a:solidFill>
                <a:srgbClr val="00A676"/>
              </a:solidFill>
            </a:ln>
          </p:spPr>
        </p:sp>
        <p:sp>
          <p:nvSpPr>
            <p:cNvPr id="18" name="Freeform 18"/>
            <p:cNvSpPr/>
            <p:nvPr/>
          </p:nvSpPr>
          <p:spPr>
            <a:xfrm>
              <a:off x="5387975" y="2203450"/>
              <a:ext cx="91281" cy="146050"/>
            </a:xfrm>
            <a:custGeom>
              <a:avLst/>
              <a:gdLst/>
              <a:ahLst/>
              <a:cxnLst/>
              <a:rect l="l" t="t" r="r" b="b"/>
              <a:pathLst>
                <a:path w="91281" h="146050">
                  <a:moveTo>
                    <a:pt x="91281" y="146050"/>
                  </a:moveTo>
                  <a:lnTo>
                    <a:pt x="91281" y="45641"/>
                  </a:lnTo>
                  <a:cubicBezTo>
                    <a:pt x="91281" y="20434"/>
                    <a:pt x="70847" y="0"/>
                    <a:pt x="45641" y="0"/>
                  </a:cubicBezTo>
                  <a:cubicBezTo>
                    <a:pt x="20434" y="0"/>
                    <a:pt x="0" y="20434"/>
                    <a:pt x="0" y="45641"/>
                  </a:cubicBezTo>
                  <a:lnTo>
                    <a:pt x="0" y="146050"/>
                  </a:lnTo>
                </a:path>
              </a:pathLst>
            </a:custGeom>
            <a:noFill/>
            <a:ln w="19050">
              <a:solidFill>
                <a:srgbClr val="00A676"/>
              </a:solidFill>
            </a:ln>
          </p:spPr>
        </p:sp>
      </p:grpSp>
      <p:sp>
        <p:nvSpPr>
          <p:cNvPr id="20" name="TextBox 20"/>
          <p:cNvSpPr txBox="1"/>
          <p:nvPr/>
        </p:nvSpPr>
        <p:spPr>
          <a:xfrm>
            <a:off x="5292090" y="2625090"/>
            <a:ext cx="1998964"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FastAPI backend</a:t>
            </a:r>
          </a:p>
        </p:txBody>
      </p:sp>
      <p:sp>
        <p:nvSpPr>
          <p:cNvPr id="21" name="TextBox 21"/>
          <p:cNvSpPr txBox="1"/>
          <p:nvPr/>
        </p:nvSpPr>
        <p:spPr>
          <a:xfrm>
            <a:off x="5298758" y="3005614"/>
            <a:ext cx="4639961" cy="259080"/>
          </a:xfrm>
          <a:prstGeom prst="rect">
            <a:avLst/>
          </a:prstGeom>
          <a:noFill/>
          <a:ln>
            <a:noFill/>
          </a:ln>
        </p:spPr>
        <p:txBody>
          <a:bodyPr wrap="none" lIns="0" tIns="0" rIns="0" bIns="0" anchor="t" anchorCtr="0">
            <a:spAutoFit/>
          </a:bodyPr>
          <a:lstStyle/>
          <a:p>
            <a:pPr algn="l"/>
            <a:r>
              <a:rPr lang="zh-CN" sz="1275" dirty="0">
                <a:solidFill>
                  <a:srgbClr val="475569"/>
                </a:solidFill>
                <a:latin typeface="Arial"/>
                <a:ea typeface="Microsoft YaHei"/>
                <a:cs typeface="Arial"/>
              </a:rPr>
              <a:t>Chuẩn hóa prompt, gọi API, lưu kết quả vào PostgreSQL.</a:t>
            </a:r>
          </a:p>
        </p:txBody>
      </p:sp>
      <p:sp>
        <p:nvSpPr>
          <p:cNvPr id="22" name="Rectangle 22"/>
          <p:cNvSpPr/>
          <p:nvPr/>
        </p:nvSpPr>
        <p:spPr>
          <a:xfrm>
            <a:off x="5314950" y="3829050"/>
            <a:ext cx="2133600" cy="495300"/>
          </a:xfrm>
          <a:prstGeom prst="roundRect">
            <a:avLst>
              <a:gd name="adj" fmla="val 26923"/>
            </a:avLst>
          </a:prstGeom>
          <a:solidFill>
            <a:srgbClr val="00A676">
              <a:alpha val="8000"/>
            </a:srgbClr>
          </a:solidFill>
          <a:ln w="9525">
            <a:solidFill>
              <a:srgbClr val="00A676"/>
            </a:solidFill>
          </a:ln>
        </p:spPr>
      </p:sp>
      <p:sp>
        <p:nvSpPr>
          <p:cNvPr id="23" name="TextBox 23"/>
          <p:cNvSpPr txBox="1"/>
          <p:nvPr/>
        </p:nvSpPr>
        <p:spPr>
          <a:xfrm>
            <a:off x="5548312" y="4021931"/>
            <a:ext cx="1033701" cy="228600"/>
          </a:xfrm>
          <a:prstGeom prst="rect">
            <a:avLst/>
          </a:prstGeom>
          <a:noFill/>
          <a:ln>
            <a:noFill/>
          </a:ln>
        </p:spPr>
        <p:txBody>
          <a:bodyPr wrap="none" lIns="0" tIns="0" rIns="0" bIns="0" anchor="t" anchorCtr="0">
            <a:spAutoFit/>
          </a:bodyPr>
          <a:lstStyle/>
          <a:p>
            <a:pPr algn="l"/>
            <a:r>
              <a:rPr lang="zh-CN" sz="1125" dirty="0">
                <a:solidFill>
                  <a:srgbClr val="00A676"/>
                </a:solidFill>
                <a:latin typeface="Consolas"/>
                <a:ea typeface="Microsoft YaHei"/>
                <a:cs typeface="Consolas"/>
              </a:rPr>
              <a:t>MIMO_API_KEY</a:t>
            </a:r>
          </a:p>
        </p:txBody>
      </p:sp>
      <p:sp>
        <p:nvSpPr>
          <p:cNvPr id="24" name="Polygon 24"/>
          <p:cNvSpPr/>
          <p:nvPr/>
        </p:nvSpPr>
        <p:spPr>
          <a:xfrm>
            <a:off x="8362950" y="3200400"/>
            <a:ext cx="400050" cy="342900"/>
          </a:xfrm>
          <a:custGeom>
            <a:avLst/>
            <a:gdLst/>
            <a:ahLst/>
            <a:cxnLst/>
            <a:rect l="l" t="t" r="r" b="b"/>
            <a:pathLst>
              <a:path w="400050" h="342900">
                <a:moveTo>
                  <a:pt x="0" y="0"/>
                </a:moveTo>
                <a:lnTo>
                  <a:pt x="400050" y="171450"/>
                </a:lnTo>
                <a:lnTo>
                  <a:pt x="0" y="342900"/>
                </a:lnTo>
                <a:close/>
              </a:path>
            </a:pathLst>
          </a:custGeom>
          <a:solidFill>
            <a:srgbClr val="CBD5E1"/>
          </a:solidFill>
          <a:ln>
            <a:noFill/>
          </a:ln>
        </p:spPr>
      </p:sp>
      <p:sp>
        <p:nvSpPr>
          <p:cNvPr id="25" name="Rectangle 25"/>
          <p:cNvSpPr/>
          <p:nvPr/>
        </p:nvSpPr>
        <p:spPr>
          <a:xfrm>
            <a:off x="9048750" y="1600200"/>
            <a:ext cx="2362200" cy="3543300"/>
          </a:xfrm>
          <a:prstGeom prst="roundRect">
            <a:avLst>
              <a:gd name="adj" fmla="val 10484"/>
            </a:avLst>
          </a:prstGeom>
          <a:solidFill>
            <a:srgbClr val="00A676"/>
          </a:solidFill>
          <a:ln>
            <a:noFill/>
          </a:ln>
        </p:spPr>
      </p:sp>
      <p:grpSp>
        <p:nvGrpSpPr>
          <p:cNvPr id="29" name="Group 29"/>
          <p:cNvGrpSpPr/>
          <p:nvPr/>
        </p:nvGrpSpPr>
        <p:grpSpPr>
          <a:xfrm>
            <a:off x="9484955" y="2149435"/>
            <a:ext cx="410329" cy="304840"/>
            <a:chOff x="9484955" y="2149435"/>
            <a:chExt cx="410329" cy="304840"/>
          </a:xfrm>
        </p:grpSpPr>
        <p:sp>
          <p:nvSpPr>
            <p:cNvPr id="26" name="Freeform 26"/>
            <p:cNvSpPr/>
            <p:nvPr/>
          </p:nvSpPr>
          <p:spPr>
            <a:xfrm>
              <a:off x="9484955" y="2149435"/>
              <a:ext cx="410329" cy="265152"/>
            </a:xfrm>
            <a:custGeom>
              <a:avLst/>
              <a:gdLst/>
              <a:ahLst/>
              <a:cxnLst/>
              <a:rect l="l" t="t" r="r" b="b"/>
              <a:pathLst>
                <a:path w="410329" h="265152">
                  <a:moveTo>
                    <a:pt x="340876" y="265152"/>
                  </a:moveTo>
                  <a:cubicBezTo>
                    <a:pt x="379234" y="265152"/>
                    <a:pt x="410329" y="234057"/>
                    <a:pt x="410329" y="195699"/>
                  </a:cubicBezTo>
                  <a:cubicBezTo>
                    <a:pt x="410329" y="157341"/>
                    <a:pt x="379234" y="126246"/>
                    <a:pt x="340876" y="126246"/>
                  </a:cubicBezTo>
                  <a:lnTo>
                    <a:pt x="321032" y="126246"/>
                  </a:lnTo>
                  <a:cubicBezTo>
                    <a:pt x="328910" y="91162"/>
                    <a:pt x="315377" y="54947"/>
                    <a:pt x="285552" y="31254"/>
                  </a:cubicBezTo>
                  <a:cubicBezTo>
                    <a:pt x="255726" y="7580"/>
                    <a:pt x="214114" y="0"/>
                    <a:pt x="176411" y="11410"/>
                  </a:cubicBezTo>
                  <a:cubicBezTo>
                    <a:pt x="138708" y="22820"/>
                    <a:pt x="110629" y="51475"/>
                    <a:pt x="102751" y="86558"/>
                  </a:cubicBezTo>
                  <a:cubicBezTo>
                    <a:pt x="59115" y="84812"/>
                    <a:pt x="20300" y="112871"/>
                    <a:pt x="10160" y="153491"/>
                  </a:cubicBezTo>
                  <a:cubicBezTo>
                    <a:pt x="0" y="194112"/>
                    <a:pt x="21352" y="235922"/>
                    <a:pt x="61079" y="253246"/>
                  </a:cubicBezTo>
                </a:path>
              </a:pathLst>
            </a:custGeom>
            <a:noFill/>
            <a:ln w="19050">
              <a:solidFill>
                <a:srgbClr val="FFFFFF"/>
              </a:solidFill>
            </a:ln>
          </p:spPr>
        </p:sp>
        <p:sp>
          <p:nvSpPr>
            <p:cNvPr id="27" name="Freeform 27"/>
            <p:cNvSpPr/>
            <p:nvPr/>
          </p:nvSpPr>
          <p:spPr>
            <a:xfrm>
              <a:off x="9607550" y="2355056"/>
              <a:ext cx="158750" cy="99219"/>
            </a:xfrm>
            <a:custGeom>
              <a:avLst/>
              <a:gdLst/>
              <a:ahLst/>
              <a:cxnLst/>
              <a:rect l="l" t="t" r="r" b="b"/>
              <a:pathLst>
                <a:path w="158750" h="99219">
                  <a:moveTo>
                    <a:pt x="0" y="19844"/>
                  </a:moveTo>
                  <a:cubicBezTo>
                    <a:pt x="0" y="8884"/>
                    <a:pt x="8884" y="0"/>
                    <a:pt x="19844" y="0"/>
                  </a:cubicBezTo>
                  <a:lnTo>
                    <a:pt x="138906" y="0"/>
                  </a:lnTo>
                  <a:cubicBezTo>
                    <a:pt x="149866" y="0"/>
                    <a:pt x="158750" y="8884"/>
                    <a:pt x="158750" y="19844"/>
                  </a:cubicBezTo>
                  <a:lnTo>
                    <a:pt x="158750" y="79375"/>
                  </a:lnTo>
                  <a:cubicBezTo>
                    <a:pt x="158750" y="90334"/>
                    <a:pt x="149866" y="99219"/>
                    <a:pt x="138906" y="99219"/>
                  </a:cubicBezTo>
                  <a:lnTo>
                    <a:pt x="19844" y="99219"/>
                  </a:lnTo>
                  <a:cubicBezTo>
                    <a:pt x="8884" y="99219"/>
                    <a:pt x="0" y="90334"/>
                    <a:pt x="0" y="79375"/>
                  </a:cubicBezTo>
                  <a:lnTo>
                    <a:pt x="0" y="19844"/>
                  </a:lnTo>
                </a:path>
              </a:pathLst>
            </a:custGeom>
            <a:noFill/>
            <a:ln w="19050">
              <a:solidFill>
                <a:srgbClr val="FFFFFF"/>
              </a:solidFill>
            </a:ln>
          </p:spPr>
        </p:sp>
        <p:sp>
          <p:nvSpPr>
            <p:cNvPr id="28" name="Freeform 28"/>
            <p:cNvSpPr/>
            <p:nvPr/>
          </p:nvSpPr>
          <p:spPr>
            <a:xfrm>
              <a:off x="9647238" y="2275681"/>
              <a:ext cx="79375" cy="79375"/>
            </a:xfrm>
            <a:custGeom>
              <a:avLst/>
              <a:gdLst/>
              <a:ahLst/>
              <a:cxnLst/>
              <a:rect l="l" t="t" r="r" b="b"/>
              <a:pathLst>
                <a:path w="79375" h="79375">
                  <a:moveTo>
                    <a:pt x="0" y="79375"/>
                  </a:moveTo>
                  <a:lnTo>
                    <a:pt x="0" y="39688"/>
                  </a:lnTo>
                  <a:cubicBezTo>
                    <a:pt x="0" y="17769"/>
                    <a:pt x="17769" y="0"/>
                    <a:pt x="39687" y="0"/>
                  </a:cubicBezTo>
                  <a:cubicBezTo>
                    <a:pt x="61606" y="0"/>
                    <a:pt x="79375" y="17769"/>
                    <a:pt x="79375" y="39688"/>
                  </a:cubicBezTo>
                  <a:lnTo>
                    <a:pt x="79375" y="79375"/>
                  </a:lnTo>
                </a:path>
              </a:pathLst>
            </a:custGeom>
            <a:noFill/>
            <a:ln w="19050">
              <a:solidFill>
                <a:srgbClr val="FFFFFF"/>
              </a:solidFill>
            </a:ln>
          </p:spPr>
        </p:sp>
      </p:grpSp>
      <p:sp>
        <p:nvSpPr>
          <p:cNvPr id="30" name="TextBox 30"/>
          <p:cNvSpPr txBox="1"/>
          <p:nvPr/>
        </p:nvSpPr>
        <p:spPr>
          <a:xfrm>
            <a:off x="9424988" y="2616994"/>
            <a:ext cx="1412796" cy="381000"/>
          </a:xfrm>
          <a:prstGeom prst="rect">
            <a:avLst/>
          </a:prstGeom>
          <a:noFill/>
          <a:ln>
            <a:noFill/>
          </a:ln>
        </p:spPr>
        <p:txBody>
          <a:bodyPr wrap="none" lIns="0" tIns="0" rIns="0" bIns="0" anchor="t" anchorCtr="0">
            <a:spAutoFit/>
          </a:bodyPr>
          <a:lstStyle/>
          <a:p>
            <a:pPr algn="l"/>
            <a:r>
              <a:rPr lang="zh-CN" sz="1875" b="1" dirty="0">
                <a:solidFill>
                  <a:srgbClr val="FFFFFF"/>
                </a:solidFill>
                <a:latin typeface="Arial"/>
                <a:ea typeface="Microsoft YaHei"/>
                <a:cs typeface="Arial"/>
              </a:rPr>
              <a:t>Mimo AI API</a:t>
            </a:r>
          </a:p>
        </p:txBody>
      </p:sp>
      <p:sp>
        <p:nvSpPr>
          <p:cNvPr id="31" name="TextBox 31"/>
          <p:cNvSpPr txBox="1"/>
          <p:nvPr/>
        </p:nvSpPr>
        <p:spPr>
          <a:xfrm>
            <a:off x="9432608" y="3005614"/>
            <a:ext cx="4350925"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Dịch vụ AI bên ngoài cung cấp khả năng sinh nội dung.</a:t>
            </a:r>
          </a:p>
        </p:txBody>
      </p:sp>
      <p:sp>
        <p:nvSpPr>
          <p:cNvPr id="32" name="Rectangle 32"/>
          <p:cNvSpPr/>
          <p:nvPr/>
        </p:nvSpPr>
        <p:spPr>
          <a:xfrm>
            <a:off x="9448800" y="3829050"/>
            <a:ext cx="1428750" cy="495300"/>
          </a:xfrm>
          <a:prstGeom prst="roundRect">
            <a:avLst>
              <a:gd name="adj" fmla="val 26923"/>
            </a:avLst>
          </a:prstGeom>
          <a:solidFill>
            <a:srgbClr val="FFFFFF">
              <a:alpha val="18000"/>
            </a:srgbClr>
          </a:solidFill>
          <a:ln w="9525">
            <a:solidFill>
              <a:srgbClr val="FFFFFF"/>
            </a:solidFill>
          </a:ln>
        </p:spPr>
      </p:sp>
      <p:sp>
        <p:nvSpPr>
          <p:cNvPr id="33" name="TextBox 33"/>
          <p:cNvSpPr txBox="1"/>
          <p:nvPr/>
        </p:nvSpPr>
        <p:spPr>
          <a:xfrm>
            <a:off x="9682162" y="4021931"/>
            <a:ext cx="696158"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Consolas"/>
                <a:ea typeface="Microsoft YaHei"/>
                <a:cs typeface="Consolas"/>
              </a:rPr>
              <a:t>HTTPS API</a:t>
            </a:r>
          </a:p>
        </p:txBody>
      </p:sp>
      <p:sp>
        <p:nvSpPr>
          <p:cNvPr id="34" name="Rectangle 34"/>
          <p:cNvSpPr/>
          <p:nvPr/>
        </p:nvSpPr>
        <p:spPr>
          <a:xfrm>
            <a:off x="1143000" y="5581650"/>
            <a:ext cx="2476500" cy="666750"/>
          </a:xfrm>
          <a:prstGeom prst="roundRect">
            <a:avLst>
              <a:gd name="adj" fmla="val 25714"/>
            </a:avLst>
          </a:prstGeom>
          <a:solidFill>
            <a:srgbClr val="FFFFFF"/>
          </a:solidFill>
          <a:ln w="9525">
            <a:solidFill>
              <a:srgbClr val="CBD5E1"/>
            </a:solidFill>
          </a:ln>
        </p:spPr>
      </p:sp>
      <p:sp>
        <p:nvSpPr>
          <p:cNvPr id="35" name="Freeform 35"/>
          <p:cNvSpPr/>
          <p:nvPr/>
        </p:nvSpPr>
        <p:spPr>
          <a:xfrm>
            <a:off x="1431131" y="5855494"/>
            <a:ext cx="178594" cy="119062"/>
          </a:xfrm>
          <a:custGeom>
            <a:avLst/>
            <a:gdLst/>
            <a:ahLst/>
            <a:cxnLst/>
            <a:rect l="l" t="t" r="r" b="b"/>
            <a:pathLst>
              <a:path w="178594" h="119062">
                <a:moveTo>
                  <a:pt x="0" y="59531"/>
                </a:moveTo>
                <a:lnTo>
                  <a:pt x="59531" y="119062"/>
                </a:lnTo>
                <a:lnTo>
                  <a:pt x="178594" y="0"/>
                </a:lnTo>
              </a:path>
            </a:pathLst>
          </a:custGeom>
          <a:noFill/>
          <a:ln w="19050">
            <a:solidFill>
              <a:srgbClr val="00A676"/>
            </a:solidFill>
          </a:ln>
        </p:spPr>
      </p:sp>
      <p:sp>
        <p:nvSpPr>
          <p:cNvPr id="36" name="TextBox 36"/>
          <p:cNvSpPr txBox="1"/>
          <p:nvPr/>
        </p:nvSpPr>
        <p:spPr>
          <a:xfrm>
            <a:off x="1775460" y="5880735"/>
            <a:ext cx="2582799"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Không mua GPU, không host model</a:t>
            </a:r>
          </a:p>
        </p:txBody>
      </p:sp>
      <p:sp>
        <p:nvSpPr>
          <p:cNvPr id="37" name="Rectangle 37"/>
          <p:cNvSpPr/>
          <p:nvPr/>
        </p:nvSpPr>
        <p:spPr>
          <a:xfrm>
            <a:off x="4857750" y="5581650"/>
            <a:ext cx="2476500" cy="666750"/>
          </a:xfrm>
          <a:prstGeom prst="roundRect">
            <a:avLst>
              <a:gd name="adj" fmla="val 25714"/>
            </a:avLst>
          </a:prstGeom>
          <a:solidFill>
            <a:srgbClr val="FFFFFF"/>
          </a:solidFill>
          <a:ln w="9525">
            <a:solidFill>
              <a:srgbClr val="CBD5E1"/>
            </a:solidFill>
          </a:ln>
        </p:spPr>
      </p:sp>
      <p:grpSp>
        <p:nvGrpSpPr>
          <p:cNvPr id="40" name="Group 40"/>
          <p:cNvGrpSpPr/>
          <p:nvPr/>
        </p:nvGrpSpPr>
        <p:grpSpPr>
          <a:xfrm>
            <a:off x="5122069" y="5807871"/>
            <a:ext cx="214310" cy="214310"/>
            <a:chOff x="5122069" y="5807871"/>
            <a:chExt cx="214310" cy="214310"/>
          </a:xfrm>
        </p:grpSpPr>
        <p:sp>
          <p:nvSpPr>
            <p:cNvPr id="38" name="Freeform 38"/>
            <p:cNvSpPr/>
            <p:nvPr/>
          </p:nvSpPr>
          <p:spPr>
            <a:xfrm>
              <a:off x="5122069" y="5807871"/>
              <a:ext cx="214310" cy="214310"/>
            </a:xfrm>
            <a:custGeom>
              <a:avLst/>
              <a:gdLst/>
              <a:ahLst/>
              <a:cxnLst/>
              <a:rect l="l" t="t" r="r" b="b"/>
              <a:pathLst>
                <a:path w="214310" h="214310">
                  <a:moveTo>
                    <a:pt x="161389" y="10035"/>
                  </a:moveTo>
                  <a:lnTo>
                    <a:pt x="204276" y="52921"/>
                  </a:lnTo>
                  <a:cubicBezTo>
                    <a:pt x="210701" y="59345"/>
                    <a:pt x="214310" y="68059"/>
                    <a:pt x="214310" y="77144"/>
                  </a:cubicBezTo>
                  <a:cubicBezTo>
                    <a:pt x="214310" y="86230"/>
                    <a:pt x="210701" y="94943"/>
                    <a:pt x="204276" y="101368"/>
                  </a:cubicBezTo>
                  <a:lnTo>
                    <a:pt x="172807" y="132836"/>
                  </a:lnTo>
                  <a:cubicBezTo>
                    <a:pt x="166383" y="139261"/>
                    <a:pt x="157670" y="142870"/>
                    <a:pt x="148584" y="142870"/>
                  </a:cubicBezTo>
                  <a:cubicBezTo>
                    <a:pt x="139498" y="142870"/>
                    <a:pt x="130785" y="139261"/>
                    <a:pt x="124361" y="132836"/>
                  </a:cubicBezTo>
                  <a:lnTo>
                    <a:pt x="120777" y="129252"/>
                  </a:lnTo>
                  <a:lnTo>
                    <a:pt x="42696" y="207333"/>
                  </a:lnTo>
                  <a:cubicBezTo>
                    <a:pt x="38740" y="211289"/>
                    <a:pt x="33517" y="213725"/>
                    <a:pt x="27944" y="214215"/>
                  </a:cubicBezTo>
                  <a:lnTo>
                    <a:pt x="25860" y="214310"/>
                  </a:lnTo>
                  <a:lnTo>
                    <a:pt x="11906" y="214310"/>
                  </a:lnTo>
                  <a:cubicBezTo>
                    <a:pt x="5870" y="214309"/>
                    <a:pt x="790" y="209792"/>
                    <a:pt x="83" y="203797"/>
                  </a:cubicBezTo>
                  <a:lnTo>
                    <a:pt x="0" y="202404"/>
                  </a:lnTo>
                  <a:lnTo>
                    <a:pt x="0" y="188450"/>
                  </a:lnTo>
                  <a:cubicBezTo>
                    <a:pt x="1" y="182859"/>
                    <a:pt x="1970" y="177447"/>
                    <a:pt x="5560" y="173162"/>
                  </a:cubicBezTo>
                  <a:lnTo>
                    <a:pt x="6977" y="171614"/>
                  </a:lnTo>
                  <a:lnTo>
                    <a:pt x="11906" y="166685"/>
                  </a:lnTo>
                  <a:lnTo>
                    <a:pt x="35719" y="166685"/>
                  </a:lnTo>
                  <a:lnTo>
                    <a:pt x="35719" y="142873"/>
                  </a:lnTo>
                  <a:lnTo>
                    <a:pt x="59531" y="142873"/>
                  </a:lnTo>
                  <a:lnTo>
                    <a:pt x="59531" y="119060"/>
                  </a:lnTo>
                  <a:lnTo>
                    <a:pt x="85058" y="93533"/>
                  </a:lnTo>
                  <a:lnTo>
                    <a:pt x="81474" y="89949"/>
                  </a:lnTo>
                  <a:cubicBezTo>
                    <a:pt x="75049" y="83525"/>
                    <a:pt x="71440" y="74812"/>
                    <a:pt x="71440" y="65726"/>
                  </a:cubicBezTo>
                  <a:cubicBezTo>
                    <a:pt x="71440" y="56640"/>
                    <a:pt x="75049" y="47927"/>
                    <a:pt x="81474" y="41503"/>
                  </a:cubicBezTo>
                  <a:lnTo>
                    <a:pt x="112943" y="10035"/>
                  </a:lnTo>
                  <a:cubicBezTo>
                    <a:pt x="119367" y="3610"/>
                    <a:pt x="128080" y="0"/>
                    <a:pt x="137166" y="0"/>
                  </a:cubicBezTo>
                  <a:cubicBezTo>
                    <a:pt x="146252" y="0"/>
                    <a:pt x="154965" y="3610"/>
                    <a:pt x="161389" y="10035"/>
                  </a:cubicBezTo>
                </a:path>
              </a:pathLst>
            </a:custGeom>
            <a:noFill/>
            <a:ln w="19050">
              <a:solidFill>
                <a:srgbClr val="00A676"/>
              </a:solidFill>
            </a:ln>
          </p:spPr>
        </p:sp>
        <p:sp>
          <p:nvSpPr>
            <p:cNvPr id="39" name="Freeform 39"/>
            <p:cNvSpPr/>
            <p:nvPr/>
          </p:nvSpPr>
          <p:spPr>
            <a:xfrm>
              <a:off x="5264944" y="5879306"/>
              <a:ext cx="9525" cy="9525"/>
            </a:xfrm>
            <a:custGeom>
              <a:avLst/>
              <a:gdLst/>
              <a:ahLst/>
              <a:cxnLst/>
              <a:rect l="l" t="t" r="r" b="b"/>
              <a:pathLst>
                <a:path w="9525" h="9525">
                  <a:moveTo>
                    <a:pt x="0" y="0"/>
                  </a:moveTo>
                  <a:lnTo>
                    <a:pt x="119" y="0"/>
                  </a:lnTo>
                </a:path>
              </a:pathLst>
            </a:custGeom>
            <a:noFill/>
            <a:ln w="19050">
              <a:solidFill>
                <a:srgbClr val="00A676"/>
              </a:solidFill>
            </a:ln>
          </p:spPr>
        </p:sp>
      </p:grpSp>
      <p:sp>
        <p:nvSpPr>
          <p:cNvPr id="41" name="TextBox 41"/>
          <p:cNvSpPr txBox="1"/>
          <p:nvPr/>
        </p:nvSpPr>
        <p:spPr>
          <a:xfrm>
            <a:off x="5490210" y="5880735"/>
            <a:ext cx="247078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Bảo vệ key bằng biến môi trường</a:t>
            </a:r>
          </a:p>
        </p:txBody>
      </p:sp>
      <p:sp>
        <p:nvSpPr>
          <p:cNvPr id="42" name="Rectangle 42"/>
          <p:cNvSpPr/>
          <p:nvPr/>
        </p:nvSpPr>
        <p:spPr>
          <a:xfrm>
            <a:off x="8572500" y="5581650"/>
            <a:ext cx="2476500" cy="666750"/>
          </a:xfrm>
          <a:prstGeom prst="roundRect">
            <a:avLst>
              <a:gd name="adj" fmla="val 25714"/>
            </a:avLst>
          </a:prstGeom>
          <a:solidFill>
            <a:srgbClr val="FFFFFF"/>
          </a:solidFill>
          <a:ln w="9525">
            <a:solidFill>
              <a:srgbClr val="CBD5E1"/>
            </a:solidFill>
          </a:ln>
        </p:spPr>
      </p:sp>
      <p:grpSp>
        <p:nvGrpSpPr>
          <p:cNvPr id="46" name="Group 46"/>
          <p:cNvGrpSpPr/>
          <p:nvPr/>
        </p:nvGrpSpPr>
        <p:grpSpPr>
          <a:xfrm>
            <a:off x="8848725" y="5807869"/>
            <a:ext cx="190500" cy="214312"/>
            <a:chOff x="8848725" y="5807869"/>
            <a:chExt cx="190500" cy="214312"/>
          </a:xfrm>
        </p:grpSpPr>
        <p:sp>
          <p:nvSpPr>
            <p:cNvPr id="43" name="Freeform 43"/>
            <p:cNvSpPr/>
            <p:nvPr/>
          </p:nvSpPr>
          <p:spPr>
            <a:xfrm>
              <a:off x="8848725" y="5807869"/>
              <a:ext cx="190500" cy="71438"/>
            </a:xfrm>
            <a:custGeom>
              <a:avLst/>
              <a:gdLst/>
              <a:ahLst/>
              <a:cxnLst/>
              <a:rect l="l" t="t" r="r" b="b"/>
              <a:pathLst>
                <a:path w="190500" h="71438">
                  <a:moveTo>
                    <a:pt x="0" y="35719"/>
                  </a:moveTo>
                  <a:cubicBezTo>
                    <a:pt x="0" y="55446"/>
                    <a:pt x="42645" y="71438"/>
                    <a:pt x="95250" y="71438"/>
                  </a:cubicBezTo>
                  <a:cubicBezTo>
                    <a:pt x="147855" y="71438"/>
                    <a:pt x="190500" y="55446"/>
                    <a:pt x="190500" y="35719"/>
                  </a:cubicBezTo>
                  <a:cubicBezTo>
                    <a:pt x="190500" y="15992"/>
                    <a:pt x="147855" y="0"/>
                    <a:pt x="95250" y="0"/>
                  </a:cubicBezTo>
                  <a:cubicBezTo>
                    <a:pt x="42645" y="0"/>
                    <a:pt x="0" y="15992"/>
                    <a:pt x="0" y="35719"/>
                  </a:cubicBezTo>
                </a:path>
              </a:pathLst>
            </a:custGeom>
            <a:noFill/>
            <a:ln w="19050">
              <a:solidFill>
                <a:srgbClr val="00A676"/>
              </a:solidFill>
            </a:ln>
          </p:spPr>
        </p:sp>
        <p:sp>
          <p:nvSpPr>
            <p:cNvPr id="44" name="Freeform 44"/>
            <p:cNvSpPr/>
            <p:nvPr/>
          </p:nvSpPr>
          <p:spPr>
            <a:xfrm>
              <a:off x="8848725" y="5843588"/>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19050">
              <a:solidFill>
                <a:srgbClr val="00A676"/>
              </a:solidFill>
            </a:ln>
          </p:spPr>
        </p:sp>
        <p:sp>
          <p:nvSpPr>
            <p:cNvPr id="45" name="Freeform 45"/>
            <p:cNvSpPr/>
            <p:nvPr/>
          </p:nvSpPr>
          <p:spPr>
            <a:xfrm>
              <a:off x="8848725" y="5915025"/>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19050">
              <a:solidFill>
                <a:srgbClr val="00A676"/>
              </a:solidFill>
            </a:ln>
          </p:spPr>
        </p:sp>
      </p:grpSp>
      <p:sp>
        <p:nvSpPr>
          <p:cNvPr id="47" name="TextBox 47"/>
          <p:cNvSpPr txBox="1"/>
          <p:nvPr/>
        </p:nvSpPr>
        <p:spPr>
          <a:xfrm>
            <a:off x="9204960" y="5880735"/>
            <a:ext cx="2166747"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Lưu output AI thành thẻ học</a:t>
            </a:r>
          </a:p>
        </p:txBody>
      </p:sp>
      <p:sp>
        <p:nvSpPr>
          <p:cNvPr id="48" name="TextBox 48"/>
          <p:cNvSpPr txBox="1"/>
          <p:nvPr/>
        </p:nvSpPr>
        <p:spPr>
          <a:xfrm>
            <a:off x="521970" y="6475095"/>
            <a:ext cx="838962"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11 · SaaS AI API</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solidFill>
            <a:srgbClr val="F8FAFC">
              <a:alpha val="82000"/>
            </a:srgbClr>
          </a:solidFill>
          <a:ln>
            <a:noFill/>
          </a:ln>
        </p:spPr>
      </p:sp>
      <p:sp>
        <p:nvSpPr>
          <p:cNvPr id="5" name="TextBox 5"/>
          <p:cNvSpPr txBox="1"/>
          <p:nvPr/>
        </p:nvSpPr>
        <p:spPr>
          <a:xfrm>
            <a:off x="489585" y="370522"/>
            <a:ext cx="11198019" cy="701040"/>
          </a:xfrm>
          <a:prstGeom prst="rect">
            <a:avLst/>
          </a:prstGeom>
          <a:noFill/>
          <a:ln>
            <a:noFill/>
          </a:ln>
        </p:spPr>
        <p:txBody>
          <a:bodyPr wrap="none" lIns="0" tIns="0" rIns="0" bIns="0" anchor="t" anchorCtr="0">
            <a:spAutoFit/>
          </a:bodyPr>
          <a:lstStyle/>
          <a:p>
            <a:pPr algn="l"/>
            <a:r>
              <a:rPr lang="zh-CN" sz="3450" b="1" dirty="0">
                <a:solidFill>
                  <a:srgbClr val="0F172A"/>
                </a:solidFill>
                <a:latin typeface="Arial"/>
                <a:ea typeface="Microsoft YaHei"/>
                <a:cs typeface="Arial"/>
              </a:rPr>
              <a:t>Bản đồ IaaS · PaaS · SaaS trong SmartNoteCloud</a:t>
            </a:r>
          </a:p>
        </p:txBody>
      </p:sp>
      <p:sp>
        <p:nvSpPr>
          <p:cNvPr id="6" name="TextBox 6"/>
          <p:cNvSpPr txBox="1"/>
          <p:nvPr/>
        </p:nvSpPr>
        <p:spPr>
          <a:xfrm>
            <a:off x="535305" y="997268"/>
            <a:ext cx="617305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Một hệ thống có thể kết hợp nhiều mô hình cloud ở các tầng khác nhau.</a:t>
            </a:r>
          </a:p>
        </p:txBody>
      </p:sp>
      <p:sp>
        <p:nvSpPr>
          <p:cNvPr id="7" name="Rectangle 7"/>
          <p:cNvSpPr/>
          <p:nvPr/>
        </p:nvSpPr>
        <p:spPr>
          <a:xfrm>
            <a:off x="800100" y="1809750"/>
            <a:ext cx="3257550" cy="3409950"/>
          </a:xfrm>
          <a:prstGeom prst="roundRect">
            <a:avLst>
              <a:gd name="adj" fmla="val 8187"/>
            </a:avLst>
          </a:prstGeom>
          <a:solidFill>
            <a:srgbClr val="FFFFFF"/>
          </a:solidFill>
          <a:ln w="19050">
            <a:solidFill>
              <a:srgbClr val="2563EB"/>
            </a:solidFill>
          </a:ln>
        </p:spPr>
      </p:sp>
      <p:sp>
        <p:nvSpPr>
          <p:cNvPr id="8" name="Rectangle 8"/>
          <p:cNvSpPr/>
          <p:nvPr/>
        </p:nvSpPr>
        <p:spPr>
          <a:xfrm>
            <a:off x="1047750" y="2076450"/>
            <a:ext cx="704850" cy="704850"/>
          </a:xfrm>
          <a:prstGeom prst="roundRect">
            <a:avLst>
              <a:gd name="adj" fmla="val 32432"/>
            </a:avLst>
          </a:prstGeom>
          <a:solidFill>
            <a:srgbClr val="2563EB"/>
          </a:solidFill>
          <a:ln>
            <a:noFill/>
          </a:ln>
        </p:spPr>
      </p:sp>
      <p:grpSp>
        <p:nvGrpSpPr>
          <p:cNvPr id="13" name="Group 13"/>
          <p:cNvGrpSpPr/>
          <p:nvPr/>
        </p:nvGrpSpPr>
        <p:grpSpPr>
          <a:xfrm>
            <a:off x="1271588" y="2314575"/>
            <a:ext cx="257175" cy="228600"/>
            <a:chOff x="1271588" y="2314575"/>
            <a:chExt cx="257175" cy="228600"/>
          </a:xfrm>
        </p:grpSpPr>
        <p:sp>
          <p:nvSpPr>
            <p:cNvPr id="9" name="Freeform 9"/>
            <p:cNvSpPr/>
            <p:nvPr/>
          </p:nvSpPr>
          <p:spPr>
            <a:xfrm>
              <a:off x="1271588" y="2314575"/>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path>
              </a:pathLst>
            </a:custGeom>
            <a:noFill/>
            <a:ln w="19050">
              <a:solidFill>
                <a:srgbClr val="FFFFFF"/>
              </a:solidFill>
            </a:ln>
          </p:spPr>
        </p:sp>
        <p:sp>
          <p:nvSpPr>
            <p:cNvPr id="10" name="Freeform 10"/>
            <p:cNvSpPr/>
            <p:nvPr/>
          </p:nvSpPr>
          <p:spPr>
            <a:xfrm>
              <a:off x="1271588" y="2428875"/>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lnTo>
                    <a:pt x="0" y="42862"/>
                  </a:lnTo>
                </a:path>
              </a:pathLst>
            </a:custGeom>
            <a:noFill/>
            <a:ln w="19050">
              <a:solidFill>
                <a:srgbClr val="FFFFFF"/>
              </a:solidFill>
            </a:ln>
          </p:spPr>
        </p:sp>
        <p:sp>
          <p:nvSpPr>
            <p:cNvPr id="11" name="Freeform 11"/>
            <p:cNvSpPr/>
            <p:nvPr/>
          </p:nvSpPr>
          <p:spPr>
            <a:xfrm>
              <a:off x="1328738" y="2371725"/>
              <a:ext cx="9525" cy="9525"/>
            </a:xfrm>
            <a:custGeom>
              <a:avLst/>
              <a:gdLst/>
              <a:ahLst/>
              <a:cxnLst/>
              <a:rect l="l" t="t" r="r" b="b"/>
              <a:pathLst>
                <a:path w="9525" h="9525">
                  <a:moveTo>
                    <a:pt x="0" y="0"/>
                  </a:moveTo>
                  <a:lnTo>
                    <a:pt x="0" y="143"/>
                  </a:lnTo>
                </a:path>
              </a:pathLst>
            </a:custGeom>
            <a:noFill/>
            <a:ln w="19050">
              <a:solidFill>
                <a:srgbClr val="FFFFFF"/>
              </a:solidFill>
            </a:ln>
          </p:spPr>
        </p:sp>
        <p:sp>
          <p:nvSpPr>
            <p:cNvPr id="12" name="Freeform 12"/>
            <p:cNvSpPr/>
            <p:nvPr/>
          </p:nvSpPr>
          <p:spPr>
            <a:xfrm>
              <a:off x="1328738" y="2486025"/>
              <a:ext cx="9525" cy="9525"/>
            </a:xfrm>
            <a:custGeom>
              <a:avLst/>
              <a:gdLst/>
              <a:ahLst/>
              <a:cxnLst/>
              <a:rect l="l" t="t" r="r" b="b"/>
              <a:pathLst>
                <a:path w="9525" h="9525">
                  <a:moveTo>
                    <a:pt x="0" y="0"/>
                  </a:moveTo>
                  <a:lnTo>
                    <a:pt x="0" y="143"/>
                  </a:lnTo>
                </a:path>
              </a:pathLst>
            </a:custGeom>
            <a:noFill/>
            <a:ln w="19050">
              <a:solidFill>
                <a:srgbClr val="FFFFFF"/>
              </a:solidFill>
            </a:ln>
          </p:spPr>
        </p:sp>
      </p:grpSp>
      <p:sp>
        <p:nvSpPr>
          <p:cNvPr id="14" name="TextBox 14"/>
          <p:cNvSpPr txBox="1"/>
          <p:nvPr/>
        </p:nvSpPr>
        <p:spPr>
          <a:xfrm>
            <a:off x="1011555" y="2949892"/>
            <a:ext cx="850537" cy="579120"/>
          </a:xfrm>
          <a:prstGeom prst="rect">
            <a:avLst/>
          </a:prstGeom>
          <a:noFill/>
          <a:ln>
            <a:noFill/>
          </a:ln>
        </p:spPr>
        <p:txBody>
          <a:bodyPr wrap="none" lIns="0" tIns="0" rIns="0" bIns="0" anchor="t" anchorCtr="0">
            <a:spAutoFit/>
          </a:bodyPr>
          <a:lstStyle/>
          <a:p>
            <a:pPr algn="l"/>
            <a:r>
              <a:rPr lang="zh-CN" sz="2850" b="1" dirty="0">
                <a:solidFill>
                  <a:srgbClr val="2563EB"/>
                </a:solidFill>
                <a:latin typeface="Arial"/>
                <a:ea typeface="Microsoft YaHei"/>
                <a:cs typeface="Arial"/>
              </a:rPr>
              <a:t>IaaS</a:t>
            </a:r>
          </a:p>
        </p:txBody>
      </p:sp>
      <p:sp>
        <p:nvSpPr>
          <p:cNvPr id="15" name="TextBox 15"/>
          <p:cNvSpPr txBox="1"/>
          <p:nvPr/>
        </p:nvSpPr>
        <p:spPr>
          <a:xfrm>
            <a:off x="1029652" y="3484721"/>
            <a:ext cx="794390"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AWS EC2</a:t>
            </a:r>
          </a:p>
        </p:txBody>
      </p:sp>
      <p:sp>
        <p:nvSpPr>
          <p:cNvPr id="16" name="TextBox 16"/>
          <p:cNvSpPr txBox="1"/>
          <p:nvPr/>
        </p:nvSpPr>
        <p:spPr>
          <a:xfrm>
            <a:off x="1032510" y="3832860"/>
            <a:ext cx="3342894"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Máy ảo, IP, Security Group, hạ tầng mạng.</a:t>
            </a:r>
          </a:p>
        </p:txBody>
      </p:sp>
      <p:sp>
        <p:nvSpPr>
          <p:cNvPr id="17" name="TextBox 17"/>
          <p:cNvSpPr txBox="1"/>
          <p:nvPr/>
        </p:nvSpPr>
        <p:spPr>
          <a:xfrm>
            <a:off x="1033462" y="4355306"/>
            <a:ext cx="350150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Nhóm tự quản: OS, Docker, Nginx, SSL, backup.</a:t>
            </a:r>
          </a:p>
        </p:txBody>
      </p:sp>
      <p:sp>
        <p:nvSpPr>
          <p:cNvPr id="18" name="Rectangle 18"/>
          <p:cNvSpPr/>
          <p:nvPr/>
        </p:nvSpPr>
        <p:spPr>
          <a:xfrm>
            <a:off x="4467225" y="1809750"/>
            <a:ext cx="3257550" cy="3409950"/>
          </a:xfrm>
          <a:prstGeom prst="roundRect">
            <a:avLst>
              <a:gd name="adj" fmla="val 8187"/>
            </a:avLst>
          </a:prstGeom>
          <a:solidFill>
            <a:srgbClr val="FFFFFF"/>
          </a:solidFill>
          <a:ln w="19050">
            <a:solidFill>
              <a:srgbClr val="F59E0B"/>
            </a:solidFill>
          </a:ln>
        </p:spPr>
      </p:sp>
      <p:sp>
        <p:nvSpPr>
          <p:cNvPr id="19" name="Rectangle 19"/>
          <p:cNvSpPr/>
          <p:nvPr/>
        </p:nvSpPr>
        <p:spPr>
          <a:xfrm>
            <a:off x="4714875" y="2076450"/>
            <a:ext cx="704850" cy="704850"/>
          </a:xfrm>
          <a:prstGeom prst="roundRect">
            <a:avLst>
              <a:gd name="adj" fmla="val 32432"/>
            </a:avLst>
          </a:prstGeom>
          <a:solidFill>
            <a:srgbClr val="F59E0B"/>
          </a:solidFill>
          <a:ln>
            <a:noFill/>
          </a:ln>
        </p:spPr>
      </p:sp>
      <p:grpSp>
        <p:nvGrpSpPr>
          <p:cNvPr id="22" name="Group 22"/>
          <p:cNvGrpSpPr/>
          <p:nvPr/>
        </p:nvGrpSpPr>
        <p:grpSpPr>
          <a:xfrm>
            <a:off x="4952990" y="2314575"/>
            <a:ext cx="228610" cy="228600"/>
            <a:chOff x="4952990" y="2314575"/>
            <a:chExt cx="228610" cy="228600"/>
          </a:xfrm>
        </p:grpSpPr>
        <p:sp>
          <p:nvSpPr>
            <p:cNvPr id="20" name="Freeform 20"/>
            <p:cNvSpPr/>
            <p:nvPr/>
          </p:nvSpPr>
          <p:spPr>
            <a:xfrm>
              <a:off x="5010150" y="2371725"/>
              <a:ext cx="171450" cy="171450"/>
            </a:xfrm>
            <a:custGeom>
              <a:avLst/>
              <a:gdLst/>
              <a:ahLst/>
              <a:cxnLst/>
              <a:rect l="l" t="t" r="r" b="b"/>
              <a:pathLst>
                <a:path w="171450" h="171450">
                  <a:moveTo>
                    <a:pt x="157162" y="3829"/>
                  </a:moveTo>
                  <a:cubicBezTo>
                    <a:pt x="166003" y="8933"/>
                    <a:pt x="171450" y="18366"/>
                    <a:pt x="171450" y="28575"/>
                  </a:cubicBezTo>
                  <a:lnTo>
                    <a:pt x="171450" y="142875"/>
                  </a:lnTo>
                  <a:cubicBezTo>
                    <a:pt x="171450" y="158657"/>
                    <a:pt x="158657" y="171450"/>
                    <a:pt x="142875" y="171450"/>
                  </a:cubicBezTo>
                  <a:lnTo>
                    <a:pt x="28575" y="171450"/>
                  </a:lnTo>
                  <a:cubicBezTo>
                    <a:pt x="12793" y="171450"/>
                    <a:pt x="0" y="158657"/>
                    <a:pt x="0" y="142875"/>
                  </a:cubicBezTo>
                  <a:lnTo>
                    <a:pt x="0" y="28575"/>
                  </a:lnTo>
                  <a:cubicBezTo>
                    <a:pt x="0" y="12793"/>
                    <a:pt x="12793" y="0"/>
                    <a:pt x="28575" y="0"/>
                  </a:cubicBezTo>
                  <a:lnTo>
                    <a:pt x="71438" y="0"/>
                  </a:lnTo>
                </a:path>
              </a:pathLst>
            </a:custGeom>
            <a:noFill/>
            <a:ln w="19050">
              <a:solidFill>
                <a:srgbClr val="FFFFFF"/>
              </a:solidFill>
            </a:ln>
          </p:spPr>
        </p:sp>
        <p:sp>
          <p:nvSpPr>
            <p:cNvPr id="21" name="Freeform 21"/>
            <p:cNvSpPr/>
            <p:nvPr/>
          </p:nvSpPr>
          <p:spPr>
            <a:xfrm>
              <a:off x="4952990" y="2314575"/>
              <a:ext cx="171460" cy="171450"/>
            </a:xfrm>
            <a:custGeom>
              <a:avLst/>
              <a:gdLst/>
              <a:ahLst/>
              <a:cxnLst/>
              <a:rect l="l" t="t" r="r" b="b"/>
              <a:pathLst>
                <a:path w="171460" h="171450">
                  <a:moveTo>
                    <a:pt x="14297" y="167650"/>
                  </a:moveTo>
                  <a:cubicBezTo>
                    <a:pt x="5448" y="162540"/>
                    <a:pt x="0" y="153094"/>
                    <a:pt x="10" y="142875"/>
                  </a:cubicBezTo>
                  <a:lnTo>
                    <a:pt x="10" y="28575"/>
                  </a:lnTo>
                  <a:cubicBezTo>
                    <a:pt x="10" y="12793"/>
                    <a:pt x="12803" y="0"/>
                    <a:pt x="28585" y="0"/>
                  </a:cubicBezTo>
                  <a:lnTo>
                    <a:pt x="142885" y="0"/>
                  </a:lnTo>
                  <a:cubicBezTo>
                    <a:pt x="158666" y="0"/>
                    <a:pt x="171460" y="12793"/>
                    <a:pt x="171460" y="28575"/>
                  </a:cubicBezTo>
                  <a:lnTo>
                    <a:pt x="171460" y="142875"/>
                  </a:lnTo>
                  <a:cubicBezTo>
                    <a:pt x="171460" y="158657"/>
                    <a:pt x="158666" y="171450"/>
                    <a:pt x="142885" y="171450"/>
                  </a:cubicBezTo>
                  <a:lnTo>
                    <a:pt x="100022" y="171450"/>
                  </a:lnTo>
                </a:path>
              </a:pathLst>
            </a:custGeom>
            <a:noFill/>
            <a:ln w="19050">
              <a:solidFill>
                <a:srgbClr val="FFFFFF"/>
              </a:solidFill>
            </a:ln>
          </p:spPr>
        </p:sp>
      </p:grpSp>
      <p:sp>
        <p:nvSpPr>
          <p:cNvPr id="23" name="TextBox 23"/>
          <p:cNvSpPr txBox="1"/>
          <p:nvPr/>
        </p:nvSpPr>
        <p:spPr>
          <a:xfrm>
            <a:off x="4678680" y="2949892"/>
            <a:ext cx="950300" cy="579120"/>
          </a:xfrm>
          <a:prstGeom prst="rect">
            <a:avLst/>
          </a:prstGeom>
          <a:noFill/>
          <a:ln>
            <a:noFill/>
          </a:ln>
        </p:spPr>
        <p:txBody>
          <a:bodyPr wrap="none" lIns="0" tIns="0" rIns="0" bIns="0" anchor="t" anchorCtr="0">
            <a:spAutoFit/>
          </a:bodyPr>
          <a:lstStyle/>
          <a:p>
            <a:pPr algn="l"/>
            <a:r>
              <a:rPr lang="zh-CN" sz="2850" b="1" dirty="0">
                <a:solidFill>
                  <a:srgbClr val="F59E0B"/>
                </a:solidFill>
                <a:latin typeface="Arial"/>
                <a:ea typeface="Microsoft YaHei"/>
                <a:cs typeface="Arial"/>
              </a:rPr>
              <a:t>PaaS</a:t>
            </a:r>
          </a:p>
        </p:txBody>
      </p:sp>
      <p:sp>
        <p:nvSpPr>
          <p:cNvPr id="24" name="TextBox 24"/>
          <p:cNvSpPr txBox="1"/>
          <p:nvPr/>
        </p:nvSpPr>
        <p:spPr>
          <a:xfrm>
            <a:off x="4696778" y="3484721"/>
            <a:ext cx="1792014"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Phương án mở rộng</a:t>
            </a:r>
          </a:p>
        </p:txBody>
      </p:sp>
      <p:sp>
        <p:nvSpPr>
          <p:cNvPr id="25" name="TextBox 25"/>
          <p:cNvSpPr txBox="1"/>
          <p:nvPr/>
        </p:nvSpPr>
        <p:spPr>
          <a:xfrm>
            <a:off x="4699635" y="3832860"/>
            <a:ext cx="375094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App Runner, Elastic Beanstalk hoặc managed DB.</a:t>
            </a:r>
          </a:p>
        </p:txBody>
      </p:sp>
      <p:sp>
        <p:nvSpPr>
          <p:cNvPr id="26" name="TextBox 26"/>
          <p:cNvSpPr txBox="1"/>
          <p:nvPr/>
        </p:nvSpPr>
        <p:spPr>
          <a:xfrm>
            <a:off x="4700588" y="4355306"/>
            <a:ext cx="322397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Giảm quản trị máy chủ, tăng tốc triển khai.</a:t>
            </a:r>
          </a:p>
        </p:txBody>
      </p:sp>
      <p:sp>
        <p:nvSpPr>
          <p:cNvPr id="27" name="Rectangle 27"/>
          <p:cNvSpPr/>
          <p:nvPr/>
        </p:nvSpPr>
        <p:spPr>
          <a:xfrm>
            <a:off x="8134350" y="1809750"/>
            <a:ext cx="3257550" cy="3409950"/>
          </a:xfrm>
          <a:prstGeom prst="roundRect">
            <a:avLst>
              <a:gd name="adj" fmla="val 8187"/>
            </a:avLst>
          </a:prstGeom>
          <a:solidFill>
            <a:srgbClr val="FFFFFF"/>
          </a:solidFill>
          <a:ln w="19050">
            <a:solidFill>
              <a:srgbClr val="00A676"/>
            </a:solidFill>
          </a:ln>
        </p:spPr>
      </p:sp>
      <p:sp>
        <p:nvSpPr>
          <p:cNvPr id="28" name="Rectangle 28"/>
          <p:cNvSpPr/>
          <p:nvPr/>
        </p:nvSpPr>
        <p:spPr>
          <a:xfrm>
            <a:off x="8382000" y="2076450"/>
            <a:ext cx="704850" cy="704850"/>
          </a:xfrm>
          <a:prstGeom prst="roundRect">
            <a:avLst>
              <a:gd name="adj" fmla="val 32432"/>
            </a:avLst>
          </a:prstGeom>
          <a:solidFill>
            <a:srgbClr val="00A676"/>
          </a:solidFill>
          <a:ln>
            <a:noFill/>
          </a:ln>
        </p:spPr>
      </p:sp>
      <p:grpSp>
        <p:nvGrpSpPr>
          <p:cNvPr id="33" name="Group 33"/>
          <p:cNvGrpSpPr/>
          <p:nvPr/>
        </p:nvGrpSpPr>
        <p:grpSpPr>
          <a:xfrm>
            <a:off x="8620125" y="2371725"/>
            <a:ext cx="238125" cy="114300"/>
            <a:chOff x="8620125" y="2371725"/>
            <a:chExt cx="238125" cy="114300"/>
          </a:xfrm>
        </p:grpSpPr>
        <p:sp>
          <p:nvSpPr>
            <p:cNvPr id="29" name="Freeform 29"/>
            <p:cNvSpPr/>
            <p:nvPr/>
          </p:nvSpPr>
          <p:spPr>
            <a:xfrm>
              <a:off x="8620125" y="2443162"/>
              <a:ext cx="71438" cy="9525"/>
            </a:xfrm>
            <a:custGeom>
              <a:avLst/>
              <a:gdLst/>
              <a:ahLst/>
              <a:cxnLst/>
              <a:rect l="l" t="t" r="r" b="b"/>
              <a:pathLst>
                <a:path w="71438" h="9525">
                  <a:moveTo>
                    <a:pt x="0" y="0"/>
                  </a:moveTo>
                  <a:lnTo>
                    <a:pt x="71438" y="0"/>
                  </a:lnTo>
                </a:path>
              </a:pathLst>
            </a:custGeom>
            <a:noFill/>
            <a:ln w="19050">
              <a:solidFill>
                <a:srgbClr val="FFFFFF"/>
              </a:solidFill>
            </a:ln>
          </p:spPr>
        </p:sp>
        <p:sp>
          <p:nvSpPr>
            <p:cNvPr id="30" name="Freeform 30"/>
            <p:cNvSpPr/>
            <p:nvPr/>
          </p:nvSpPr>
          <p:spPr>
            <a:xfrm>
              <a:off x="8734425" y="2371725"/>
              <a:ext cx="71438" cy="114300"/>
            </a:xfrm>
            <a:custGeom>
              <a:avLst/>
              <a:gdLst/>
              <a:ahLst/>
              <a:cxnLst/>
              <a:rect l="l" t="t" r="r" b="b"/>
              <a:pathLst>
                <a:path w="71438" h="114300">
                  <a:moveTo>
                    <a:pt x="0" y="114300"/>
                  </a:moveTo>
                  <a:lnTo>
                    <a:pt x="0" y="0"/>
                  </a:lnTo>
                  <a:lnTo>
                    <a:pt x="42862" y="0"/>
                  </a:lnTo>
                  <a:cubicBezTo>
                    <a:pt x="58644" y="0"/>
                    <a:pt x="71438" y="12793"/>
                    <a:pt x="71438" y="28575"/>
                  </a:cubicBezTo>
                  <a:lnTo>
                    <a:pt x="71438" y="42862"/>
                  </a:lnTo>
                  <a:cubicBezTo>
                    <a:pt x="71438" y="58644"/>
                    <a:pt x="58644" y="71438"/>
                    <a:pt x="42862" y="71438"/>
                  </a:cubicBezTo>
                  <a:lnTo>
                    <a:pt x="0" y="71438"/>
                  </a:lnTo>
                </a:path>
              </a:pathLst>
            </a:custGeom>
            <a:noFill/>
            <a:ln w="19050">
              <a:solidFill>
                <a:srgbClr val="FFFFFF"/>
              </a:solidFill>
            </a:ln>
          </p:spPr>
        </p:sp>
        <p:sp>
          <p:nvSpPr>
            <p:cNvPr id="31" name="Freeform 31"/>
            <p:cNvSpPr/>
            <p:nvPr/>
          </p:nvSpPr>
          <p:spPr>
            <a:xfrm>
              <a:off x="8848725" y="2371725"/>
              <a:ext cx="9525" cy="114300"/>
            </a:xfrm>
            <a:custGeom>
              <a:avLst/>
              <a:gdLst/>
              <a:ahLst/>
              <a:cxnLst/>
              <a:rect l="l" t="t" r="r" b="b"/>
              <a:pathLst>
                <a:path w="9525" h="114300">
                  <a:moveTo>
                    <a:pt x="0" y="0"/>
                  </a:moveTo>
                  <a:lnTo>
                    <a:pt x="0" y="114300"/>
                  </a:lnTo>
                </a:path>
              </a:pathLst>
            </a:custGeom>
            <a:noFill/>
            <a:ln w="19050">
              <a:solidFill>
                <a:srgbClr val="FFFFFF"/>
              </a:solidFill>
            </a:ln>
          </p:spPr>
        </p:sp>
        <p:sp>
          <p:nvSpPr>
            <p:cNvPr id="32" name="Freeform 32"/>
            <p:cNvSpPr/>
            <p:nvPr/>
          </p:nvSpPr>
          <p:spPr>
            <a:xfrm>
              <a:off x="8620125" y="2371725"/>
              <a:ext cx="71438" cy="114300"/>
            </a:xfrm>
            <a:custGeom>
              <a:avLst/>
              <a:gdLst/>
              <a:ahLst/>
              <a:cxnLst/>
              <a:rect l="l" t="t" r="r" b="b"/>
              <a:pathLst>
                <a:path w="71438" h="114300">
                  <a:moveTo>
                    <a:pt x="71438" y="114300"/>
                  </a:moveTo>
                  <a:lnTo>
                    <a:pt x="71438" y="35719"/>
                  </a:lnTo>
                  <a:cubicBezTo>
                    <a:pt x="71438" y="15992"/>
                    <a:pt x="55446" y="0"/>
                    <a:pt x="35719" y="0"/>
                  </a:cubicBezTo>
                  <a:cubicBezTo>
                    <a:pt x="15992" y="0"/>
                    <a:pt x="0" y="15992"/>
                    <a:pt x="0" y="35719"/>
                  </a:cubicBezTo>
                  <a:lnTo>
                    <a:pt x="0" y="114300"/>
                  </a:lnTo>
                </a:path>
              </a:pathLst>
            </a:custGeom>
            <a:noFill/>
            <a:ln w="19050">
              <a:solidFill>
                <a:srgbClr val="FFFFFF"/>
              </a:solidFill>
            </a:ln>
          </p:spPr>
        </p:sp>
      </p:grpSp>
      <p:sp>
        <p:nvSpPr>
          <p:cNvPr id="34" name="TextBox 34"/>
          <p:cNvSpPr txBox="1"/>
          <p:nvPr/>
        </p:nvSpPr>
        <p:spPr>
          <a:xfrm>
            <a:off x="8345805" y="2949892"/>
            <a:ext cx="950300" cy="579120"/>
          </a:xfrm>
          <a:prstGeom prst="rect">
            <a:avLst/>
          </a:prstGeom>
          <a:noFill/>
          <a:ln>
            <a:noFill/>
          </a:ln>
        </p:spPr>
        <p:txBody>
          <a:bodyPr wrap="none" lIns="0" tIns="0" rIns="0" bIns="0" anchor="t" anchorCtr="0">
            <a:spAutoFit/>
          </a:bodyPr>
          <a:lstStyle/>
          <a:p>
            <a:pPr algn="l"/>
            <a:r>
              <a:rPr lang="zh-CN" sz="2850" b="1" dirty="0">
                <a:solidFill>
                  <a:srgbClr val="00A676"/>
                </a:solidFill>
                <a:latin typeface="Arial"/>
                <a:ea typeface="Microsoft YaHei"/>
                <a:cs typeface="Arial"/>
              </a:rPr>
              <a:t>SaaS</a:t>
            </a:r>
          </a:p>
        </p:txBody>
      </p:sp>
      <p:sp>
        <p:nvSpPr>
          <p:cNvPr id="35" name="TextBox 35"/>
          <p:cNvSpPr txBox="1"/>
          <p:nvPr/>
        </p:nvSpPr>
        <p:spPr>
          <a:xfrm>
            <a:off x="8363902" y="3484721"/>
            <a:ext cx="1073725"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Mimo AI API</a:t>
            </a:r>
          </a:p>
        </p:txBody>
      </p:sp>
      <p:sp>
        <p:nvSpPr>
          <p:cNvPr id="36" name="TextBox 36"/>
          <p:cNvSpPr txBox="1"/>
          <p:nvPr/>
        </p:nvSpPr>
        <p:spPr>
          <a:xfrm>
            <a:off x="8366760" y="3832860"/>
            <a:ext cx="3286887"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Dịch vụ AI đã vận hành sẵn, gọi qua HTTPS.</a:t>
            </a:r>
          </a:p>
        </p:txBody>
      </p:sp>
      <p:sp>
        <p:nvSpPr>
          <p:cNvPr id="37" name="TextBox 37"/>
          <p:cNvSpPr txBox="1"/>
          <p:nvPr/>
        </p:nvSpPr>
        <p:spPr>
          <a:xfrm>
            <a:off x="8367712" y="4355306"/>
            <a:ext cx="360652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Không tự triển khai model, GPU, inference stack.</a:t>
            </a:r>
          </a:p>
        </p:txBody>
      </p:sp>
      <p:sp>
        <p:nvSpPr>
          <p:cNvPr id="38" name="Rectangle 38"/>
          <p:cNvSpPr/>
          <p:nvPr/>
        </p:nvSpPr>
        <p:spPr>
          <a:xfrm>
            <a:off x="1619250" y="5657850"/>
            <a:ext cx="8953500" cy="514350"/>
          </a:xfrm>
          <a:prstGeom prst="roundRect">
            <a:avLst>
              <a:gd name="adj" fmla="val 33333"/>
            </a:avLst>
          </a:prstGeom>
          <a:solidFill>
            <a:srgbClr val="0F172A"/>
          </a:solidFill>
          <a:ln>
            <a:noFill/>
          </a:ln>
        </p:spPr>
      </p:sp>
      <p:sp>
        <p:nvSpPr>
          <p:cNvPr id="39" name="TextBox 39"/>
          <p:cNvSpPr txBox="1"/>
          <p:nvPr/>
        </p:nvSpPr>
        <p:spPr>
          <a:xfrm>
            <a:off x="1925955" y="5835968"/>
            <a:ext cx="165989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Thông điệp chính:</a:t>
            </a:r>
          </a:p>
        </p:txBody>
      </p:sp>
      <p:sp>
        <p:nvSpPr>
          <p:cNvPr id="40" name="TextBox 40"/>
          <p:cNvSpPr txBox="1"/>
          <p:nvPr/>
        </p:nvSpPr>
        <p:spPr>
          <a:xfrm>
            <a:off x="3488055" y="5835968"/>
            <a:ext cx="7145179"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EC2 chứng minh IaaS; AI API chứng minh SaaS; PaaS là hướng tối ưu vận hành về sau.</a:t>
            </a:r>
          </a:p>
        </p:txBody>
      </p:sp>
      <p:sp>
        <p:nvSpPr>
          <p:cNvPr id="41" name="TextBox 41"/>
          <p:cNvSpPr txBox="1"/>
          <p:nvPr/>
        </p:nvSpPr>
        <p:spPr>
          <a:xfrm>
            <a:off x="521970" y="6475095"/>
            <a:ext cx="1415034"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12 · Cloud Model Mapping</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6477140"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Dữ liệu học tập trong PostgreSQL</a:t>
            </a:r>
          </a:p>
        </p:txBody>
      </p:sp>
      <p:sp>
        <p:nvSpPr>
          <p:cNvPr id="4" name="TextBox 4"/>
          <p:cNvSpPr txBox="1"/>
          <p:nvPr/>
        </p:nvSpPr>
        <p:spPr>
          <a:xfrm>
            <a:off x="535305" y="921068"/>
            <a:ext cx="827031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Database nằm trong container riêng, truy cập quản trị qua SSH tunnel thay vì mở public port.</a:t>
            </a:r>
          </a:p>
        </p:txBody>
      </p:sp>
      <p:sp>
        <p:nvSpPr>
          <p:cNvPr id="5" name="Rectangle 5"/>
          <p:cNvSpPr/>
          <p:nvPr/>
        </p:nvSpPr>
        <p:spPr>
          <a:xfrm>
            <a:off x="628650" y="1466850"/>
            <a:ext cx="7620000" cy="4095750"/>
          </a:xfrm>
          <a:prstGeom prst="roundRect">
            <a:avLst>
              <a:gd name="adj" fmla="val 6047"/>
            </a:avLst>
          </a:prstGeom>
          <a:solidFill>
            <a:srgbClr val="FFFFFF"/>
          </a:solidFill>
          <a:ln w="9525">
            <a:solidFill>
              <a:srgbClr val="CBD5E1"/>
            </a:solidFill>
          </a:ln>
        </p:spPr>
      </p:sp>
      <p:sp>
        <p:nvSpPr>
          <p:cNvPr id="6" name="TextBox 6"/>
          <p:cNvSpPr txBox="1"/>
          <p:nvPr/>
        </p:nvSpPr>
        <p:spPr>
          <a:xfrm>
            <a:off x="969645" y="1764982"/>
            <a:ext cx="2409956"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Mô hình dữ liệu chính</a:t>
            </a:r>
          </a:p>
        </p:txBody>
      </p:sp>
      <p:sp>
        <p:nvSpPr>
          <p:cNvPr id="7" name="Rectangle 7"/>
          <p:cNvSpPr/>
          <p:nvPr/>
        </p:nvSpPr>
        <p:spPr>
          <a:xfrm>
            <a:off x="1066800" y="2400300"/>
            <a:ext cx="1352550" cy="628650"/>
          </a:xfrm>
          <a:prstGeom prst="roundRect">
            <a:avLst>
              <a:gd name="adj" fmla="val 24242"/>
            </a:avLst>
          </a:prstGeom>
          <a:solidFill>
            <a:srgbClr val="2563EB">
              <a:alpha val="8000"/>
            </a:srgbClr>
          </a:solidFill>
          <a:ln w="9525">
            <a:solidFill>
              <a:srgbClr val="2563EB"/>
            </a:solidFill>
          </a:ln>
        </p:spPr>
      </p:sp>
      <p:sp>
        <p:nvSpPr>
          <p:cNvPr id="8" name="TextBox 8"/>
          <p:cNvSpPr txBox="1"/>
          <p:nvPr/>
        </p:nvSpPr>
        <p:spPr>
          <a:xfrm>
            <a:off x="1338262" y="2545556"/>
            <a:ext cx="461754"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Consolas"/>
                <a:ea typeface="Microsoft YaHei"/>
                <a:cs typeface="Consolas"/>
              </a:rPr>
              <a:t>users</a:t>
            </a:r>
          </a:p>
        </p:txBody>
      </p:sp>
      <p:sp>
        <p:nvSpPr>
          <p:cNvPr id="9" name="TextBox 9"/>
          <p:cNvSpPr txBox="1"/>
          <p:nvPr/>
        </p:nvSpPr>
        <p:spPr>
          <a:xfrm>
            <a:off x="1359218" y="2780824"/>
            <a:ext cx="4473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9 rows</a:t>
            </a:r>
          </a:p>
        </p:txBody>
      </p:sp>
      <p:sp>
        <p:nvSpPr>
          <p:cNvPr id="10" name="Polygon 10"/>
          <p:cNvSpPr/>
          <p:nvPr/>
        </p:nvSpPr>
        <p:spPr>
          <a:xfrm>
            <a:off x="2628900" y="2590800"/>
            <a:ext cx="323850" cy="247650"/>
          </a:xfrm>
          <a:custGeom>
            <a:avLst/>
            <a:gdLst/>
            <a:ahLst/>
            <a:cxnLst/>
            <a:rect l="l" t="t" r="r" b="b"/>
            <a:pathLst>
              <a:path w="323850" h="247650">
                <a:moveTo>
                  <a:pt x="0" y="0"/>
                </a:moveTo>
                <a:lnTo>
                  <a:pt x="323850" y="123825"/>
                </a:lnTo>
                <a:lnTo>
                  <a:pt x="0" y="247650"/>
                </a:lnTo>
                <a:close/>
              </a:path>
            </a:pathLst>
          </a:custGeom>
          <a:solidFill>
            <a:srgbClr val="CBD5E1"/>
          </a:solidFill>
          <a:ln>
            <a:noFill/>
          </a:ln>
        </p:spPr>
      </p:sp>
      <p:sp>
        <p:nvSpPr>
          <p:cNvPr id="11" name="Rectangle 11"/>
          <p:cNvSpPr/>
          <p:nvPr/>
        </p:nvSpPr>
        <p:spPr>
          <a:xfrm>
            <a:off x="3181350" y="2400300"/>
            <a:ext cx="1504950" cy="628650"/>
          </a:xfrm>
          <a:prstGeom prst="roundRect">
            <a:avLst>
              <a:gd name="adj" fmla="val 24242"/>
            </a:avLst>
          </a:prstGeom>
          <a:solidFill>
            <a:srgbClr val="2563EB">
              <a:alpha val="8000"/>
            </a:srgbClr>
          </a:solidFill>
          <a:ln w="9525">
            <a:solidFill>
              <a:srgbClr val="2563EB"/>
            </a:solidFill>
          </a:ln>
        </p:spPr>
      </p:sp>
      <p:sp>
        <p:nvSpPr>
          <p:cNvPr id="12" name="TextBox 12"/>
          <p:cNvSpPr txBox="1"/>
          <p:nvPr/>
        </p:nvSpPr>
        <p:spPr>
          <a:xfrm>
            <a:off x="3433762" y="2545556"/>
            <a:ext cx="926437"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Consolas"/>
                <a:ea typeface="Microsoft YaHei"/>
                <a:cs typeface="Consolas"/>
              </a:rPr>
              <a:t>workspaces</a:t>
            </a:r>
          </a:p>
        </p:txBody>
      </p:sp>
      <p:sp>
        <p:nvSpPr>
          <p:cNvPr id="13" name="TextBox 13"/>
          <p:cNvSpPr txBox="1"/>
          <p:nvPr/>
        </p:nvSpPr>
        <p:spPr>
          <a:xfrm>
            <a:off x="3626168" y="2780824"/>
            <a:ext cx="4473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9 rows</a:t>
            </a:r>
          </a:p>
        </p:txBody>
      </p:sp>
      <p:sp>
        <p:nvSpPr>
          <p:cNvPr id="14" name="Polygon 14"/>
          <p:cNvSpPr/>
          <p:nvPr/>
        </p:nvSpPr>
        <p:spPr>
          <a:xfrm>
            <a:off x="4895850" y="2590800"/>
            <a:ext cx="323850" cy="247650"/>
          </a:xfrm>
          <a:custGeom>
            <a:avLst/>
            <a:gdLst/>
            <a:ahLst/>
            <a:cxnLst/>
            <a:rect l="l" t="t" r="r" b="b"/>
            <a:pathLst>
              <a:path w="323850" h="247650">
                <a:moveTo>
                  <a:pt x="0" y="0"/>
                </a:moveTo>
                <a:lnTo>
                  <a:pt x="323850" y="123825"/>
                </a:lnTo>
                <a:lnTo>
                  <a:pt x="0" y="247650"/>
                </a:lnTo>
                <a:close/>
              </a:path>
            </a:pathLst>
          </a:custGeom>
          <a:solidFill>
            <a:srgbClr val="CBD5E1"/>
          </a:solidFill>
          <a:ln>
            <a:noFill/>
          </a:ln>
        </p:spPr>
      </p:sp>
      <p:sp>
        <p:nvSpPr>
          <p:cNvPr id="15" name="Rectangle 15"/>
          <p:cNvSpPr/>
          <p:nvPr/>
        </p:nvSpPr>
        <p:spPr>
          <a:xfrm>
            <a:off x="5448300" y="2400300"/>
            <a:ext cx="1352550" cy="628650"/>
          </a:xfrm>
          <a:prstGeom prst="roundRect">
            <a:avLst>
              <a:gd name="adj" fmla="val 24242"/>
            </a:avLst>
          </a:prstGeom>
          <a:solidFill>
            <a:srgbClr val="2563EB">
              <a:alpha val="8000"/>
            </a:srgbClr>
          </a:solidFill>
          <a:ln w="9525">
            <a:solidFill>
              <a:srgbClr val="2563EB"/>
            </a:solidFill>
          </a:ln>
        </p:spPr>
      </p:sp>
      <p:sp>
        <p:nvSpPr>
          <p:cNvPr id="16" name="TextBox 16"/>
          <p:cNvSpPr txBox="1"/>
          <p:nvPr/>
        </p:nvSpPr>
        <p:spPr>
          <a:xfrm>
            <a:off x="5834062" y="2545556"/>
            <a:ext cx="461754"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Consolas"/>
                <a:ea typeface="Microsoft YaHei"/>
                <a:cs typeface="Consolas"/>
              </a:rPr>
              <a:t>pages</a:t>
            </a:r>
          </a:p>
        </p:txBody>
      </p:sp>
      <p:sp>
        <p:nvSpPr>
          <p:cNvPr id="17" name="TextBox 17"/>
          <p:cNvSpPr txBox="1"/>
          <p:nvPr/>
        </p:nvSpPr>
        <p:spPr>
          <a:xfrm>
            <a:off x="5912168" y="2780824"/>
            <a:ext cx="4473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9 rows</a:t>
            </a:r>
          </a:p>
        </p:txBody>
      </p:sp>
      <p:sp>
        <p:nvSpPr>
          <p:cNvPr id="18" name="Line 18"/>
          <p:cNvSpPr/>
          <p:nvPr/>
        </p:nvSpPr>
        <p:spPr>
          <a:xfrm>
            <a:off x="6124575" y="3028950"/>
            <a:ext cx="9525" cy="533400"/>
          </a:xfrm>
          <a:custGeom>
            <a:avLst/>
            <a:gdLst/>
            <a:ahLst/>
            <a:cxnLst/>
            <a:rect l="l" t="t" r="r" b="b"/>
            <a:pathLst>
              <a:path w="9525" h="533400">
                <a:moveTo>
                  <a:pt x="0" y="0"/>
                </a:moveTo>
                <a:lnTo>
                  <a:pt x="0" y="533400"/>
                </a:lnTo>
              </a:path>
            </a:pathLst>
          </a:custGeom>
          <a:noFill/>
          <a:ln w="28575">
            <a:solidFill>
              <a:srgbClr val="CBD5E1"/>
            </a:solidFill>
          </a:ln>
        </p:spPr>
      </p:sp>
      <p:sp>
        <p:nvSpPr>
          <p:cNvPr id="19" name="Polygon 19"/>
          <p:cNvSpPr/>
          <p:nvPr/>
        </p:nvSpPr>
        <p:spPr>
          <a:xfrm>
            <a:off x="5991225" y="3429000"/>
            <a:ext cx="266700" cy="323850"/>
          </a:xfrm>
          <a:custGeom>
            <a:avLst/>
            <a:gdLst/>
            <a:ahLst/>
            <a:cxnLst/>
            <a:rect l="l" t="t" r="r" b="b"/>
            <a:pathLst>
              <a:path w="266700" h="323850">
                <a:moveTo>
                  <a:pt x="0" y="0"/>
                </a:moveTo>
                <a:lnTo>
                  <a:pt x="133350" y="323850"/>
                </a:lnTo>
                <a:lnTo>
                  <a:pt x="266700" y="0"/>
                </a:lnTo>
                <a:close/>
              </a:path>
            </a:pathLst>
          </a:custGeom>
          <a:solidFill>
            <a:srgbClr val="CBD5E1"/>
          </a:solidFill>
          <a:ln>
            <a:noFill/>
          </a:ln>
        </p:spPr>
      </p:sp>
      <p:sp>
        <p:nvSpPr>
          <p:cNvPr id="20" name="Rectangle 20"/>
          <p:cNvSpPr/>
          <p:nvPr/>
        </p:nvSpPr>
        <p:spPr>
          <a:xfrm>
            <a:off x="5448300" y="3829050"/>
            <a:ext cx="1352550" cy="628650"/>
          </a:xfrm>
          <a:prstGeom prst="roundRect">
            <a:avLst>
              <a:gd name="adj" fmla="val 24242"/>
            </a:avLst>
          </a:prstGeom>
          <a:solidFill>
            <a:srgbClr val="F59E0B">
              <a:alpha val="12000"/>
            </a:srgbClr>
          </a:solidFill>
          <a:ln w="9525">
            <a:solidFill>
              <a:srgbClr val="F59E0B"/>
            </a:solidFill>
          </a:ln>
        </p:spPr>
      </p:sp>
      <p:sp>
        <p:nvSpPr>
          <p:cNvPr id="21" name="TextBox 21"/>
          <p:cNvSpPr txBox="1"/>
          <p:nvPr/>
        </p:nvSpPr>
        <p:spPr>
          <a:xfrm>
            <a:off x="5805488" y="3974306"/>
            <a:ext cx="509010"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Consolas"/>
                <a:ea typeface="Microsoft YaHei"/>
                <a:cs typeface="Consolas"/>
              </a:rPr>
              <a:t>blocks</a:t>
            </a:r>
          </a:p>
        </p:txBody>
      </p:sp>
      <p:sp>
        <p:nvSpPr>
          <p:cNvPr id="22" name="TextBox 22"/>
          <p:cNvSpPr txBox="1"/>
          <p:nvPr/>
        </p:nvSpPr>
        <p:spPr>
          <a:xfrm>
            <a:off x="5874068" y="4209574"/>
            <a:ext cx="51882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37 rows</a:t>
            </a:r>
          </a:p>
        </p:txBody>
      </p:sp>
      <p:sp>
        <p:nvSpPr>
          <p:cNvPr id="23" name="Line 23"/>
          <p:cNvSpPr/>
          <p:nvPr/>
        </p:nvSpPr>
        <p:spPr>
          <a:xfrm>
            <a:off x="3933825" y="3028950"/>
            <a:ext cx="9525" cy="533400"/>
          </a:xfrm>
          <a:custGeom>
            <a:avLst/>
            <a:gdLst/>
            <a:ahLst/>
            <a:cxnLst/>
            <a:rect l="l" t="t" r="r" b="b"/>
            <a:pathLst>
              <a:path w="9525" h="533400">
                <a:moveTo>
                  <a:pt x="0" y="0"/>
                </a:moveTo>
                <a:lnTo>
                  <a:pt x="0" y="533400"/>
                </a:lnTo>
              </a:path>
            </a:pathLst>
          </a:custGeom>
          <a:noFill/>
          <a:ln w="28575">
            <a:solidFill>
              <a:srgbClr val="CBD5E1"/>
            </a:solidFill>
          </a:ln>
        </p:spPr>
      </p:sp>
      <p:sp>
        <p:nvSpPr>
          <p:cNvPr id="24" name="Polygon 24"/>
          <p:cNvSpPr/>
          <p:nvPr/>
        </p:nvSpPr>
        <p:spPr>
          <a:xfrm>
            <a:off x="3800475" y="3429000"/>
            <a:ext cx="266700" cy="323850"/>
          </a:xfrm>
          <a:custGeom>
            <a:avLst/>
            <a:gdLst/>
            <a:ahLst/>
            <a:cxnLst/>
            <a:rect l="l" t="t" r="r" b="b"/>
            <a:pathLst>
              <a:path w="266700" h="323850">
                <a:moveTo>
                  <a:pt x="0" y="0"/>
                </a:moveTo>
                <a:lnTo>
                  <a:pt x="133350" y="323850"/>
                </a:lnTo>
                <a:lnTo>
                  <a:pt x="266700" y="0"/>
                </a:lnTo>
                <a:close/>
              </a:path>
            </a:pathLst>
          </a:custGeom>
          <a:solidFill>
            <a:srgbClr val="CBD5E1"/>
          </a:solidFill>
          <a:ln>
            <a:noFill/>
          </a:ln>
        </p:spPr>
      </p:sp>
      <p:sp>
        <p:nvSpPr>
          <p:cNvPr id="25" name="Rectangle 25"/>
          <p:cNvSpPr/>
          <p:nvPr/>
        </p:nvSpPr>
        <p:spPr>
          <a:xfrm>
            <a:off x="3181350" y="3829050"/>
            <a:ext cx="1504950" cy="628650"/>
          </a:xfrm>
          <a:prstGeom prst="roundRect">
            <a:avLst>
              <a:gd name="adj" fmla="val 24242"/>
            </a:avLst>
          </a:prstGeom>
          <a:solidFill>
            <a:srgbClr val="00A676">
              <a:alpha val="8000"/>
            </a:srgbClr>
          </a:solidFill>
          <a:ln w="9525">
            <a:solidFill>
              <a:srgbClr val="00A676"/>
            </a:solidFill>
          </a:ln>
        </p:spPr>
      </p:sp>
      <p:sp>
        <p:nvSpPr>
          <p:cNvPr id="26" name="TextBox 26"/>
          <p:cNvSpPr txBox="1"/>
          <p:nvPr/>
        </p:nvSpPr>
        <p:spPr>
          <a:xfrm>
            <a:off x="3643312" y="3974306"/>
            <a:ext cx="461754"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Consolas"/>
                <a:ea typeface="Microsoft YaHei"/>
                <a:cs typeface="Consolas"/>
              </a:rPr>
              <a:t>decks</a:t>
            </a:r>
          </a:p>
        </p:txBody>
      </p:sp>
      <p:sp>
        <p:nvSpPr>
          <p:cNvPr id="27" name="TextBox 27"/>
          <p:cNvSpPr txBox="1"/>
          <p:nvPr/>
        </p:nvSpPr>
        <p:spPr>
          <a:xfrm>
            <a:off x="3664268" y="4209574"/>
            <a:ext cx="4473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9 rows</a:t>
            </a:r>
          </a:p>
        </p:txBody>
      </p:sp>
      <p:sp>
        <p:nvSpPr>
          <p:cNvPr id="28" name="Polygon 28"/>
          <p:cNvSpPr/>
          <p:nvPr/>
        </p:nvSpPr>
        <p:spPr>
          <a:xfrm>
            <a:off x="4895850" y="4010025"/>
            <a:ext cx="323850" cy="247650"/>
          </a:xfrm>
          <a:custGeom>
            <a:avLst/>
            <a:gdLst/>
            <a:ahLst/>
            <a:cxnLst/>
            <a:rect l="l" t="t" r="r" b="b"/>
            <a:pathLst>
              <a:path w="323850" h="247650">
                <a:moveTo>
                  <a:pt x="0" y="0"/>
                </a:moveTo>
                <a:lnTo>
                  <a:pt x="323850" y="123825"/>
                </a:lnTo>
                <a:lnTo>
                  <a:pt x="0" y="247650"/>
                </a:lnTo>
                <a:close/>
              </a:path>
            </a:pathLst>
          </a:custGeom>
          <a:solidFill>
            <a:srgbClr val="CBD5E1"/>
          </a:solidFill>
          <a:ln>
            <a:noFill/>
          </a:ln>
        </p:spPr>
      </p:sp>
      <p:sp>
        <p:nvSpPr>
          <p:cNvPr id="29" name="Rectangle 29"/>
          <p:cNvSpPr/>
          <p:nvPr/>
        </p:nvSpPr>
        <p:spPr>
          <a:xfrm>
            <a:off x="7067550" y="3829050"/>
            <a:ext cx="876300" cy="628650"/>
          </a:xfrm>
          <a:prstGeom prst="roundRect">
            <a:avLst>
              <a:gd name="adj" fmla="val 24242"/>
            </a:avLst>
          </a:prstGeom>
          <a:solidFill>
            <a:srgbClr val="00A676">
              <a:alpha val="8000"/>
            </a:srgbClr>
          </a:solidFill>
          <a:ln w="9525">
            <a:solidFill>
              <a:srgbClr val="00A676"/>
            </a:solidFill>
          </a:ln>
        </p:spPr>
      </p:sp>
      <p:sp>
        <p:nvSpPr>
          <p:cNvPr id="30" name="TextBox 30"/>
          <p:cNvSpPr txBox="1"/>
          <p:nvPr/>
        </p:nvSpPr>
        <p:spPr>
          <a:xfrm>
            <a:off x="7281862" y="3974306"/>
            <a:ext cx="461754"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Consolas"/>
                <a:ea typeface="Microsoft YaHei"/>
                <a:cs typeface="Consolas"/>
              </a:rPr>
              <a:t>cards</a:t>
            </a:r>
          </a:p>
        </p:txBody>
      </p:sp>
      <p:sp>
        <p:nvSpPr>
          <p:cNvPr id="31" name="TextBox 31"/>
          <p:cNvSpPr txBox="1"/>
          <p:nvPr/>
        </p:nvSpPr>
        <p:spPr>
          <a:xfrm>
            <a:off x="7302818" y="4209574"/>
            <a:ext cx="4473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Consolas"/>
                <a:ea typeface="Microsoft YaHei"/>
                <a:cs typeface="Consolas"/>
              </a:rPr>
              <a:t>9 rows</a:t>
            </a:r>
          </a:p>
        </p:txBody>
      </p:sp>
      <p:sp>
        <p:nvSpPr>
          <p:cNvPr id="32" name="Line 32"/>
          <p:cNvSpPr/>
          <p:nvPr/>
        </p:nvSpPr>
        <p:spPr>
          <a:xfrm>
            <a:off x="6800850" y="4143375"/>
            <a:ext cx="266700" cy="9525"/>
          </a:xfrm>
          <a:custGeom>
            <a:avLst/>
            <a:gdLst/>
            <a:ahLst/>
            <a:cxnLst/>
            <a:rect l="l" t="t" r="r" b="b"/>
            <a:pathLst>
              <a:path w="266700" h="9525">
                <a:moveTo>
                  <a:pt x="0" y="0"/>
                </a:moveTo>
                <a:lnTo>
                  <a:pt x="266700" y="0"/>
                </a:lnTo>
              </a:path>
            </a:pathLst>
          </a:custGeom>
          <a:noFill/>
          <a:ln w="28575">
            <a:solidFill>
              <a:srgbClr val="CBD5E1"/>
            </a:solidFill>
          </a:ln>
        </p:spPr>
      </p:sp>
      <p:sp>
        <p:nvSpPr>
          <p:cNvPr id="33" name="Line 33"/>
          <p:cNvSpPr/>
          <p:nvPr/>
        </p:nvSpPr>
        <p:spPr>
          <a:xfrm>
            <a:off x="7505700" y="4457700"/>
            <a:ext cx="9525" cy="457200"/>
          </a:xfrm>
          <a:custGeom>
            <a:avLst/>
            <a:gdLst/>
            <a:ahLst/>
            <a:cxnLst/>
            <a:rect l="l" t="t" r="r" b="b"/>
            <a:pathLst>
              <a:path w="9525" h="457200">
                <a:moveTo>
                  <a:pt x="0" y="0"/>
                </a:moveTo>
                <a:lnTo>
                  <a:pt x="0" y="457200"/>
                </a:lnTo>
              </a:path>
            </a:pathLst>
          </a:custGeom>
          <a:noFill/>
          <a:ln w="28575">
            <a:solidFill>
              <a:srgbClr val="CBD5E1"/>
            </a:solidFill>
          </a:ln>
        </p:spPr>
      </p:sp>
      <p:sp>
        <p:nvSpPr>
          <p:cNvPr id="34" name="Polygon 34"/>
          <p:cNvSpPr/>
          <p:nvPr/>
        </p:nvSpPr>
        <p:spPr>
          <a:xfrm>
            <a:off x="7372350" y="4781550"/>
            <a:ext cx="266700" cy="323850"/>
          </a:xfrm>
          <a:custGeom>
            <a:avLst/>
            <a:gdLst/>
            <a:ahLst/>
            <a:cxnLst/>
            <a:rect l="l" t="t" r="r" b="b"/>
            <a:pathLst>
              <a:path w="266700" h="323850">
                <a:moveTo>
                  <a:pt x="0" y="0"/>
                </a:moveTo>
                <a:lnTo>
                  <a:pt x="133350" y="323850"/>
                </a:lnTo>
                <a:lnTo>
                  <a:pt x="266700" y="0"/>
                </a:lnTo>
                <a:close/>
              </a:path>
            </a:pathLst>
          </a:custGeom>
          <a:solidFill>
            <a:srgbClr val="CBD5E1"/>
          </a:solidFill>
          <a:ln>
            <a:noFill/>
          </a:ln>
        </p:spPr>
      </p:sp>
      <p:sp>
        <p:nvSpPr>
          <p:cNvPr id="35" name="Rectangle 35"/>
          <p:cNvSpPr/>
          <p:nvPr/>
        </p:nvSpPr>
        <p:spPr>
          <a:xfrm>
            <a:off x="6496050" y="5105400"/>
            <a:ext cx="1447800" cy="323850"/>
          </a:xfrm>
          <a:prstGeom prst="roundRect">
            <a:avLst>
              <a:gd name="adj" fmla="val 35294"/>
            </a:avLst>
          </a:prstGeom>
          <a:solidFill>
            <a:srgbClr val="00A676"/>
          </a:solidFill>
          <a:ln>
            <a:noFill/>
          </a:ln>
        </p:spPr>
      </p:sp>
      <p:sp>
        <p:nvSpPr>
          <p:cNvPr id="36" name="TextBox 36"/>
          <p:cNvSpPr txBox="1"/>
          <p:nvPr/>
        </p:nvSpPr>
        <p:spPr>
          <a:xfrm>
            <a:off x="6712268" y="5209699"/>
            <a:ext cx="1058394" cy="198120"/>
          </a:xfrm>
          <a:prstGeom prst="rect">
            <a:avLst/>
          </a:prstGeom>
          <a:noFill/>
          <a:ln>
            <a:noFill/>
          </a:ln>
        </p:spPr>
        <p:txBody>
          <a:bodyPr wrap="none" lIns="0" tIns="0" rIns="0" bIns="0" anchor="t" anchorCtr="0">
            <a:spAutoFit/>
          </a:bodyPr>
          <a:lstStyle/>
          <a:p>
            <a:pPr algn="l"/>
            <a:r>
              <a:rPr lang="zh-CN" sz="975" dirty="0">
                <a:solidFill>
                  <a:srgbClr val="FFFFFF"/>
                </a:solidFill>
                <a:latin typeface="Consolas"/>
                <a:ea typeface="Microsoft YaHei"/>
                <a:cs typeface="Consolas"/>
              </a:rPr>
              <a:t>card_reviews: 9</a:t>
            </a:r>
          </a:p>
        </p:txBody>
      </p:sp>
      <p:sp>
        <p:nvSpPr>
          <p:cNvPr id="37" name="Rectangle 37"/>
          <p:cNvSpPr/>
          <p:nvPr/>
        </p:nvSpPr>
        <p:spPr>
          <a:xfrm>
            <a:off x="8686800" y="1466850"/>
            <a:ext cx="2857500" cy="4095750"/>
          </a:xfrm>
          <a:prstGeom prst="roundRect">
            <a:avLst>
              <a:gd name="adj" fmla="val 8667"/>
            </a:avLst>
          </a:prstGeom>
          <a:solidFill>
            <a:srgbClr val="0F172A"/>
          </a:solidFill>
          <a:ln>
            <a:noFill/>
          </a:ln>
        </p:spPr>
      </p:sp>
      <p:grpSp>
        <p:nvGrpSpPr>
          <p:cNvPr id="41" name="Group 41"/>
          <p:cNvGrpSpPr/>
          <p:nvPr/>
        </p:nvGrpSpPr>
        <p:grpSpPr>
          <a:xfrm>
            <a:off x="9170194" y="1993106"/>
            <a:ext cx="233362" cy="300038"/>
            <a:chOff x="9170194" y="1993106"/>
            <a:chExt cx="233362" cy="300038"/>
          </a:xfrm>
        </p:grpSpPr>
        <p:sp>
          <p:nvSpPr>
            <p:cNvPr id="38" name="Freeform 38"/>
            <p:cNvSpPr/>
            <p:nvPr/>
          </p:nvSpPr>
          <p:spPr>
            <a:xfrm>
              <a:off x="9170194" y="2126456"/>
              <a:ext cx="233362" cy="166688"/>
            </a:xfrm>
            <a:custGeom>
              <a:avLst/>
              <a:gdLst/>
              <a:ahLst/>
              <a:cxnLst/>
              <a:rect l="l" t="t" r="r" b="b"/>
              <a:pathLst>
                <a:path w="233362" h="166688">
                  <a:moveTo>
                    <a:pt x="0" y="33338"/>
                  </a:moveTo>
                  <a:cubicBezTo>
                    <a:pt x="0" y="14926"/>
                    <a:pt x="14926" y="0"/>
                    <a:pt x="33338" y="0"/>
                  </a:cubicBezTo>
                  <a:lnTo>
                    <a:pt x="200025" y="0"/>
                  </a:lnTo>
                  <a:cubicBezTo>
                    <a:pt x="218437" y="0"/>
                    <a:pt x="233362" y="14926"/>
                    <a:pt x="233362" y="33338"/>
                  </a:cubicBezTo>
                  <a:lnTo>
                    <a:pt x="233362" y="133350"/>
                  </a:lnTo>
                  <a:cubicBezTo>
                    <a:pt x="233362" y="151762"/>
                    <a:pt x="218437" y="166688"/>
                    <a:pt x="200025" y="166688"/>
                  </a:cubicBezTo>
                  <a:lnTo>
                    <a:pt x="33338" y="166688"/>
                  </a:lnTo>
                  <a:cubicBezTo>
                    <a:pt x="14926" y="166688"/>
                    <a:pt x="0" y="151762"/>
                    <a:pt x="0" y="133350"/>
                  </a:cubicBezTo>
                  <a:lnTo>
                    <a:pt x="0" y="33338"/>
                  </a:lnTo>
                </a:path>
              </a:pathLst>
            </a:custGeom>
            <a:noFill/>
            <a:ln w="19050">
              <a:solidFill>
                <a:srgbClr val="00A676"/>
              </a:solidFill>
            </a:ln>
          </p:spPr>
        </p:sp>
        <p:sp>
          <p:nvSpPr>
            <p:cNvPr id="39" name="Freeform 39"/>
            <p:cNvSpPr/>
            <p:nvPr/>
          </p:nvSpPr>
          <p:spPr>
            <a:xfrm>
              <a:off x="9270206" y="2193131"/>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00A676"/>
              </a:solidFill>
            </a:ln>
          </p:spPr>
        </p:sp>
        <p:sp>
          <p:nvSpPr>
            <p:cNvPr id="40" name="Freeform 40"/>
            <p:cNvSpPr/>
            <p:nvPr/>
          </p:nvSpPr>
          <p:spPr>
            <a:xfrm>
              <a:off x="9220200" y="1993106"/>
              <a:ext cx="133350" cy="133350"/>
            </a:xfrm>
            <a:custGeom>
              <a:avLst/>
              <a:gdLst/>
              <a:ahLst/>
              <a:cxnLst/>
              <a:rect l="l" t="t" r="r" b="b"/>
              <a:pathLst>
                <a:path w="133350" h="133350">
                  <a:moveTo>
                    <a:pt x="0" y="133350"/>
                  </a:moveTo>
                  <a:lnTo>
                    <a:pt x="0" y="66675"/>
                  </a:lnTo>
                  <a:cubicBezTo>
                    <a:pt x="0" y="29851"/>
                    <a:pt x="29851" y="0"/>
                    <a:pt x="66675" y="0"/>
                  </a:cubicBezTo>
                  <a:cubicBezTo>
                    <a:pt x="103499" y="0"/>
                    <a:pt x="133350" y="29851"/>
                    <a:pt x="133350" y="66675"/>
                  </a:cubicBezTo>
                  <a:lnTo>
                    <a:pt x="133350" y="133350"/>
                  </a:lnTo>
                </a:path>
              </a:pathLst>
            </a:custGeom>
            <a:noFill/>
            <a:ln w="19050">
              <a:solidFill>
                <a:srgbClr val="00A676"/>
              </a:solidFill>
            </a:ln>
          </p:spPr>
        </p:sp>
      </p:grpSp>
      <p:sp>
        <p:nvSpPr>
          <p:cNvPr id="42" name="TextBox 42"/>
          <p:cNvSpPr txBox="1"/>
          <p:nvPr/>
        </p:nvSpPr>
        <p:spPr>
          <a:xfrm>
            <a:off x="9063038" y="2502694"/>
            <a:ext cx="2161014" cy="381000"/>
          </a:xfrm>
          <a:prstGeom prst="rect">
            <a:avLst/>
          </a:prstGeom>
          <a:noFill/>
          <a:ln>
            <a:noFill/>
          </a:ln>
        </p:spPr>
        <p:txBody>
          <a:bodyPr wrap="none" lIns="0" tIns="0" rIns="0" bIns="0" anchor="t" anchorCtr="0">
            <a:spAutoFit/>
          </a:bodyPr>
          <a:lstStyle/>
          <a:p>
            <a:pPr algn="l"/>
            <a:r>
              <a:rPr lang="zh-CN" sz="1875" b="1" dirty="0">
                <a:solidFill>
                  <a:srgbClr val="FFFFFF"/>
                </a:solidFill>
                <a:latin typeface="Arial"/>
                <a:ea typeface="Microsoft YaHei"/>
                <a:cs typeface="Arial"/>
              </a:rPr>
              <a:t>Truy cập an toàn</a:t>
            </a:r>
          </a:p>
        </p:txBody>
      </p:sp>
      <p:sp>
        <p:nvSpPr>
          <p:cNvPr id="43" name="TextBox 43"/>
          <p:cNvSpPr txBox="1"/>
          <p:nvPr/>
        </p:nvSpPr>
        <p:spPr>
          <a:xfrm>
            <a:off x="9070658" y="2967514"/>
            <a:ext cx="4614458" cy="259080"/>
          </a:xfrm>
          <a:prstGeom prst="rect">
            <a:avLst/>
          </a:prstGeom>
          <a:noFill/>
          <a:ln>
            <a:noFill/>
          </a:ln>
        </p:spPr>
        <p:txBody>
          <a:bodyPr wrap="none" lIns="0" tIns="0" rIns="0" bIns="0" anchor="t" anchorCtr="0">
            <a:spAutoFit/>
          </a:bodyPr>
          <a:lstStyle/>
          <a:p>
            <a:pPr algn="l"/>
            <a:r>
              <a:rPr lang="zh-CN" sz="1275" dirty="0">
                <a:solidFill>
                  <a:srgbClr val="CBD5E1"/>
                </a:solidFill>
                <a:latin typeface="Arial"/>
                <a:ea typeface="Microsoft YaHei"/>
                <a:cs typeface="Arial"/>
              </a:rPr>
              <a:t>DBeaver không kết nối trực tiếp Internet đến database.</a:t>
            </a:r>
          </a:p>
        </p:txBody>
      </p:sp>
      <p:sp>
        <p:nvSpPr>
          <p:cNvPr id="44" name="Rectangle 44"/>
          <p:cNvSpPr/>
          <p:nvPr/>
        </p:nvSpPr>
        <p:spPr>
          <a:xfrm>
            <a:off x="9086850" y="3676650"/>
            <a:ext cx="2000250" cy="495300"/>
          </a:xfrm>
          <a:prstGeom prst="roundRect">
            <a:avLst>
              <a:gd name="adj" fmla="val 26923"/>
            </a:avLst>
          </a:prstGeom>
          <a:solidFill>
            <a:srgbClr val="FFFFFF">
              <a:alpha val="12000"/>
            </a:srgbClr>
          </a:solidFill>
          <a:ln w="9525">
            <a:solidFill>
              <a:srgbClr val="CBD5E1"/>
            </a:solidFill>
          </a:ln>
        </p:spPr>
      </p:sp>
      <p:sp>
        <p:nvSpPr>
          <p:cNvPr id="45" name="TextBox 45"/>
          <p:cNvSpPr txBox="1"/>
          <p:nvPr/>
        </p:nvSpPr>
        <p:spPr>
          <a:xfrm>
            <a:off x="9340215" y="3868102"/>
            <a:ext cx="1034796"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Consolas"/>
                <a:ea typeface="Microsoft YaHei"/>
                <a:cs typeface="Consolas"/>
              </a:rPr>
              <a:t>localhost:5432</a:t>
            </a:r>
          </a:p>
        </p:txBody>
      </p:sp>
      <p:sp>
        <p:nvSpPr>
          <p:cNvPr id="46" name="Rectangle 46"/>
          <p:cNvSpPr/>
          <p:nvPr/>
        </p:nvSpPr>
        <p:spPr>
          <a:xfrm>
            <a:off x="9086850" y="4343400"/>
            <a:ext cx="2000250" cy="495300"/>
          </a:xfrm>
          <a:prstGeom prst="roundRect">
            <a:avLst>
              <a:gd name="adj" fmla="val 26923"/>
            </a:avLst>
          </a:prstGeom>
          <a:solidFill>
            <a:srgbClr val="FFFFFF">
              <a:alpha val="12000"/>
            </a:srgbClr>
          </a:solidFill>
          <a:ln w="9525">
            <a:solidFill>
              <a:srgbClr val="CBD5E1"/>
            </a:solidFill>
          </a:ln>
        </p:spPr>
      </p:sp>
      <p:sp>
        <p:nvSpPr>
          <p:cNvPr id="47" name="TextBox 47"/>
          <p:cNvSpPr txBox="1"/>
          <p:nvPr/>
        </p:nvSpPr>
        <p:spPr>
          <a:xfrm>
            <a:off x="9340215" y="4534852"/>
            <a:ext cx="999792"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Consolas"/>
                <a:ea typeface="Microsoft YaHei"/>
                <a:cs typeface="Consolas"/>
              </a:rPr>
              <a:t>SSH tunnel EC2</a:t>
            </a:r>
          </a:p>
        </p:txBody>
      </p:sp>
      <p:sp>
        <p:nvSpPr>
          <p:cNvPr id="48" name="Rectangle 48"/>
          <p:cNvSpPr/>
          <p:nvPr/>
        </p:nvSpPr>
        <p:spPr>
          <a:xfrm>
            <a:off x="1200150" y="5867400"/>
            <a:ext cx="9791700" cy="457200"/>
          </a:xfrm>
          <a:prstGeom prst="roundRect">
            <a:avLst>
              <a:gd name="adj" fmla="val 37500"/>
            </a:avLst>
          </a:prstGeom>
          <a:solidFill>
            <a:srgbClr val="FFFFFF"/>
          </a:solidFill>
          <a:ln w="9525">
            <a:solidFill>
              <a:srgbClr val="CBD5E1"/>
            </a:solidFill>
          </a:ln>
        </p:spPr>
      </p:sp>
      <p:sp>
        <p:nvSpPr>
          <p:cNvPr id="49" name="TextBox 49"/>
          <p:cNvSpPr txBox="1"/>
          <p:nvPr/>
        </p:nvSpPr>
        <p:spPr>
          <a:xfrm>
            <a:off x="1451610" y="6023610"/>
            <a:ext cx="8287512"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Ý nghĩa cloud: DB chạy gần backend để giảm độ trễ, đồng thời giảm rủi ro vì không public cổng PostgreSQL.</a:t>
            </a:r>
          </a:p>
        </p:txBody>
      </p:sp>
      <p:sp>
        <p:nvSpPr>
          <p:cNvPr id="50" name="TextBox 50"/>
          <p:cNvSpPr txBox="1"/>
          <p:nvPr/>
        </p:nvSpPr>
        <p:spPr>
          <a:xfrm>
            <a:off x="521970" y="6475095"/>
            <a:ext cx="138503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13 · Database Data Flow</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497205" y="378142"/>
            <a:ext cx="7714195"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Bảo mật và vận hành khi chạy trên cloud</a:t>
            </a:r>
          </a:p>
        </p:txBody>
      </p:sp>
      <p:sp>
        <p:nvSpPr>
          <p:cNvPr id="4" name="TextBox 4"/>
          <p:cNvSpPr txBox="1"/>
          <p:nvPr/>
        </p:nvSpPr>
        <p:spPr>
          <a:xfrm>
            <a:off x="535305" y="921068"/>
            <a:ext cx="804529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Các cấu hình tối thiểu giúp demo cloud có thể truy cập công khai nhưng vẫn kiểm soát rủi ro.</a:t>
            </a:r>
          </a:p>
        </p:txBody>
      </p:sp>
      <p:sp>
        <p:nvSpPr>
          <p:cNvPr id="5" name="Rectangle 5"/>
          <p:cNvSpPr/>
          <p:nvPr/>
        </p:nvSpPr>
        <p:spPr>
          <a:xfrm>
            <a:off x="704850" y="1504950"/>
            <a:ext cx="2476500" cy="3048000"/>
          </a:xfrm>
          <a:prstGeom prst="roundRect">
            <a:avLst>
              <a:gd name="adj" fmla="val 9231"/>
            </a:avLst>
          </a:prstGeom>
          <a:solidFill>
            <a:srgbClr val="FFFFFF"/>
          </a:solidFill>
          <a:ln w="9525">
            <a:solidFill>
              <a:srgbClr val="CBD5E1"/>
            </a:solidFill>
          </a:ln>
        </p:spPr>
      </p:sp>
      <p:grpSp>
        <p:nvGrpSpPr>
          <p:cNvPr id="9" name="Group 9"/>
          <p:cNvGrpSpPr/>
          <p:nvPr/>
        </p:nvGrpSpPr>
        <p:grpSpPr>
          <a:xfrm>
            <a:off x="1090815" y="1935956"/>
            <a:ext cx="313921" cy="300038"/>
            <a:chOff x="1090815" y="1935956"/>
            <a:chExt cx="313921" cy="300038"/>
          </a:xfrm>
        </p:grpSpPr>
        <p:sp>
          <p:nvSpPr>
            <p:cNvPr id="6" name="Freeform 6"/>
            <p:cNvSpPr/>
            <p:nvPr/>
          </p:nvSpPr>
          <p:spPr>
            <a:xfrm>
              <a:off x="1090815" y="1935956"/>
              <a:ext cx="313921" cy="300038"/>
            </a:xfrm>
            <a:custGeom>
              <a:avLst/>
              <a:gdLst/>
              <a:ahLst/>
              <a:cxnLst/>
              <a:rect l="l" t="t" r="r" b="b"/>
              <a:pathLst>
                <a:path w="313921" h="300038">
                  <a:moveTo>
                    <a:pt x="156960" y="0"/>
                  </a:moveTo>
                  <a:cubicBezTo>
                    <a:pt x="195896" y="34447"/>
                    <a:pt x="246713" y="52383"/>
                    <a:pt x="298645" y="50006"/>
                  </a:cubicBezTo>
                  <a:cubicBezTo>
                    <a:pt x="313921" y="101972"/>
                    <a:pt x="307470" y="157910"/>
                    <a:pt x="280766" y="205034"/>
                  </a:cubicBezTo>
                  <a:cubicBezTo>
                    <a:pt x="254062" y="252158"/>
                    <a:pt x="209390" y="286438"/>
                    <a:pt x="156960" y="300038"/>
                  </a:cubicBezTo>
                  <a:cubicBezTo>
                    <a:pt x="104531" y="286438"/>
                    <a:pt x="59858" y="252158"/>
                    <a:pt x="33155" y="205034"/>
                  </a:cubicBezTo>
                  <a:cubicBezTo>
                    <a:pt x="6451" y="157910"/>
                    <a:pt x="0" y="101972"/>
                    <a:pt x="15276" y="50006"/>
                  </a:cubicBezTo>
                  <a:cubicBezTo>
                    <a:pt x="67208" y="52383"/>
                    <a:pt x="118025" y="34447"/>
                    <a:pt x="156960" y="0"/>
                  </a:cubicBezTo>
                </a:path>
              </a:pathLst>
            </a:custGeom>
            <a:noFill/>
            <a:ln w="19050">
              <a:solidFill>
                <a:srgbClr val="2563EB"/>
              </a:solidFill>
            </a:ln>
          </p:spPr>
        </p:sp>
        <p:sp>
          <p:nvSpPr>
            <p:cNvPr id="7" name="Freeform 7"/>
            <p:cNvSpPr/>
            <p:nvPr/>
          </p:nvSpPr>
          <p:spPr>
            <a:xfrm>
              <a:off x="1231106" y="2052638"/>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2563EB"/>
              </a:solidFill>
            </a:ln>
          </p:spPr>
        </p:sp>
        <p:sp>
          <p:nvSpPr>
            <p:cNvPr id="8" name="Freeform 8"/>
            <p:cNvSpPr/>
            <p:nvPr/>
          </p:nvSpPr>
          <p:spPr>
            <a:xfrm>
              <a:off x="1247775" y="2085975"/>
              <a:ext cx="9525" cy="41672"/>
            </a:xfrm>
            <a:custGeom>
              <a:avLst/>
              <a:gdLst/>
              <a:ahLst/>
              <a:cxnLst/>
              <a:rect l="l" t="t" r="r" b="b"/>
              <a:pathLst>
                <a:path w="9525" h="41672">
                  <a:moveTo>
                    <a:pt x="0" y="0"/>
                  </a:moveTo>
                  <a:lnTo>
                    <a:pt x="0" y="41672"/>
                  </a:lnTo>
                </a:path>
              </a:pathLst>
            </a:custGeom>
            <a:noFill/>
            <a:ln w="19050">
              <a:solidFill>
                <a:srgbClr val="2563EB"/>
              </a:solidFill>
            </a:ln>
          </p:spPr>
        </p:sp>
      </p:grpSp>
      <p:sp>
        <p:nvSpPr>
          <p:cNvPr id="10" name="TextBox 10"/>
          <p:cNvSpPr txBox="1"/>
          <p:nvPr/>
        </p:nvSpPr>
        <p:spPr>
          <a:xfrm>
            <a:off x="1025842" y="2442686"/>
            <a:ext cx="1022012"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Network</a:t>
            </a:r>
          </a:p>
        </p:txBody>
      </p:sp>
      <p:sp>
        <p:nvSpPr>
          <p:cNvPr id="11" name="TextBox 11"/>
          <p:cNvSpPr txBox="1"/>
          <p:nvPr/>
        </p:nvSpPr>
        <p:spPr>
          <a:xfrm>
            <a:off x="1032510" y="2899410"/>
            <a:ext cx="2998851"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Security Group chỉ mở 80, 443 và SSH.</a:t>
            </a:r>
          </a:p>
        </p:txBody>
      </p:sp>
      <p:sp>
        <p:nvSpPr>
          <p:cNvPr id="12" name="TextBox 12"/>
          <p:cNvSpPr txBox="1"/>
          <p:nvPr/>
        </p:nvSpPr>
        <p:spPr>
          <a:xfrm>
            <a:off x="1032510" y="3356610"/>
            <a:ext cx="2950845"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PostgreSQL không public ra Internet.</a:t>
            </a:r>
          </a:p>
        </p:txBody>
      </p:sp>
      <p:sp>
        <p:nvSpPr>
          <p:cNvPr id="13" name="Rectangle 13"/>
          <p:cNvSpPr/>
          <p:nvPr/>
        </p:nvSpPr>
        <p:spPr>
          <a:xfrm>
            <a:off x="1047750" y="3867150"/>
            <a:ext cx="1562100" cy="342900"/>
          </a:xfrm>
          <a:prstGeom prst="roundRect">
            <a:avLst>
              <a:gd name="adj" fmla="val 33333"/>
            </a:avLst>
          </a:prstGeom>
          <a:solidFill>
            <a:srgbClr val="2563EB">
              <a:alpha val="8000"/>
            </a:srgbClr>
          </a:solidFill>
          <a:ln w="9525">
            <a:solidFill>
              <a:srgbClr val="2563EB"/>
            </a:solidFill>
          </a:ln>
        </p:spPr>
      </p:sp>
      <p:sp>
        <p:nvSpPr>
          <p:cNvPr id="14" name="TextBox 14"/>
          <p:cNvSpPr txBox="1"/>
          <p:nvPr/>
        </p:nvSpPr>
        <p:spPr>
          <a:xfrm>
            <a:off x="1244918" y="3980974"/>
            <a:ext cx="824365" cy="198120"/>
          </a:xfrm>
          <a:prstGeom prst="rect">
            <a:avLst/>
          </a:prstGeom>
          <a:noFill/>
          <a:ln>
            <a:noFill/>
          </a:ln>
        </p:spPr>
        <p:txBody>
          <a:bodyPr wrap="none" lIns="0" tIns="0" rIns="0" bIns="0" anchor="t" anchorCtr="0">
            <a:spAutoFit/>
          </a:bodyPr>
          <a:lstStyle/>
          <a:p>
            <a:pPr algn="l"/>
            <a:r>
              <a:rPr lang="zh-CN" sz="975" dirty="0">
                <a:solidFill>
                  <a:srgbClr val="2563EB"/>
                </a:solidFill>
                <a:latin typeface="Consolas"/>
                <a:ea typeface="Microsoft YaHei"/>
                <a:cs typeface="Consolas"/>
              </a:rPr>
              <a:t>22 / 80 / 443</a:t>
            </a:r>
          </a:p>
        </p:txBody>
      </p:sp>
      <p:sp>
        <p:nvSpPr>
          <p:cNvPr id="15" name="Rectangle 15"/>
          <p:cNvSpPr/>
          <p:nvPr/>
        </p:nvSpPr>
        <p:spPr>
          <a:xfrm>
            <a:off x="3581400" y="1504950"/>
            <a:ext cx="2476500" cy="3048000"/>
          </a:xfrm>
          <a:prstGeom prst="roundRect">
            <a:avLst>
              <a:gd name="adj" fmla="val 9231"/>
            </a:avLst>
          </a:prstGeom>
          <a:solidFill>
            <a:srgbClr val="FFFFFF"/>
          </a:solidFill>
          <a:ln w="9525">
            <a:solidFill>
              <a:srgbClr val="CBD5E1"/>
            </a:solidFill>
          </a:ln>
        </p:spPr>
      </p:sp>
      <p:grpSp>
        <p:nvGrpSpPr>
          <p:cNvPr id="22" name="Group 22"/>
          <p:cNvGrpSpPr/>
          <p:nvPr/>
        </p:nvGrpSpPr>
        <p:grpSpPr>
          <a:xfrm>
            <a:off x="3974306" y="1969294"/>
            <a:ext cx="300038" cy="283368"/>
            <a:chOff x="3974306" y="1969294"/>
            <a:chExt cx="300038" cy="283368"/>
          </a:xfrm>
        </p:grpSpPr>
        <p:sp>
          <p:nvSpPr>
            <p:cNvPr id="16" name="Freeform 16"/>
            <p:cNvSpPr/>
            <p:nvPr/>
          </p:nvSpPr>
          <p:spPr>
            <a:xfrm>
              <a:off x="4124325" y="2085975"/>
              <a:ext cx="100012" cy="100012"/>
            </a:xfrm>
            <a:custGeom>
              <a:avLst/>
              <a:gdLst/>
              <a:ahLst/>
              <a:cxnLst/>
              <a:rect l="l" t="t" r="r" b="b"/>
              <a:pathLst>
                <a:path w="100012" h="100012">
                  <a:moveTo>
                    <a:pt x="0" y="50006"/>
                  </a:moveTo>
                  <a:cubicBezTo>
                    <a:pt x="0" y="77624"/>
                    <a:pt x="22389" y="100012"/>
                    <a:pt x="50006" y="100012"/>
                  </a:cubicBezTo>
                  <a:cubicBezTo>
                    <a:pt x="77624" y="100012"/>
                    <a:pt x="100012" y="77624"/>
                    <a:pt x="100012" y="50006"/>
                  </a:cubicBezTo>
                  <a:cubicBezTo>
                    <a:pt x="100012" y="22389"/>
                    <a:pt x="77624" y="0"/>
                    <a:pt x="50006" y="0"/>
                  </a:cubicBezTo>
                  <a:cubicBezTo>
                    <a:pt x="22389" y="0"/>
                    <a:pt x="0" y="22389"/>
                    <a:pt x="0" y="50006"/>
                  </a:cubicBezTo>
                </a:path>
              </a:pathLst>
            </a:custGeom>
            <a:noFill/>
            <a:ln w="19050">
              <a:solidFill>
                <a:srgbClr val="00A676"/>
              </a:solidFill>
            </a:ln>
          </p:spPr>
        </p:sp>
        <p:sp>
          <p:nvSpPr>
            <p:cNvPr id="17" name="Freeform 17"/>
            <p:cNvSpPr/>
            <p:nvPr/>
          </p:nvSpPr>
          <p:spPr>
            <a:xfrm>
              <a:off x="4140994" y="2177653"/>
              <a:ext cx="66675" cy="75009"/>
            </a:xfrm>
            <a:custGeom>
              <a:avLst/>
              <a:gdLst/>
              <a:ahLst/>
              <a:cxnLst/>
              <a:rect l="l" t="t" r="r" b="b"/>
              <a:pathLst>
                <a:path w="66675" h="75009">
                  <a:moveTo>
                    <a:pt x="0" y="0"/>
                  </a:moveTo>
                  <a:lnTo>
                    <a:pt x="0" y="75009"/>
                  </a:lnTo>
                  <a:lnTo>
                    <a:pt x="33338" y="50006"/>
                  </a:lnTo>
                  <a:lnTo>
                    <a:pt x="66675" y="75009"/>
                  </a:lnTo>
                  <a:lnTo>
                    <a:pt x="66675" y="0"/>
                  </a:lnTo>
                </a:path>
              </a:pathLst>
            </a:custGeom>
            <a:noFill/>
            <a:ln w="19050">
              <a:solidFill>
                <a:srgbClr val="00A676"/>
              </a:solidFill>
            </a:ln>
          </p:spPr>
        </p:sp>
        <p:sp>
          <p:nvSpPr>
            <p:cNvPr id="18" name="Freeform 18"/>
            <p:cNvSpPr/>
            <p:nvPr/>
          </p:nvSpPr>
          <p:spPr>
            <a:xfrm>
              <a:off x="3974306" y="1969294"/>
              <a:ext cx="300038" cy="233362"/>
            </a:xfrm>
            <a:custGeom>
              <a:avLst/>
              <a:gdLst/>
              <a:ahLst/>
              <a:cxnLst/>
              <a:rect l="l" t="t" r="r" b="b"/>
              <a:pathLst>
                <a:path w="300038" h="233362">
                  <a:moveTo>
                    <a:pt x="116681" y="233362"/>
                  </a:moveTo>
                  <a:lnTo>
                    <a:pt x="33338" y="233362"/>
                  </a:lnTo>
                  <a:cubicBezTo>
                    <a:pt x="14926" y="233362"/>
                    <a:pt x="0" y="218437"/>
                    <a:pt x="0" y="200025"/>
                  </a:cubicBezTo>
                  <a:lnTo>
                    <a:pt x="0" y="33338"/>
                  </a:lnTo>
                  <a:cubicBezTo>
                    <a:pt x="0" y="15002"/>
                    <a:pt x="15002" y="0"/>
                    <a:pt x="33338" y="0"/>
                  </a:cubicBezTo>
                  <a:lnTo>
                    <a:pt x="266700" y="0"/>
                  </a:lnTo>
                  <a:cubicBezTo>
                    <a:pt x="285112" y="0"/>
                    <a:pt x="300038" y="14926"/>
                    <a:pt x="300038" y="33338"/>
                  </a:cubicBezTo>
                  <a:lnTo>
                    <a:pt x="300038" y="200025"/>
                  </a:lnTo>
                  <a:cubicBezTo>
                    <a:pt x="300025" y="211923"/>
                    <a:pt x="293673" y="222913"/>
                    <a:pt x="283369" y="228862"/>
                  </a:cubicBezTo>
                </a:path>
              </a:pathLst>
            </a:custGeom>
            <a:noFill/>
            <a:ln w="19050">
              <a:solidFill>
                <a:srgbClr val="00A676"/>
              </a:solidFill>
            </a:ln>
          </p:spPr>
        </p:sp>
        <p:sp>
          <p:nvSpPr>
            <p:cNvPr id="19" name="Freeform 19"/>
            <p:cNvSpPr/>
            <p:nvPr/>
          </p:nvSpPr>
          <p:spPr>
            <a:xfrm>
              <a:off x="4024312" y="2035969"/>
              <a:ext cx="200025" cy="9525"/>
            </a:xfrm>
            <a:custGeom>
              <a:avLst/>
              <a:gdLst/>
              <a:ahLst/>
              <a:cxnLst/>
              <a:rect l="l" t="t" r="r" b="b"/>
              <a:pathLst>
                <a:path w="200025" h="9525">
                  <a:moveTo>
                    <a:pt x="0" y="0"/>
                  </a:moveTo>
                  <a:lnTo>
                    <a:pt x="200025" y="0"/>
                  </a:lnTo>
                </a:path>
              </a:pathLst>
            </a:custGeom>
            <a:noFill/>
            <a:ln w="19050">
              <a:solidFill>
                <a:srgbClr val="00A676"/>
              </a:solidFill>
            </a:ln>
          </p:spPr>
        </p:sp>
        <p:sp>
          <p:nvSpPr>
            <p:cNvPr id="20" name="Freeform 20"/>
            <p:cNvSpPr/>
            <p:nvPr/>
          </p:nvSpPr>
          <p:spPr>
            <a:xfrm>
              <a:off x="4024312" y="2085975"/>
              <a:ext cx="50006" cy="9525"/>
            </a:xfrm>
            <a:custGeom>
              <a:avLst/>
              <a:gdLst/>
              <a:ahLst/>
              <a:cxnLst/>
              <a:rect l="l" t="t" r="r" b="b"/>
              <a:pathLst>
                <a:path w="50006" h="9525">
                  <a:moveTo>
                    <a:pt x="0" y="0"/>
                  </a:moveTo>
                  <a:lnTo>
                    <a:pt x="50006" y="0"/>
                  </a:lnTo>
                </a:path>
              </a:pathLst>
            </a:custGeom>
            <a:noFill/>
            <a:ln w="19050">
              <a:solidFill>
                <a:srgbClr val="00A676"/>
              </a:solidFill>
            </a:ln>
          </p:spPr>
        </p:sp>
        <p:sp>
          <p:nvSpPr>
            <p:cNvPr id="21" name="Freeform 21"/>
            <p:cNvSpPr/>
            <p:nvPr/>
          </p:nvSpPr>
          <p:spPr>
            <a:xfrm>
              <a:off x="4024312" y="2135981"/>
              <a:ext cx="33338" cy="9525"/>
            </a:xfrm>
            <a:custGeom>
              <a:avLst/>
              <a:gdLst/>
              <a:ahLst/>
              <a:cxnLst/>
              <a:rect l="l" t="t" r="r" b="b"/>
              <a:pathLst>
                <a:path w="33338" h="9525">
                  <a:moveTo>
                    <a:pt x="0" y="0"/>
                  </a:moveTo>
                  <a:lnTo>
                    <a:pt x="33338" y="0"/>
                  </a:lnTo>
                </a:path>
              </a:pathLst>
            </a:custGeom>
            <a:noFill/>
            <a:ln w="19050">
              <a:solidFill>
                <a:srgbClr val="00A676"/>
              </a:solidFill>
            </a:ln>
          </p:spPr>
        </p:sp>
      </p:grpSp>
      <p:sp>
        <p:nvSpPr>
          <p:cNvPr id="23" name="TextBox 23"/>
          <p:cNvSpPr txBox="1"/>
          <p:nvPr/>
        </p:nvSpPr>
        <p:spPr>
          <a:xfrm>
            <a:off x="3902392" y="2442686"/>
            <a:ext cx="708023"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HTTPS</a:t>
            </a:r>
          </a:p>
        </p:txBody>
      </p:sp>
      <p:sp>
        <p:nvSpPr>
          <p:cNvPr id="24" name="TextBox 24"/>
          <p:cNvSpPr txBox="1"/>
          <p:nvPr/>
        </p:nvSpPr>
        <p:spPr>
          <a:xfrm>
            <a:off x="3909060" y="2899410"/>
            <a:ext cx="3214878"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Let's Encrypt cấp chứng chỉ cho domain.</a:t>
            </a:r>
          </a:p>
        </p:txBody>
      </p:sp>
      <p:sp>
        <p:nvSpPr>
          <p:cNvPr id="25" name="TextBox 25"/>
          <p:cNvSpPr txBox="1"/>
          <p:nvPr/>
        </p:nvSpPr>
        <p:spPr>
          <a:xfrm>
            <a:off x="3909060" y="3356610"/>
            <a:ext cx="2830830"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HTTP redirect sang HTTPS qua Nginx.</a:t>
            </a:r>
          </a:p>
        </p:txBody>
      </p:sp>
      <p:sp>
        <p:nvSpPr>
          <p:cNvPr id="26" name="Rectangle 26"/>
          <p:cNvSpPr/>
          <p:nvPr/>
        </p:nvSpPr>
        <p:spPr>
          <a:xfrm>
            <a:off x="3924300" y="3867150"/>
            <a:ext cx="1562100" cy="342900"/>
          </a:xfrm>
          <a:prstGeom prst="roundRect">
            <a:avLst>
              <a:gd name="adj" fmla="val 33333"/>
            </a:avLst>
          </a:prstGeom>
          <a:solidFill>
            <a:srgbClr val="00A676">
              <a:alpha val="8000"/>
            </a:srgbClr>
          </a:solidFill>
          <a:ln w="9525">
            <a:solidFill>
              <a:srgbClr val="00A676"/>
            </a:solidFill>
          </a:ln>
        </p:spPr>
      </p:sp>
      <p:sp>
        <p:nvSpPr>
          <p:cNvPr id="27" name="TextBox 27"/>
          <p:cNvSpPr txBox="1"/>
          <p:nvPr/>
        </p:nvSpPr>
        <p:spPr>
          <a:xfrm>
            <a:off x="4121468" y="3980974"/>
            <a:ext cx="707350" cy="198120"/>
          </a:xfrm>
          <a:prstGeom prst="rect">
            <a:avLst/>
          </a:prstGeom>
          <a:noFill/>
          <a:ln>
            <a:noFill/>
          </a:ln>
        </p:spPr>
        <p:txBody>
          <a:bodyPr wrap="none" lIns="0" tIns="0" rIns="0" bIns="0" anchor="t" anchorCtr="0">
            <a:spAutoFit/>
          </a:bodyPr>
          <a:lstStyle/>
          <a:p>
            <a:pPr algn="l"/>
            <a:r>
              <a:rPr lang="zh-CN" sz="975" dirty="0">
                <a:solidFill>
                  <a:srgbClr val="00A676"/>
                </a:solidFill>
                <a:latin typeface="Consolas"/>
                <a:ea typeface="Microsoft YaHei"/>
                <a:cs typeface="Consolas"/>
              </a:rPr>
              <a:t>HTTP/2 200</a:t>
            </a:r>
          </a:p>
        </p:txBody>
      </p:sp>
      <p:sp>
        <p:nvSpPr>
          <p:cNvPr id="28" name="Rectangle 28"/>
          <p:cNvSpPr/>
          <p:nvPr/>
        </p:nvSpPr>
        <p:spPr>
          <a:xfrm>
            <a:off x="6457950" y="1504950"/>
            <a:ext cx="2476500" cy="3048000"/>
          </a:xfrm>
          <a:prstGeom prst="roundRect">
            <a:avLst>
              <a:gd name="adj" fmla="val 9231"/>
            </a:avLst>
          </a:prstGeom>
          <a:solidFill>
            <a:srgbClr val="FFFFFF"/>
          </a:solidFill>
          <a:ln w="9525">
            <a:solidFill>
              <a:srgbClr val="CBD5E1"/>
            </a:solidFill>
          </a:ln>
        </p:spPr>
      </p:sp>
      <p:grpSp>
        <p:nvGrpSpPr>
          <p:cNvPr id="31" name="Group 31"/>
          <p:cNvGrpSpPr/>
          <p:nvPr/>
        </p:nvGrpSpPr>
        <p:grpSpPr>
          <a:xfrm>
            <a:off x="6850856" y="1935959"/>
            <a:ext cx="300034" cy="300034"/>
            <a:chOff x="6850856" y="1935959"/>
            <a:chExt cx="300034" cy="300034"/>
          </a:xfrm>
        </p:grpSpPr>
        <p:sp>
          <p:nvSpPr>
            <p:cNvPr id="29" name="Freeform 29"/>
            <p:cNvSpPr/>
            <p:nvPr/>
          </p:nvSpPr>
          <p:spPr>
            <a:xfrm>
              <a:off x="6850856" y="1935959"/>
              <a:ext cx="300034" cy="300034"/>
            </a:xfrm>
            <a:custGeom>
              <a:avLst/>
              <a:gdLst/>
              <a:ahLst/>
              <a:cxnLst/>
              <a:rect l="l" t="t" r="r" b="b"/>
              <a:pathLst>
                <a:path w="300034" h="300034">
                  <a:moveTo>
                    <a:pt x="225945" y="14049"/>
                  </a:moveTo>
                  <a:lnTo>
                    <a:pt x="285986" y="74089"/>
                  </a:lnTo>
                  <a:cubicBezTo>
                    <a:pt x="294981" y="83083"/>
                    <a:pt x="300034" y="95282"/>
                    <a:pt x="300034" y="108002"/>
                  </a:cubicBezTo>
                  <a:cubicBezTo>
                    <a:pt x="300034" y="120722"/>
                    <a:pt x="294981" y="132921"/>
                    <a:pt x="285986" y="141915"/>
                  </a:cubicBezTo>
                  <a:lnTo>
                    <a:pt x="241930" y="185970"/>
                  </a:lnTo>
                  <a:cubicBezTo>
                    <a:pt x="232937" y="194965"/>
                    <a:pt x="220738" y="200019"/>
                    <a:pt x="208018" y="200019"/>
                  </a:cubicBezTo>
                  <a:cubicBezTo>
                    <a:pt x="195298" y="200019"/>
                    <a:pt x="183099" y="194965"/>
                    <a:pt x="174105" y="185970"/>
                  </a:cubicBezTo>
                  <a:lnTo>
                    <a:pt x="169088" y="180953"/>
                  </a:lnTo>
                  <a:lnTo>
                    <a:pt x="59774" y="290266"/>
                  </a:lnTo>
                  <a:cubicBezTo>
                    <a:pt x="54235" y="295804"/>
                    <a:pt x="46924" y="299215"/>
                    <a:pt x="39122" y="299901"/>
                  </a:cubicBezTo>
                  <a:lnTo>
                    <a:pt x="36205" y="300034"/>
                  </a:lnTo>
                  <a:lnTo>
                    <a:pt x="16669" y="300034"/>
                  </a:lnTo>
                  <a:cubicBezTo>
                    <a:pt x="8218" y="300033"/>
                    <a:pt x="1105" y="293708"/>
                    <a:pt x="117" y="285316"/>
                  </a:cubicBezTo>
                  <a:lnTo>
                    <a:pt x="0" y="283366"/>
                  </a:lnTo>
                  <a:lnTo>
                    <a:pt x="0" y="263830"/>
                  </a:lnTo>
                  <a:cubicBezTo>
                    <a:pt x="2" y="256003"/>
                    <a:pt x="2758" y="248426"/>
                    <a:pt x="7784" y="242427"/>
                  </a:cubicBezTo>
                  <a:lnTo>
                    <a:pt x="9768" y="240260"/>
                  </a:lnTo>
                  <a:lnTo>
                    <a:pt x="16669" y="233359"/>
                  </a:lnTo>
                  <a:lnTo>
                    <a:pt x="50006" y="233359"/>
                  </a:lnTo>
                  <a:lnTo>
                    <a:pt x="50006" y="200022"/>
                  </a:lnTo>
                  <a:lnTo>
                    <a:pt x="83344" y="200022"/>
                  </a:lnTo>
                  <a:lnTo>
                    <a:pt x="83344" y="166684"/>
                  </a:lnTo>
                  <a:lnTo>
                    <a:pt x="119082" y="130946"/>
                  </a:lnTo>
                  <a:lnTo>
                    <a:pt x="114064" y="125929"/>
                  </a:lnTo>
                  <a:cubicBezTo>
                    <a:pt x="105069" y="116935"/>
                    <a:pt x="100016" y="104737"/>
                    <a:pt x="100016" y="92017"/>
                  </a:cubicBezTo>
                  <a:cubicBezTo>
                    <a:pt x="100016" y="79297"/>
                    <a:pt x="105069" y="67098"/>
                    <a:pt x="114064" y="58104"/>
                  </a:cubicBezTo>
                  <a:lnTo>
                    <a:pt x="158120" y="14049"/>
                  </a:lnTo>
                  <a:cubicBezTo>
                    <a:pt x="167113" y="5053"/>
                    <a:pt x="179312" y="0"/>
                    <a:pt x="192032" y="0"/>
                  </a:cubicBezTo>
                  <a:cubicBezTo>
                    <a:pt x="204752" y="0"/>
                    <a:pt x="216951" y="5053"/>
                    <a:pt x="225945" y="14049"/>
                  </a:cubicBezTo>
                </a:path>
              </a:pathLst>
            </a:custGeom>
            <a:noFill/>
            <a:ln w="19050">
              <a:solidFill>
                <a:srgbClr val="F59E0B"/>
              </a:solidFill>
            </a:ln>
          </p:spPr>
        </p:sp>
        <p:sp>
          <p:nvSpPr>
            <p:cNvPr id="30" name="Freeform 30"/>
            <p:cNvSpPr/>
            <p:nvPr/>
          </p:nvSpPr>
          <p:spPr>
            <a:xfrm>
              <a:off x="7050881" y="2035969"/>
              <a:ext cx="9525" cy="9525"/>
            </a:xfrm>
            <a:custGeom>
              <a:avLst/>
              <a:gdLst/>
              <a:ahLst/>
              <a:cxnLst/>
              <a:rect l="l" t="t" r="r" b="b"/>
              <a:pathLst>
                <a:path w="9525" h="9525">
                  <a:moveTo>
                    <a:pt x="0" y="0"/>
                  </a:moveTo>
                  <a:lnTo>
                    <a:pt x="167" y="0"/>
                  </a:lnTo>
                </a:path>
              </a:pathLst>
            </a:custGeom>
            <a:noFill/>
            <a:ln w="19050">
              <a:solidFill>
                <a:srgbClr val="F59E0B"/>
              </a:solidFill>
            </a:ln>
          </p:spPr>
        </p:sp>
      </p:grpSp>
      <p:sp>
        <p:nvSpPr>
          <p:cNvPr id="32" name="TextBox 32"/>
          <p:cNvSpPr txBox="1"/>
          <p:nvPr/>
        </p:nvSpPr>
        <p:spPr>
          <a:xfrm>
            <a:off x="6778942" y="2442686"/>
            <a:ext cx="973706"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Secrets</a:t>
            </a:r>
          </a:p>
        </p:txBody>
      </p:sp>
      <p:sp>
        <p:nvSpPr>
          <p:cNvPr id="33" name="TextBox 33"/>
          <p:cNvSpPr txBox="1"/>
          <p:nvPr/>
        </p:nvSpPr>
        <p:spPr>
          <a:xfrm>
            <a:off x="6785610" y="2899410"/>
            <a:ext cx="4038981"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JWT secret, DB password và AI key nằm trong .env.</a:t>
            </a:r>
          </a:p>
        </p:txBody>
      </p:sp>
      <p:sp>
        <p:nvSpPr>
          <p:cNvPr id="34" name="TextBox 34"/>
          <p:cNvSpPr txBox="1"/>
          <p:nvPr/>
        </p:nvSpPr>
        <p:spPr>
          <a:xfrm>
            <a:off x="6785610" y="3356610"/>
            <a:ext cx="3838956"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Repo dùng .env.example để tránh lộ secret thật.</a:t>
            </a:r>
          </a:p>
        </p:txBody>
      </p:sp>
      <p:sp>
        <p:nvSpPr>
          <p:cNvPr id="35" name="Rectangle 35"/>
          <p:cNvSpPr/>
          <p:nvPr/>
        </p:nvSpPr>
        <p:spPr>
          <a:xfrm>
            <a:off x="6800850" y="3867150"/>
            <a:ext cx="1562100" cy="342900"/>
          </a:xfrm>
          <a:prstGeom prst="roundRect">
            <a:avLst>
              <a:gd name="adj" fmla="val 33333"/>
            </a:avLst>
          </a:prstGeom>
          <a:solidFill>
            <a:srgbClr val="F59E0B">
              <a:alpha val="12000"/>
            </a:srgbClr>
          </a:solidFill>
          <a:ln w="9525">
            <a:solidFill>
              <a:srgbClr val="F59E0B"/>
            </a:solidFill>
          </a:ln>
        </p:spPr>
      </p:sp>
      <p:sp>
        <p:nvSpPr>
          <p:cNvPr id="36" name="TextBox 36"/>
          <p:cNvSpPr txBox="1"/>
          <p:nvPr/>
        </p:nvSpPr>
        <p:spPr>
          <a:xfrm>
            <a:off x="6998018" y="3980974"/>
            <a:ext cx="876371" cy="198120"/>
          </a:xfrm>
          <a:prstGeom prst="rect">
            <a:avLst/>
          </a:prstGeom>
          <a:noFill/>
          <a:ln>
            <a:noFill/>
          </a:ln>
        </p:spPr>
        <p:txBody>
          <a:bodyPr wrap="none" lIns="0" tIns="0" rIns="0" bIns="0" anchor="t" anchorCtr="0">
            <a:spAutoFit/>
          </a:bodyPr>
          <a:lstStyle/>
          <a:p>
            <a:pPr algn="l"/>
            <a:r>
              <a:rPr lang="zh-CN" sz="975" dirty="0">
                <a:solidFill>
                  <a:srgbClr val="F59E0B"/>
                </a:solidFill>
                <a:latin typeface="Consolas"/>
                <a:ea typeface="Microsoft YaHei"/>
                <a:cs typeface="Consolas"/>
              </a:rPr>
              <a:t>.env.example</a:t>
            </a:r>
          </a:p>
        </p:txBody>
      </p:sp>
      <p:sp>
        <p:nvSpPr>
          <p:cNvPr id="37" name="Rectangle 37"/>
          <p:cNvSpPr/>
          <p:nvPr/>
        </p:nvSpPr>
        <p:spPr>
          <a:xfrm>
            <a:off x="9334500" y="1504950"/>
            <a:ext cx="2152650" cy="3048000"/>
          </a:xfrm>
          <a:prstGeom prst="roundRect">
            <a:avLst>
              <a:gd name="adj" fmla="val 10619"/>
            </a:avLst>
          </a:prstGeom>
          <a:solidFill>
            <a:srgbClr val="FFFFFF"/>
          </a:solidFill>
          <a:ln w="9525">
            <a:solidFill>
              <a:srgbClr val="CBD5E1"/>
            </a:solidFill>
          </a:ln>
        </p:spPr>
      </p:sp>
      <p:grpSp>
        <p:nvGrpSpPr>
          <p:cNvPr id="49" name="Group 49"/>
          <p:cNvGrpSpPr/>
          <p:nvPr/>
        </p:nvGrpSpPr>
        <p:grpSpPr>
          <a:xfrm>
            <a:off x="9744075" y="1952625"/>
            <a:ext cx="276225" cy="276225"/>
            <a:chOff x="9744075" y="1952625"/>
            <a:chExt cx="276225" cy="276225"/>
          </a:xfrm>
        </p:grpSpPr>
        <p:sp>
          <p:nvSpPr>
            <p:cNvPr id="38" name="Freeform 38"/>
            <p:cNvSpPr/>
            <p:nvPr/>
          </p:nvSpPr>
          <p:spPr>
            <a:xfrm>
              <a:off x="10010775" y="1952625"/>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39" name="Freeform 39"/>
            <p:cNvSpPr/>
            <p:nvPr/>
          </p:nvSpPr>
          <p:spPr>
            <a:xfrm>
              <a:off x="10010775" y="2219325"/>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0" name="Freeform 40"/>
            <p:cNvSpPr/>
            <p:nvPr/>
          </p:nvSpPr>
          <p:spPr>
            <a:xfrm>
              <a:off x="10010775" y="2152650"/>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1" name="Freeform 41"/>
            <p:cNvSpPr/>
            <p:nvPr/>
          </p:nvSpPr>
          <p:spPr>
            <a:xfrm>
              <a:off x="10010775" y="2085975"/>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2" name="Freeform 42"/>
            <p:cNvSpPr/>
            <p:nvPr/>
          </p:nvSpPr>
          <p:spPr>
            <a:xfrm>
              <a:off x="10010775" y="2019300"/>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3" name="Freeform 43"/>
            <p:cNvSpPr/>
            <p:nvPr/>
          </p:nvSpPr>
          <p:spPr>
            <a:xfrm>
              <a:off x="9810750" y="1952625"/>
              <a:ext cx="133350" cy="266700"/>
            </a:xfrm>
            <a:custGeom>
              <a:avLst/>
              <a:gdLst/>
              <a:ahLst/>
              <a:cxnLst/>
              <a:rect l="l" t="t" r="r" b="b"/>
              <a:pathLst>
                <a:path w="133350" h="266700">
                  <a:moveTo>
                    <a:pt x="0" y="16669"/>
                  </a:moveTo>
                  <a:cubicBezTo>
                    <a:pt x="0" y="7463"/>
                    <a:pt x="7463" y="0"/>
                    <a:pt x="16669" y="0"/>
                  </a:cubicBezTo>
                  <a:lnTo>
                    <a:pt x="116681" y="0"/>
                  </a:lnTo>
                  <a:cubicBezTo>
                    <a:pt x="125887" y="0"/>
                    <a:pt x="133350" y="7463"/>
                    <a:pt x="133350" y="16669"/>
                  </a:cubicBezTo>
                  <a:lnTo>
                    <a:pt x="133350" y="250031"/>
                  </a:lnTo>
                  <a:cubicBezTo>
                    <a:pt x="133350" y="259237"/>
                    <a:pt x="125887" y="266700"/>
                    <a:pt x="116681" y="266700"/>
                  </a:cubicBezTo>
                  <a:lnTo>
                    <a:pt x="16669" y="266700"/>
                  </a:lnTo>
                  <a:cubicBezTo>
                    <a:pt x="7463" y="266700"/>
                    <a:pt x="0" y="259237"/>
                    <a:pt x="0" y="250031"/>
                  </a:cubicBezTo>
                  <a:lnTo>
                    <a:pt x="0" y="16669"/>
                  </a:lnTo>
                </a:path>
              </a:pathLst>
            </a:custGeom>
            <a:noFill/>
            <a:ln w="19050">
              <a:solidFill>
                <a:srgbClr val="0F172A"/>
              </a:solidFill>
            </a:ln>
          </p:spPr>
        </p:sp>
        <p:sp>
          <p:nvSpPr>
            <p:cNvPr id="44" name="Freeform 44"/>
            <p:cNvSpPr/>
            <p:nvPr/>
          </p:nvSpPr>
          <p:spPr>
            <a:xfrm>
              <a:off x="9744075" y="1952625"/>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5" name="Freeform 45"/>
            <p:cNvSpPr/>
            <p:nvPr/>
          </p:nvSpPr>
          <p:spPr>
            <a:xfrm>
              <a:off x="9744075" y="2219325"/>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6" name="Freeform 46"/>
            <p:cNvSpPr/>
            <p:nvPr/>
          </p:nvSpPr>
          <p:spPr>
            <a:xfrm>
              <a:off x="9744075" y="2152650"/>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7" name="Freeform 47"/>
            <p:cNvSpPr/>
            <p:nvPr/>
          </p:nvSpPr>
          <p:spPr>
            <a:xfrm>
              <a:off x="9744075" y="2085975"/>
              <a:ext cx="9525" cy="9525"/>
            </a:xfrm>
            <a:custGeom>
              <a:avLst/>
              <a:gdLst/>
              <a:ahLst/>
              <a:cxnLst/>
              <a:rect l="l" t="t" r="r" b="b"/>
              <a:pathLst>
                <a:path w="9525" h="9525">
                  <a:moveTo>
                    <a:pt x="0" y="0"/>
                  </a:moveTo>
                  <a:lnTo>
                    <a:pt x="0" y="167"/>
                  </a:lnTo>
                </a:path>
              </a:pathLst>
            </a:custGeom>
            <a:noFill/>
            <a:ln w="19050">
              <a:solidFill>
                <a:srgbClr val="0F172A"/>
              </a:solidFill>
            </a:ln>
          </p:spPr>
        </p:sp>
        <p:sp>
          <p:nvSpPr>
            <p:cNvPr id="48" name="Freeform 48"/>
            <p:cNvSpPr/>
            <p:nvPr/>
          </p:nvSpPr>
          <p:spPr>
            <a:xfrm>
              <a:off x="9744075" y="2019300"/>
              <a:ext cx="9525" cy="9525"/>
            </a:xfrm>
            <a:custGeom>
              <a:avLst/>
              <a:gdLst/>
              <a:ahLst/>
              <a:cxnLst/>
              <a:rect l="l" t="t" r="r" b="b"/>
              <a:pathLst>
                <a:path w="9525" h="9525">
                  <a:moveTo>
                    <a:pt x="0" y="0"/>
                  </a:moveTo>
                  <a:lnTo>
                    <a:pt x="0" y="167"/>
                  </a:lnTo>
                </a:path>
              </a:pathLst>
            </a:custGeom>
            <a:noFill/>
            <a:ln w="19050">
              <a:solidFill>
                <a:srgbClr val="0F172A"/>
              </a:solidFill>
            </a:ln>
          </p:spPr>
        </p:sp>
      </p:grpSp>
      <p:sp>
        <p:nvSpPr>
          <p:cNvPr id="50" name="TextBox 50"/>
          <p:cNvSpPr txBox="1"/>
          <p:nvPr/>
        </p:nvSpPr>
        <p:spPr>
          <a:xfrm>
            <a:off x="9655492" y="2442686"/>
            <a:ext cx="490646"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Ops</a:t>
            </a:r>
          </a:p>
        </p:txBody>
      </p:sp>
      <p:sp>
        <p:nvSpPr>
          <p:cNvPr id="51" name="TextBox 51"/>
          <p:cNvSpPr txBox="1"/>
          <p:nvPr/>
        </p:nvSpPr>
        <p:spPr>
          <a:xfrm>
            <a:off x="9662160" y="2899410"/>
            <a:ext cx="3462909"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Theo dõi docker ps, logs và health endpoint.</a:t>
            </a:r>
          </a:p>
        </p:txBody>
      </p:sp>
      <p:sp>
        <p:nvSpPr>
          <p:cNvPr id="52" name="TextBox 52"/>
          <p:cNvSpPr txBox="1"/>
          <p:nvPr/>
        </p:nvSpPr>
        <p:spPr>
          <a:xfrm>
            <a:off x="9662160" y="3356610"/>
            <a:ext cx="2646807" cy="243840"/>
          </a:xfrm>
          <a:prstGeom prst="rect">
            <a:avLst/>
          </a:prstGeom>
          <a:noFill/>
          <a:ln>
            <a:noFill/>
          </a:ln>
        </p:spPr>
        <p:txBody>
          <a:bodyPr wrap="none" lIns="0" tIns="0" rIns="0" bIns="0" anchor="t" anchorCtr="0">
            <a:spAutoFit/>
          </a:bodyPr>
          <a:lstStyle/>
          <a:p>
            <a:pPr algn="l"/>
            <a:r>
              <a:rPr lang="zh-CN" sz="1200" dirty="0">
                <a:solidFill>
                  <a:srgbClr val="475569"/>
                </a:solidFill>
                <a:latin typeface="Arial"/>
                <a:ea typeface="Microsoft YaHei"/>
                <a:cs typeface="Arial"/>
              </a:rPr>
              <a:t>Certbot timer hỗ trợ gia hạn SSL.</a:t>
            </a:r>
          </a:p>
        </p:txBody>
      </p:sp>
      <p:sp>
        <p:nvSpPr>
          <p:cNvPr id="53" name="Rectangle 53"/>
          <p:cNvSpPr/>
          <p:nvPr/>
        </p:nvSpPr>
        <p:spPr>
          <a:xfrm>
            <a:off x="9677400" y="3867150"/>
            <a:ext cx="1371600" cy="342900"/>
          </a:xfrm>
          <a:prstGeom prst="roundRect">
            <a:avLst>
              <a:gd name="adj" fmla="val 33333"/>
            </a:avLst>
          </a:prstGeom>
          <a:solidFill>
            <a:srgbClr val="0F172A"/>
          </a:solidFill>
          <a:ln>
            <a:noFill/>
          </a:ln>
        </p:spPr>
      </p:sp>
      <p:sp>
        <p:nvSpPr>
          <p:cNvPr id="54" name="TextBox 54"/>
          <p:cNvSpPr txBox="1"/>
          <p:nvPr/>
        </p:nvSpPr>
        <p:spPr>
          <a:xfrm>
            <a:off x="9855518" y="3980974"/>
            <a:ext cx="746355" cy="198120"/>
          </a:xfrm>
          <a:prstGeom prst="rect">
            <a:avLst/>
          </a:prstGeom>
          <a:noFill/>
          <a:ln>
            <a:noFill/>
          </a:ln>
        </p:spPr>
        <p:txBody>
          <a:bodyPr wrap="none" lIns="0" tIns="0" rIns="0" bIns="0" anchor="t" anchorCtr="0">
            <a:spAutoFit/>
          </a:bodyPr>
          <a:lstStyle/>
          <a:p>
            <a:pPr algn="l"/>
            <a:r>
              <a:rPr lang="zh-CN" sz="975" dirty="0">
                <a:solidFill>
                  <a:srgbClr val="FFFFFF"/>
                </a:solidFill>
                <a:latin typeface="Consolas"/>
                <a:ea typeface="Microsoft YaHei"/>
                <a:cs typeface="Consolas"/>
              </a:rPr>
              <a:t>/api/health</a:t>
            </a:r>
          </a:p>
        </p:txBody>
      </p:sp>
      <p:sp>
        <p:nvSpPr>
          <p:cNvPr id="55" name="Rectangle 55"/>
          <p:cNvSpPr/>
          <p:nvPr/>
        </p:nvSpPr>
        <p:spPr>
          <a:xfrm>
            <a:off x="838200" y="5029200"/>
            <a:ext cx="10458450" cy="876300"/>
          </a:xfrm>
          <a:prstGeom prst="roundRect">
            <a:avLst>
              <a:gd name="adj" fmla="val 26087"/>
            </a:avLst>
          </a:prstGeom>
          <a:solidFill>
            <a:srgbClr val="0F172A"/>
          </a:solidFill>
          <a:ln>
            <a:noFill/>
          </a:ln>
        </p:spPr>
      </p:sp>
      <p:sp>
        <p:nvSpPr>
          <p:cNvPr id="56" name="TextBox 56"/>
          <p:cNvSpPr txBox="1"/>
          <p:nvPr/>
        </p:nvSpPr>
        <p:spPr>
          <a:xfrm>
            <a:off x="1200150" y="5229225"/>
            <a:ext cx="463767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Các điểm nên nâng cấp nếu đưa vào production</a:t>
            </a:r>
          </a:p>
        </p:txBody>
      </p:sp>
      <p:sp>
        <p:nvSpPr>
          <p:cNvPr id="57" name="TextBox 57"/>
          <p:cNvSpPr txBox="1"/>
          <p:nvPr/>
        </p:nvSpPr>
        <p:spPr>
          <a:xfrm>
            <a:off x="1203960" y="5585460"/>
            <a:ext cx="8167497"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Giới hạn SSH theo IP, dùng Secrets Manager, backup tự động, monitoring, WAF hoặc rate limit ở gateway.</a:t>
            </a:r>
          </a:p>
        </p:txBody>
      </p:sp>
      <p:sp>
        <p:nvSpPr>
          <p:cNvPr id="58" name="TextBox 58"/>
          <p:cNvSpPr txBox="1"/>
          <p:nvPr/>
        </p:nvSpPr>
        <p:spPr>
          <a:xfrm>
            <a:off x="521970" y="6475095"/>
            <a:ext cx="1685068"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14 · Security and Operations</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pic>
        <p:nvPicPr>
          <p:cNvPr id="3" name="Image 3"/>
          <p:cNvPicPr>
            <a:picLocks noChangeAspect="1"/>
          </p:cNvPicPr>
          <p:nvPr/>
        </p:nvPicPr>
        <p:blipFill>
          <a:blip r:embed="rId2"/>
          <a:srcRect l="27723" t="0" r="27723" b="0"/>
          <a:stretch>
            <a:fillRect/>
          </a:stretch>
        </p:blipFill>
        <p:spPr>
          <a:xfrm>
            <a:off x="6762750" y="0"/>
            <a:ext cx="5429250" cy="6858000"/>
          </a:xfrm>
          <a:prstGeom prst="rect">
            <a:avLst/>
          </a:prstGeom>
        </p:spPr>
      </p:pic>
      <p:sp>
        <p:nvSpPr>
          <p:cNvPr id="4" name="Rectangle 4"/>
          <p:cNvSpPr/>
          <p:nvPr/>
        </p:nvSpPr>
        <p:spPr>
          <a:xfrm>
            <a:off x="6191250" y="0"/>
            <a:ext cx="6000750" cy="6858000"/>
          </a:xfrm>
          <a:prstGeom prst="rect">
            <a:avLst/>
          </a:prstGeom>
          <a:solidFill>
            <a:srgbClr val="0F172A">
              <a:alpha val="57999"/>
            </a:srgbClr>
          </a:solidFill>
          <a:ln>
            <a:noFill/>
          </a:ln>
        </p:spPr>
      </p:sp>
      <p:sp>
        <p:nvSpPr>
          <p:cNvPr id="5" name="TextBox 5"/>
          <p:cNvSpPr txBox="1"/>
          <p:nvPr/>
        </p:nvSpPr>
        <p:spPr>
          <a:xfrm>
            <a:off x="565785" y="484822"/>
            <a:ext cx="3976266" cy="701040"/>
          </a:xfrm>
          <a:prstGeom prst="rect">
            <a:avLst/>
          </a:prstGeom>
          <a:noFill/>
          <a:ln>
            <a:noFill/>
          </a:ln>
        </p:spPr>
        <p:txBody>
          <a:bodyPr wrap="none" lIns="0" tIns="0" rIns="0" bIns="0" anchor="t" anchorCtr="0">
            <a:spAutoFit/>
          </a:bodyPr>
          <a:lstStyle/>
          <a:p>
            <a:pPr algn="l"/>
            <a:r>
              <a:rPr lang="zh-CN" sz="3450" b="1" dirty="0">
                <a:solidFill>
                  <a:srgbClr val="FFFFFF"/>
                </a:solidFill>
                <a:latin typeface="Arial"/>
                <a:ea typeface="Microsoft YaHei"/>
                <a:cs typeface="Arial"/>
              </a:rPr>
              <a:t>Kết quả đạt được</a:t>
            </a:r>
          </a:p>
        </p:txBody>
      </p:sp>
      <p:sp>
        <p:nvSpPr>
          <p:cNvPr id="6" name="TextBox 6"/>
          <p:cNvSpPr txBox="1"/>
          <p:nvPr/>
        </p:nvSpPr>
        <p:spPr>
          <a:xfrm>
            <a:off x="611505" y="1111568"/>
            <a:ext cx="8468344" cy="274320"/>
          </a:xfrm>
          <a:prstGeom prst="rect">
            <a:avLst/>
          </a:prstGeom>
          <a:noFill/>
          <a:ln>
            <a:noFill/>
          </a:ln>
        </p:spPr>
        <p:txBody>
          <a:bodyPr wrap="none" lIns="0" tIns="0" rIns="0" bIns="0" anchor="t" anchorCtr="0">
            <a:spAutoFit/>
          </a:bodyPr>
          <a:lstStyle/>
          <a:p>
            <a:pPr algn="l"/>
            <a:r>
              <a:rPr lang="zh-CN" sz="1350" dirty="0">
                <a:solidFill>
                  <a:srgbClr val="CBD5E1"/>
                </a:solidFill>
                <a:latin typeface="Arial"/>
                <a:ea typeface="Microsoft YaHei"/>
                <a:cs typeface="Arial"/>
              </a:rPr>
              <a:t>SmartNoteCloud đã chạy công khai, có dữ liệu thật và chứng minh được các mô hình dịch vụ cloud.</a:t>
            </a:r>
          </a:p>
        </p:txBody>
      </p:sp>
      <p:sp>
        <p:nvSpPr>
          <p:cNvPr id="7" name="Rectangle 7"/>
          <p:cNvSpPr/>
          <p:nvPr/>
        </p:nvSpPr>
        <p:spPr>
          <a:xfrm>
            <a:off x="704850" y="1809750"/>
            <a:ext cx="2381250" cy="1181100"/>
          </a:xfrm>
          <a:prstGeom prst="roundRect">
            <a:avLst>
              <a:gd name="adj" fmla="val 19355"/>
            </a:avLst>
          </a:prstGeom>
          <a:solidFill>
            <a:srgbClr val="FFFFFF">
              <a:alpha val="10000"/>
            </a:srgbClr>
          </a:solidFill>
          <a:ln w="9525">
            <a:solidFill>
              <a:srgbClr val="CBD5E1"/>
            </a:solidFill>
          </a:ln>
        </p:spPr>
      </p:sp>
      <p:grpSp>
        <p:nvGrpSpPr>
          <p:cNvPr id="13" name="Group 13"/>
          <p:cNvGrpSpPr/>
          <p:nvPr/>
        </p:nvGrpSpPr>
        <p:grpSpPr>
          <a:xfrm>
            <a:off x="1033462" y="2119312"/>
            <a:ext cx="257175" cy="257175"/>
            <a:chOff x="1033462" y="2119312"/>
            <a:chExt cx="257175" cy="257175"/>
          </a:xfrm>
        </p:grpSpPr>
        <p:sp>
          <p:nvSpPr>
            <p:cNvPr id="8" name="Freeform 8"/>
            <p:cNvSpPr/>
            <p:nvPr/>
          </p:nvSpPr>
          <p:spPr>
            <a:xfrm>
              <a:off x="1033462" y="211931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0A676"/>
              </a:solidFill>
            </a:ln>
          </p:spPr>
        </p:sp>
        <p:sp>
          <p:nvSpPr>
            <p:cNvPr id="9" name="Freeform 9"/>
            <p:cNvSpPr/>
            <p:nvPr/>
          </p:nvSpPr>
          <p:spPr>
            <a:xfrm>
              <a:off x="1042035" y="2205038"/>
              <a:ext cx="240030" cy="9525"/>
            </a:xfrm>
            <a:custGeom>
              <a:avLst/>
              <a:gdLst/>
              <a:ahLst/>
              <a:cxnLst/>
              <a:rect l="l" t="t" r="r" b="b"/>
              <a:pathLst>
                <a:path w="240030" h="9525">
                  <a:moveTo>
                    <a:pt x="0" y="0"/>
                  </a:moveTo>
                  <a:lnTo>
                    <a:pt x="240030" y="0"/>
                  </a:lnTo>
                </a:path>
              </a:pathLst>
            </a:custGeom>
            <a:noFill/>
            <a:ln w="19050">
              <a:solidFill>
                <a:srgbClr val="00A676"/>
              </a:solidFill>
            </a:ln>
          </p:spPr>
        </p:sp>
        <p:sp>
          <p:nvSpPr>
            <p:cNvPr id="10" name="Freeform 10"/>
            <p:cNvSpPr/>
            <p:nvPr/>
          </p:nvSpPr>
          <p:spPr>
            <a:xfrm>
              <a:off x="1042035" y="2290762"/>
              <a:ext cx="240030" cy="9525"/>
            </a:xfrm>
            <a:custGeom>
              <a:avLst/>
              <a:gdLst/>
              <a:ahLst/>
              <a:cxnLst/>
              <a:rect l="l" t="t" r="r" b="b"/>
              <a:pathLst>
                <a:path w="240030" h="9525">
                  <a:moveTo>
                    <a:pt x="0" y="0"/>
                  </a:moveTo>
                  <a:lnTo>
                    <a:pt x="240030" y="0"/>
                  </a:lnTo>
                </a:path>
              </a:pathLst>
            </a:custGeom>
            <a:noFill/>
            <a:ln w="19050">
              <a:solidFill>
                <a:srgbClr val="00A676"/>
              </a:solidFill>
            </a:ln>
          </p:spPr>
        </p:sp>
        <p:sp>
          <p:nvSpPr>
            <p:cNvPr id="11" name="Freeform 11"/>
            <p:cNvSpPr/>
            <p:nvPr/>
          </p:nvSpPr>
          <p:spPr>
            <a:xfrm>
              <a:off x="1105799" y="2119312"/>
              <a:ext cx="49107" cy="257175"/>
            </a:xfrm>
            <a:custGeom>
              <a:avLst/>
              <a:gdLst/>
              <a:ahLst/>
              <a:cxnLst/>
              <a:rect l="l" t="t" r="r" b="b"/>
              <a:pathLst>
                <a:path w="49107" h="257175">
                  <a:moveTo>
                    <a:pt x="49107" y="0"/>
                  </a:moveTo>
                  <a:cubicBezTo>
                    <a:pt x="0" y="78692"/>
                    <a:pt x="0" y="178483"/>
                    <a:pt x="49107" y="257175"/>
                  </a:cubicBezTo>
                </a:path>
              </a:pathLst>
            </a:custGeom>
            <a:noFill/>
            <a:ln w="19050">
              <a:solidFill>
                <a:srgbClr val="00A676"/>
              </a:solidFill>
            </a:ln>
          </p:spPr>
        </p:sp>
        <p:sp>
          <p:nvSpPr>
            <p:cNvPr id="12" name="Freeform 12"/>
            <p:cNvSpPr/>
            <p:nvPr/>
          </p:nvSpPr>
          <p:spPr>
            <a:xfrm>
              <a:off x="1169194" y="2119312"/>
              <a:ext cx="49107" cy="257175"/>
            </a:xfrm>
            <a:custGeom>
              <a:avLst/>
              <a:gdLst/>
              <a:ahLst/>
              <a:cxnLst/>
              <a:rect l="l" t="t" r="r" b="b"/>
              <a:pathLst>
                <a:path w="49107" h="257175">
                  <a:moveTo>
                    <a:pt x="0" y="0"/>
                  </a:moveTo>
                  <a:cubicBezTo>
                    <a:pt x="49107" y="78692"/>
                    <a:pt x="49107" y="178483"/>
                    <a:pt x="0" y="257175"/>
                  </a:cubicBezTo>
                </a:path>
              </a:pathLst>
            </a:custGeom>
            <a:noFill/>
            <a:ln w="19050">
              <a:solidFill>
                <a:srgbClr val="00A676"/>
              </a:solidFill>
            </a:ln>
          </p:spPr>
        </p:sp>
      </p:grpSp>
      <p:sp>
        <p:nvSpPr>
          <p:cNvPr id="14" name="TextBox 14"/>
          <p:cNvSpPr txBox="1"/>
          <p:nvPr/>
        </p:nvSpPr>
        <p:spPr>
          <a:xfrm>
            <a:off x="1449705" y="2197418"/>
            <a:ext cx="1225139"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Domain HTTPS</a:t>
            </a:r>
          </a:p>
        </p:txBody>
      </p:sp>
      <p:sp>
        <p:nvSpPr>
          <p:cNvPr id="15" name="TextBox 15"/>
          <p:cNvSpPr txBox="1"/>
          <p:nvPr/>
        </p:nvSpPr>
        <p:spPr>
          <a:xfrm>
            <a:off x="977265" y="2610802"/>
            <a:ext cx="126582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Consolas"/>
                <a:ea typeface="Microsoft YaHei"/>
                <a:cs typeface="Consolas"/>
              </a:rPr>
              <a:t>pkiresearch.id.vn</a:t>
            </a:r>
          </a:p>
        </p:txBody>
      </p:sp>
      <p:sp>
        <p:nvSpPr>
          <p:cNvPr id="16" name="Rectangle 16"/>
          <p:cNvSpPr/>
          <p:nvPr/>
        </p:nvSpPr>
        <p:spPr>
          <a:xfrm>
            <a:off x="3371850" y="1809750"/>
            <a:ext cx="2381250" cy="1181100"/>
          </a:xfrm>
          <a:prstGeom prst="roundRect">
            <a:avLst>
              <a:gd name="adj" fmla="val 19355"/>
            </a:avLst>
          </a:prstGeom>
          <a:solidFill>
            <a:srgbClr val="FFFFFF">
              <a:alpha val="10000"/>
            </a:srgbClr>
          </a:solidFill>
          <a:ln w="9525">
            <a:solidFill>
              <a:srgbClr val="CBD5E1"/>
            </a:solidFill>
          </a:ln>
        </p:spPr>
      </p:sp>
      <p:grpSp>
        <p:nvGrpSpPr>
          <p:cNvPr id="26" name="Group 26"/>
          <p:cNvGrpSpPr/>
          <p:nvPr/>
        </p:nvGrpSpPr>
        <p:grpSpPr>
          <a:xfrm>
            <a:off x="3700462" y="2133600"/>
            <a:ext cx="271462" cy="228914"/>
            <a:chOff x="3700462" y="2133600"/>
            <a:chExt cx="271462" cy="228914"/>
          </a:xfrm>
        </p:grpSpPr>
        <p:sp>
          <p:nvSpPr>
            <p:cNvPr id="17" name="Freeform 17"/>
            <p:cNvSpPr/>
            <p:nvPr/>
          </p:nvSpPr>
          <p:spPr>
            <a:xfrm>
              <a:off x="3700462" y="2213610"/>
              <a:ext cx="271462" cy="148904"/>
            </a:xfrm>
            <a:custGeom>
              <a:avLst/>
              <a:gdLst/>
              <a:ahLst/>
              <a:cxnLst/>
              <a:rect l="l" t="t" r="r" b="b"/>
              <a:pathLst>
                <a:path w="271462" h="148904">
                  <a:moveTo>
                    <a:pt x="271462" y="42005"/>
                  </a:moveTo>
                  <a:cubicBezTo>
                    <a:pt x="245688" y="37076"/>
                    <a:pt x="232872" y="26575"/>
                    <a:pt x="221128" y="0"/>
                  </a:cubicBezTo>
                  <a:cubicBezTo>
                    <a:pt x="214170" y="9944"/>
                    <a:pt x="205383" y="22403"/>
                    <a:pt x="207983" y="34290"/>
                  </a:cubicBezTo>
                  <a:cubicBezTo>
                    <a:pt x="208383" y="37690"/>
                    <a:pt x="203411" y="48577"/>
                    <a:pt x="200025" y="48577"/>
                  </a:cubicBezTo>
                  <a:lnTo>
                    <a:pt x="0" y="48577"/>
                  </a:lnTo>
                  <a:cubicBezTo>
                    <a:pt x="0" y="122987"/>
                    <a:pt x="45206" y="148590"/>
                    <a:pt x="88525" y="148590"/>
                  </a:cubicBezTo>
                  <a:cubicBezTo>
                    <a:pt x="147447" y="148904"/>
                    <a:pt x="200368" y="128930"/>
                    <a:pt x="229314" y="77152"/>
                  </a:cubicBezTo>
                  <a:cubicBezTo>
                    <a:pt x="245688" y="75709"/>
                    <a:pt x="262118" y="55650"/>
                    <a:pt x="271462" y="42005"/>
                  </a:cubicBezTo>
                </a:path>
              </a:pathLst>
            </a:custGeom>
            <a:noFill/>
            <a:ln w="19050">
              <a:solidFill>
                <a:srgbClr val="00A676"/>
              </a:solidFill>
            </a:ln>
          </p:spPr>
        </p:sp>
        <p:sp>
          <p:nvSpPr>
            <p:cNvPr id="18" name="Freeform 18"/>
            <p:cNvSpPr/>
            <p:nvPr/>
          </p:nvSpPr>
          <p:spPr>
            <a:xfrm>
              <a:off x="3729038" y="2219325"/>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00A676"/>
              </a:solidFill>
            </a:ln>
          </p:spPr>
        </p:sp>
        <p:sp>
          <p:nvSpPr>
            <p:cNvPr id="19" name="Freeform 19"/>
            <p:cNvSpPr/>
            <p:nvPr/>
          </p:nvSpPr>
          <p:spPr>
            <a:xfrm>
              <a:off x="3771900" y="2219325"/>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00A676"/>
              </a:solidFill>
            </a:ln>
          </p:spPr>
        </p:sp>
        <p:sp>
          <p:nvSpPr>
            <p:cNvPr id="20" name="Freeform 20"/>
            <p:cNvSpPr/>
            <p:nvPr/>
          </p:nvSpPr>
          <p:spPr>
            <a:xfrm>
              <a:off x="3814762" y="2219325"/>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00A676"/>
              </a:solidFill>
            </a:ln>
          </p:spPr>
        </p:sp>
        <p:sp>
          <p:nvSpPr>
            <p:cNvPr id="21" name="Freeform 21"/>
            <p:cNvSpPr/>
            <p:nvPr/>
          </p:nvSpPr>
          <p:spPr>
            <a:xfrm>
              <a:off x="3771900" y="2176462"/>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00A676"/>
              </a:solidFill>
            </a:ln>
          </p:spPr>
        </p:sp>
        <p:sp>
          <p:nvSpPr>
            <p:cNvPr id="22" name="Freeform 22"/>
            <p:cNvSpPr/>
            <p:nvPr/>
          </p:nvSpPr>
          <p:spPr>
            <a:xfrm>
              <a:off x="3814762" y="2176462"/>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00A676"/>
              </a:solidFill>
            </a:ln>
          </p:spPr>
        </p:sp>
        <p:sp>
          <p:nvSpPr>
            <p:cNvPr id="23" name="Freeform 23"/>
            <p:cNvSpPr/>
            <p:nvPr/>
          </p:nvSpPr>
          <p:spPr>
            <a:xfrm>
              <a:off x="3814762" y="2133600"/>
              <a:ext cx="42862" cy="42862"/>
            </a:xfrm>
            <a:custGeom>
              <a:avLst/>
              <a:gdLst/>
              <a:ahLst/>
              <a:cxnLst/>
              <a:rect l="l" t="t" r="r" b="b"/>
              <a:pathLst>
                <a:path w="42862" h="42862">
                  <a:moveTo>
                    <a:pt x="0" y="0"/>
                  </a:moveTo>
                  <a:lnTo>
                    <a:pt x="42862" y="0"/>
                  </a:lnTo>
                  <a:lnTo>
                    <a:pt x="42862" y="42862"/>
                  </a:lnTo>
                  <a:lnTo>
                    <a:pt x="0" y="42862"/>
                  </a:lnTo>
                  <a:lnTo>
                    <a:pt x="0" y="0"/>
                  </a:lnTo>
                </a:path>
              </a:pathLst>
            </a:custGeom>
            <a:noFill/>
            <a:ln w="19050">
              <a:solidFill>
                <a:srgbClr val="00A676"/>
              </a:solidFill>
            </a:ln>
          </p:spPr>
        </p:sp>
        <p:sp>
          <p:nvSpPr>
            <p:cNvPr id="24" name="Freeform 24"/>
            <p:cNvSpPr/>
            <p:nvPr/>
          </p:nvSpPr>
          <p:spPr>
            <a:xfrm>
              <a:off x="3722908" y="2322481"/>
              <a:ext cx="42262" cy="11144"/>
            </a:xfrm>
            <a:custGeom>
              <a:avLst/>
              <a:gdLst/>
              <a:ahLst/>
              <a:cxnLst/>
              <a:rect l="l" t="t" r="r" b="b"/>
              <a:pathLst>
                <a:path w="42262" h="11144">
                  <a:moveTo>
                    <a:pt x="0" y="11144"/>
                  </a:moveTo>
                  <a:cubicBezTo>
                    <a:pt x="21431" y="11144"/>
                    <a:pt x="29247" y="10087"/>
                    <a:pt x="42262" y="0"/>
                  </a:cubicBezTo>
                </a:path>
              </a:pathLst>
            </a:custGeom>
            <a:noFill/>
            <a:ln w="19050">
              <a:solidFill>
                <a:srgbClr val="00A676"/>
              </a:solidFill>
            </a:ln>
          </p:spPr>
        </p:sp>
        <p:sp>
          <p:nvSpPr>
            <p:cNvPr id="25" name="Freeform 25"/>
            <p:cNvSpPr/>
            <p:nvPr/>
          </p:nvSpPr>
          <p:spPr>
            <a:xfrm>
              <a:off x="3800475" y="2305050"/>
              <a:ext cx="9525" cy="9525"/>
            </a:xfrm>
            <a:custGeom>
              <a:avLst/>
              <a:gdLst/>
              <a:ahLst/>
              <a:cxnLst/>
              <a:rect l="l" t="t" r="r" b="b"/>
              <a:pathLst>
                <a:path w="9525" h="9525">
                  <a:moveTo>
                    <a:pt x="0" y="0"/>
                  </a:moveTo>
                  <a:lnTo>
                    <a:pt x="0" y="143"/>
                  </a:lnTo>
                </a:path>
              </a:pathLst>
            </a:custGeom>
            <a:noFill/>
            <a:ln w="19050">
              <a:solidFill>
                <a:srgbClr val="00A676"/>
              </a:solidFill>
            </a:ln>
          </p:spPr>
        </p:sp>
      </p:grpSp>
      <p:sp>
        <p:nvSpPr>
          <p:cNvPr id="27" name="TextBox 27"/>
          <p:cNvSpPr txBox="1"/>
          <p:nvPr/>
        </p:nvSpPr>
        <p:spPr>
          <a:xfrm>
            <a:off x="4116705" y="2197418"/>
            <a:ext cx="134800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4 container Up</a:t>
            </a:r>
          </a:p>
        </p:txBody>
      </p:sp>
      <p:sp>
        <p:nvSpPr>
          <p:cNvPr id="28" name="TextBox 28"/>
          <p:cNvSpPr txBox="1"/>
          <p:nvPr/>
        </p:nvSpPr>
        <p:spPr>
          <a:xfrm>
            <a:off x="3644265" y="2610802"/>
            <a:ext cx="1321832"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Consolas"/>
                <a:ea typeface="Microsoft YaHei"/>
                <a:cs typeface="Consolas"/>
              </a:rPr>
              <a:t>nginx / fe / be / db</a:t>
            </a:r>
          </a:p>
        </p:txBody>
      </p:sp>
      <p:sp>
        <p:nvSpPr>
          <p:cNvPr id="29" name="Rectangle 29"/>
          <p:cNvSpPr/>
          <p:nvPr/>
        </p:nvSpPr>
        <p:spPr>
          <a:xfrm>
            <a:off x="704850" y="3276600"/>
            <a:ext cx="2381250" cy="1181100"/>
          </a:xfrm>
          <a:prstGeom prst="roundRect">
            <a:avLst>
              <a:gd name="adj" fmla="val 19355"/>
            </a:avLst>
          </a:prstGeom>
          <a:solidFill>
            <a:srgbClr val="FFFFFF">
              <a:alpha val="10000"/>
            </a:srgbClr>
          </a:solidFill>
          <a:ln w="9525">
            <a:solidFill>
              <a:srgbClr val="CBD5E1"/>
            </a:solidFill>
          </a:ln>
        </p:spPr>
      </p:sp>
      <p:grpSp>
        <p:nvGrpSpPr>
          <p:cNvPr id="33" name="Group 33"/>
          <p:cNvGrpSpPr/>
          <p:nvPr/>
        </p:nvGrpSpPr>
        <p:grpSpPr>
          <a:xfrm>
            <a:off x="1047750" y="3586162"/>
            <a:ext cx="228600" cy="257176"/>
            <a:chOff x="1047750" y="3586162"/>
            <a:chExt cx="228600" cy="257176"/>
          </a:xfrm>
        </p:grpSpPr>
        <p:sp>
          <p:nvSpPr>
            <p:cNvPr id="30" name="Freeform 30"/>
            <p:cNvSpPr/>
            <p:nvPr/>
          </p:nvSpPr>
          <p:spPr>
            <a:xfrm>
              <a:off x="1047750" y="35861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00A676"/>
              </a:solidFill>
            </a:ln>
          </p:spPr>
        </p:sp>
        <p:sp>
          <p:nvSpPr>
            <p:cNvPr id="31" name="Freeform 31"/>
            <p:cNvSpPr/>
            <p:nvPr/>
          </p:nvSpPr>
          <p:spPr>
            <a:xfrm>
              <a:off x="1047750" y="36290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00A676"/>
              </a:solidFill>
            </a:ln>
          </p:spPr>
        </p:sp>
        <p:sp>
          <p:nvSpPr>
            <p:cNvPr id="32" name="Freeform 32"/>
            <p:cNvSpPr/>
            <p:nvPr/>
          </p:nvSpPr>
          <p:spPr>
            <a:xfrm>
              <a:off x="1047750" y="37147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00A676"/>
              </a:solidFill>
            </a:ln>
          </p:spPr>
        </p:sp>
      </p:grpSp>
      <p:sp>
        <p:nvSpPr>
          <p:cNvPr id="34" name="TextBox 34"/>
          <p:cNvSpPr txBox="1"/>
          <p:nvPr/>
        </p:nvSpPr>
        <p:spPr>
          <a:xfrm>
            <a:off x="1449705" y="3664268"/>
            <a:ext cx="177330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Database có dữ liệu</a:t>
            </a:r>
          </a:p>
        </p:txBody>
      </p:sp>
      <p:sp>
        <p:nvSpPr>
          <p:cNvPr id="35" name="TextBox 35"/>
          <p:cNvSpPr txBox="1"/>
          <p:nvPr/>
        </p:nvSpPr>
        <p:spPr>
          <a:xfrm>
            <a:off x="977265" y="4077652"/>
            <a:ext cx="141984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Consolas"/>
                <a:ea typeface="Microsoft YaHei"/>
                <a:cs typeface="Consolas"/>
              </a:rPr>
              <a:t>users, notes, cards</a:t>
            </a:r>
          </a:p>
        </p:txBody>
      </p:sp>
      <p:sp>
        <p:nvSpPr>
          <p:cNvPr id="36" name="Rectangle 36"/>
          <p:cNvSpPr/>
          <p:nvPr/>
        </p:nvSpPr>
        <p:spPr>
          <a:xfrm>
            <a:off x="3371850" y="3276600"/>
            <a:ext cx="2381250" cy="1181100"/>
          </a:xfrm>
          <a:prstGeom prst="roundRect">
            <a:avLst>
              <a:gd name="adj" fmla="val 19355"/>
            </a:avLst>
          </a:prstGeom>
          <a:solidFill>
            <a:srgbClr val="FFFFFF">
              <a:alpha val="10000"/>
            </a:srgbClr>
          </a:solidFill>
          <a:ln w="9525">
            <a:solidFill>
              <a:srgbClr val="CBD5E1"/>
            </a:solidFill>
          </a:ln>
        </p:spPr>
      </p:sp>
      <p:grpSp>
        <p:nvGrpSpPr>
          <p:cNvPr id="41" name="Group 41"/>
          <p:cNvGrpSpPr/>
          <p:nvPr/>
        </p:nvGrpSpPr>
        <p:grpSpPr>
          <a:xfrm>
            <a:off x="3714750" y="3657600"/>
            <a:ext cx="238125" cy="114300"/>
            <a:chOff x="3714750" y="3657600"/>
            <a:chExt cx="238125" cy="114300"/>
          </a:xfrm>
        </p:grpSpPr>
        <p:sp>
          <p:nvSpPr>
            <p:cNvPr id="37" name="Freeform 37"/>
            <p:cNvSpPr/>
            <p:nvPr/>
          </p:nvSpPr>
          <p:spPr>
            <a:xfrm>
              <a:off x="3714750" y="3729038"/>
              <a:ext cx="71438" cy="9525"/>
            </a:xfrm>
            <a:custGeom>
              <a:avLst/>
              <a:gdLst/>
              <a:ahLst/>
              <a:cxnLst/>
              <a:rect l="l" t="t" r="r" b="b"/>
              <a:pathLst>
                <a:path w="71438" h="9525">
                  <a:moveTo>
                    <a:pt x="0" y="0"/>
                  </a:moveTo>
                  <a:lnTo>
                    <a:pt x="71438" y="0"/>
                  </a:lnTo>
                </a:path>
              </a:pathLst>
            </a:custGeom>
            <a:noFill/>
            <a:ln w="19050">
              <a:solidFill>
                <a:srgbClr val="00A676"/>
              </a:solidFill>
            </a:ln>
          </p:spPr>
        </p:sp>
        <p:sp>
          <p:nvSpPr>
            <p:cNvPr id="38" name="Freeform 38"/>
            <p:cNvSpPr/>
            <p:nvPr/>
          </p:nvSpPr>
          <p:spPr>
            <a:xfrm>
              <a:off x="3829050" y="3657600"/>
              <a:ext cx="71438" cy="114300"/>
            </a:xfrm>
            <a:custGeom>
              <a:avLst/>
              <a:gdLst/>
              <a:ahLst/>
              <a:cxnLst/>
              <a:rect l="l" t="t" r="r" b="b"/>
              <a:pathLst>
                <a:path w="71438" h="114300">
                  <a:moveTo>
                    <a:pt x="0" y="114300"/>
                  </a:moveTo>
                  <a:lnTo>
                    <a:pt x="0" y="0"/>
                  </a:lnTo>
                  <a:lnTo>
                    <a:pt x="42862" y="0"/>
                  </a:lnTo>
                  <a:cubicBezTo>
                    <a:pt x="58644" y="0"/>
                    <a:pt x="71438" y="12793"/>
                    <a:pt x="71438" y="28575"/>
                  </a:cubicBezTo>
                  <a:lnTo>
                    <a:pt x="71438" y="42862"/>
                  </a:lnTo>
                  <a:cubicBezTo>
                    <a:pt x="71438" y="58644"/>
                    <a:pt x="58644" y="71438"/>
                    <a:pt x="42862" y="71438"/>
                  </a:cubicBezTo>
                  <a:lnTo>
                    <a:pt x="0" y="71438"/>
                  </a:lnTo>
                </a:path>
              </a:pathLst>
            </a:custGeom>
            <a:noFill/>
            <a:ln w="19050">
              <a:solidFill>
                <a:srgbClr val="00A676"/>
              </a:solidFill>
            </a:ln>
          </p:spPr>
        </p:sp>
        <p:sp>
          <p:nvSpPr>
            <p:cNvPr id="39" name="Freeform 39"/>
            <p:cNvSpPr/>
            <p:nvPr/>
          </p:nvSpPr>
          <p:spPr>
            <a:xfrm>
              <a:off x="3943350" y="3657600"/>
              <a:ext cx="9525" cy="114300"/>
            </a:xfrm>
            <a:custGeom>
              <a:avLst/>
              <a:gdLst/>
              <a:ahLst/>
              <a:cxnLst/>
              <a:rect l="l" t="t" r="r" b="b"/>
              <a:pathLst>
                <a:path w="9525" h="114300">
                  <a:moveTo>
                    <a:pt x="0" y="0"/>
                  </a:moveTo>
                  <a:lnTo>
                    <a:pt x="0" y="114300"/>
                  </a:lnTo>
                </a:path>
              </a:pathLst>
            </a:custGeom>
            <a:noFill/>
            <a:ln w="19050">
              <a:solidFill>
                <a:srgbClr val="00A676"/>
              </a:solidFill>
            </a:ln>
          </p:spPr>
        </p:sp>
        <p:sp>
          <p:nvSpPr>
            <p:cNvPr id="40" name="Freeform 40"/>
            <p:cNvSpPr/>
            <p:nvPr/>
          </p:nvSpPr>
          <p:spPr>
            <a:xfrm>
              <a:off x="3714750" y="3657600"/>
              <a:ext cx="71438" cy="114300"/>
            </a:xfrm>
            <a:custGeom>
              <a:avLst/>
              <a:gdLst/>
              <a:ahLst/>
              <a:cxnLst/>
              <a:rect l="l" t="t" r="r" b="b"/>
              <a:pathLst>
                <a:path w="71438" h="114300">
                  <a:moveTo>
                    <a:pt x="71438" y="114300"/>
                  </a:moveTo>
                  <a:lnTo>
                    <a:pt x="71438" y="35719"/>
                  </a:lnTo>
                  <a:cubicBezTo>
                    <a:pt x="71438" y="15992"/>
                    <a:pt x="55446" y="0"/>
                    <a:pt x="35719" y="0"/>
                  </a:cubicBezTo>
                  <a:cubicBezTo>
                    <a:pt x="15992" y="0"/>
                    <a:pt x="0" y="15992"/>
                    <a:pt x="0" y="35719"/>
                  </a:cubicBezTo>
                  <a:lnTo>
                    <a:pt x="0" y="114300"/>
                  </a:lnTo>
                </a:path>
              </a:pathLst>
            </a:custGeom>
            <a:noFill/>
            <a:ln w="19050">
              <a:solidFill>
                <a:srgbClr val="00A676"/>
              </a:solidFill>
            </a:ln>
          </p:spPr>
        </p:sp>
      </p:grpSp>
      <p:sp>
        <p:nvSpPr>
          <p:cNvPr id="42" name="TextBox 42"/>
          <p:cNvSpPr txBox="1"/>
          <p:nvPr/>
        </p:nvSpPr>
        <p:spPr>
          <a:xfrm>
            <a:off x="4116705" y="3664268"/>
            <a:ext cx="135745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AI qua SaaS API</a:t>
            </a:r>
          </a:p>
        </p:txBody>
      </p:sp>
      <p:sp>
        <p:nvSpPr>
          <p:cNvPr id="43" name="TextBox 43"/>
          <p:cNvSpPr txBox="1"/>
          <p:nvPr/>
        </p:nvSpPr>
        <p:spPr>
          <a:xfrm>
            <a:off x="3644265" y="4077652"/>
            <a:ext cx="144084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Consolas"/>
                <a:ea typeface="Microsoft YaHei"/>
                <a:cs typeface="Consolas"/>
              </a:rPr>
              <a:t>summary + flashcard</a:t>
            </a:r>
          </a:p>
        </p:txBody>
      </p:sp>
      <p:sp>
        <p:nvSpPr>
          <p:cNvPr id="44" name="Rectangle 44"/>
          <p:cNvSpPr/>
          <p:nvPr/>
        </p:nvSpPr>
        <p:spPr>
          <a:xfrm>
            <a:off x="704850" y="4953000"/>
            <a:ext cx="5048250" cy="800100"/>
          </a:xfrm>
          <a:prstGeom prst="roundRect">
            <a:avLst>
              <a:gd name="adj" fmla="val 28571"/>
            </a:avLst>
          </a:prstGeom>
          <a:solidFill>
            <a:srgbClr val="00A676"/>
          </a:solidFill>
          <a:ln>
            <a:noFill/>
          </a:ln>
        </p:spPr>
      </p:sp>
      <p:sp>
        <p:nvSpPr>
          <p:cNvPr id="45" name="TextBox 45"/>
          <p:cNvSpPr txBox="1"/>
          <p:nvPr/>
        </p:nvSpPr>
        <p:spPr>
          <a:xfrm>
            <a:off x="1010602" y="5123021"/>
            <a:ext cx="1592490"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Kết luận báo cáo</a:t>
            </a:r>
          </a:p>
        </p:txBody>
      </p:sp>
      <p:sp>
        <p:nvSpPr>
          <p:cNvPr id="46" name="TextBox 46"/>
          <p:cNvSpPr txBox="1"/>
          <p:nvPr/>
        </p:nvSpPr>
        <p:spPr>
          <a:xfrm>
            <a:off x="1013460" y="5433060"/>
            <a:ext cx="7919466"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Dự án minh họa rõ cách triển khai ứng dụng SaaS-like trên nền IaaS và tích hợp dịch vụ SaaS bên ngoài.</a:t>
            </a:r>
          </a:p>
        </p:txBody>
      </p:sp>
      <p:sp>
        <p:nvSpPr>
          <p:cNvPr id="47" name="Rectangle 47"/>
          <p:cNvSpPr/>
          <p:nvPr/>
        </p:nvSpPr>
        <p:spPr>
          <a:xfrm>
            <a:off x="6991350" y="990600"/>
            <a:ext cx="4057650" cy="4152900"/>
          </a:xfrm>
          <a:prstGeom prst="roundRect">
            <a:avLst>
              <a:gd name="adj" fmla="val 7042"/>
            </a:avLst>
          </a:prstGeom>
          <a:solidFill>
            <a:srgbClr val="FFFFFF"/>
          </a:solidFill>
          <a:ln>
            <a:noFill/>
          </a:ln>
        </p:spPr>
      </p:sp>
      <p:sp>
        <p:nvSpPr>
          <p:cNvPr id="48" name="TextBox 48"/>
          <p:cNvSpPr txBox="1"/>
          <p:nvPr/>
        </p:nvSpPr>
        <p:spPr>
          <a:xfrm>
            <a:off x="7384732" y="1324451"/>
            <a:ext cx="2333895" cy="411480"/>
          </a:xfrm>
          <a:prstGeom prst="rect">
            <a:avLst/>
          </a:prstGeom>
          <a:noFill/>
          <a:ln>
            <a:noFill/>
          </a:ln>
        </p:spPr>
        <p:txBody>
          <a:bodyPr wrap="none" lIns="0" tIns="0" rIns="0" bIns="0" anchor="t" anchorCtr="0">
            <a:spAutoFit/>
          </a:bodyPr>
          <a:lstStyle/>
          <a:p>
            <a:pPr algn="l"/>
            <a:r>
              <a:rPr lang="zh-CN" sz="2025" b="1" dirty="0">
                <a:solidFill>
                  <a:srgbClr val="0F172A"/>
                </a:solidFill>
                <a:latin typeface="Arial"/>
                <a:ea typeface="Microsoft YaHei"/>
                <a:cs typeface="Arial"/>
              </a:rPr>
              <a:t>Hướng phát triển</a:t>
            </a:r>
          </a:p>
        </p:txBody>
      </p:sp>
      <p:sp>
        <p:nvSpPr>
          <p:cNvPr id="49" name="Rectangle 49"/>
          <p:cNvSpPr/>
          <p:nvPr/>
        </p:nvSpPr>
        <p:spPr>
          <a:xfrm>
            <a:off x="7410450" y="1981200"/>
            <a:ext cx="3105150" cy="438150"/>
          </a:xfrm>
          <a:prstGeom prst="roundRect">
            <a:avLst>
              <a:gd name="adj" fmla="val 30435"/>
            </a:avLst>
          </a:prstGeom>
          <a:solidFill>
            <a:srgbClr val="2563EB">
              <a:alpha val="8000"/>
            </a:srgbClr>
          </a:solidFill>
          <a:ln w="9525">
            <a:solidFill>
              <a:srgbClr val="2563EB"/>
            </a:solidFill>
          </a:ln>
        </p:spPr>
      </p:sp>
      <p:sp>
        <p:nvSpPr>
          <p:cNvPr id="50" name="TextBox 50"/>
          <p:cNvSpPr txBox="1"/>
          <p:nvPr/>
        </p:nvSpPr>
        <p:spPr>
          <a:xfrm>
            <a:off x="7642860" y="2127885"/>
            <a:ext cx="2662809"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Tách PostgreSQL sang Amazon RDS</a:t>
            </a:r>
          </a:p>
        </p:txBody>
      </p:sp>
      <p:sp>
        <p:nvSpPr>
          <p:cNvPr id="51" name="Rectangle 51"/>
          <p:cNvSpPr/>
          <p:nvPr/>
        </p:nvSpPr>
        <p:spPr>
          <a:xfrm>
            <a:off x="7410450" y="2609850"/>
            <a:ext cx="3105150" cy="438150"/>
          </a:xfrm>
          <a:prstGeom prst="roundRect">
            <a:avLst>
              <a:gd name="adj" fmla="val 30435"/>
            </a:avLst>
          </a:prstGeom>
          <a:solidFill>
            <a:srgbClr val="F59E0B">
              <a:alpha val="12000"/>
            </a:srgbClr>
          </a:solidFill>
          <a:ln w="9525">
            <a:solidFill>
              <a:srgbClr val="F59E0B"/>
            </a:solidFill>
          </a:ln>
        </p:spPr>
      </p:sp>
      <p:sp>
        <p:nvSpPr>
          <p:cNvPr id="52" name="TextBox 52"/>
          <p:cNvSpPr txBox="1"/>
          <p:nvPr/>
        </p:nvSpPr>
        <p:spPr>
          <a:xfrm>
            <a:off x="7642860" y="2756535"/>
            <a:ext cx="2958846"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Dùng App Runner hoặc ECS cho backend</a:t>
            </a:r>
          </a:p>
        </p:txBody>
      </p:sp>
      <p:sp>
        <p:nvSpPr>
          <p:cNvPr id="53" name="Rectangle 53"/>
          <p:cNvSpPr/>
          <p:nvPr/>
        </p:nvSpPr>
        <p:spPr>
          <a:xfrm>
            <a:off x="7410450" y="3238500"/>
            <a:ext cx="3105150" cy="438150"/>
          </a:xfrm>
          <a:prstGeom prst="roundRect">
            <a:avLst>
              <a:gd name="adj" fmla="val 30435"/>
            </a:avLst>
          </a:prstGeom>
          <a:solidFill>
            <a:srgbClr val="00A676">
              <a:alpha val="8000"/>
            </a:srgbClr>
          </a:solidFill>
          <a:ln w="9525">
            <a:solidFill>
              <a:srgbClr val="00A676"/>
            </a:solidFill>
          </a:ln>
        </p:spPr>
      </p:sp>
      <p:sp>
        <p:nvSpPr>
          <p:cNvPr id="54" name="TextBox 54"/>
          <p:cNvSpPr txBox="1"/>
          <p:nvPr/>
        </p:nvSpPr>
        <p:spPr>
          <a:xfrm>
            <a:off x="7642860" y="3385185"/>
            <a:ext cx="2806827"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Secrets Manager cho API key và JWT</a:t>
            </a:r>
          </a:p>
        </p:txBody>
      </p:sp>
      <p:sp>
        <p:nvSpPr>
          <p:cNvPr id="55" name="Rectangle 55"/>
          <p:cNvSpPr/>
          <p:nvPr/>
        </p:nvSpPr>
        <p:spPr>
          <a:xfrm>
            <a:off x="7410450" y="3867150"/>
            <a:ext cx="3105150" cy="438150"/>
          </a:xfrm>
          <a:prstGeom prst="roundRect">
            <a:avLst>
              <a:gd name="adj" fmla="val 30435"/>
            </a:avLst>
          </a:prstGeom>
          <a:solidFill>
            <a:srgbClr val="2563EB">
              <a:alpha val="8000"/>
            </a:srgbClr>
          </a:solidFill>
          <a:ln w="9525">
            <a:solidFill>
              <a:srgbClr val="2563EB"/>
            </a:solidFill>
          </a:ln>
        </p:spPr>
      </p:sp>
      <p:sp>
        <p:nvSpPr>
          <p:cNvPr id="56" name="TextBox 56"/>
          <p:cNvSpPr txBox="1"/>
          <p:nvPr/>
        </p:nvSpPr>
        <p:spPr>
          <a:xfrm>
            <a:off x="7642860" y="4013835"/>
            <a:ext cx="2222754" cy="243840"/>
          </a:xfrm>
          <a:prstGeom prst="rect">
            <a:avLst/>
          </a:prstGeom>
          <a:noFill/>
          <a:ln>
            <a:noFill/>
          </a:ln>
        </p:spPr>
        <p:txBody>
          <a:bodyPr wrap="none" lIns="0" tIns="0" rIns="0" bIns="0" anchor="t" anchorCtr="0">
            <a:spAutoFit/>
          </a:bodyPr>
          <a:lstStyle/>
          <a:p>
            <a:pPr algn="l"/>
            <a:r>
              <a:rPr lang="zh-CN" sz="1200" dirty="0">
                <a:solidFill>
                  <a:srgbClr val="0F172A"/>
                </a:solidFill>
                <a:latin typeface="Arial"/>
                <a:ea typeface="Microsoft YaHei"/>
                <a:cs typeface="Arial"/>
              </a:rPr>
              <a:t>CI/CD tự động build và deploy</a:t>
            </a:r>
          </a:p>
        </p:txBody>
      </p:sp>
      <p:sp>
        <p:nvSpPr>
          <p:cNvPr id="57" name="Rectangle 57"/>
          <p:cNvSpPr/>
          <p:nvPr/>
        </p:nvSpPr>
        <p:spPr>
          <a:xfrm>
            <a:off x="7410450" y="4495800"/>
            <a:ext cx="3105150" cy="438150"/>
          </a:xfrm>
          <a:prstGeom prst="roundRect">
            <a:avLst>
              <a:gd name="adj" fmla="val 30435"/>
            </a:avLst>
          </a:prstGeom>
          <a:solidFill>
            <a:srgbClr val="0F172A"/>
          </a:solidFill>
          <a:ln>
            <a:noFill/>
          </a:ln>
        </p:spPr>
      </p:sp>
      <p:sp>
        <p:nvSpPr>
          <p:cNvPr id="58" name="TextBox 58"/>
          <p:cNvSpPr txBox="1"/>
          <p:nvPr/>
        </p:nvSpPr>
        <p:spPr>
          <a:xfrm>
            <a:off x="7642860" y="4642485"/>
            <a:ext cx="2846832"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Monitoring, backup, WAF, rate limit</a:t>
            </a:r>
          </a:p>
        </p:txBody>
      </p:sp>
      <p:sp>
        <p:nvSpPr>
          <p:cNvPr id="59" name="TextBox 59"/>
          <p:cNvSpPr txBox="1"/>
          <p:nvPr/>
        </p:nvSpPr>
        <p:spPr>
          <a:xfrm>
            <a:off x="521970" y="6475095"/>
            <a:ext cx="1685068"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15 · Results and Future Work</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